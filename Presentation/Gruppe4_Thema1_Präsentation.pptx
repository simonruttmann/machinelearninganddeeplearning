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4"/>
    <p:sldMasterId id="2147483700" r:id="rId5"/>
  </p:sldMasterIdLst>
  <p:notesMasterIdLst>
    <p:notesMasterId r:id="rId31"/>
  </p:notesMasterIdLst>
  <p:sldIdLst>
    <p:sldId id="256" r:id="rId6"/>
    <p:sldId id="336" r:id="rId7"/>
    <p:sldId id="278" r:id="rId8"/>
    <p:sldId id="319" r:id="rId9"/>
    <p:sldId id="305" r:id="rId10"/>
    <p:sldId id="320" r:id="rId11"/>
    <p:sldId id="306" r:id="rId12"/>
    <p:sldId id="321" r:id="rId13"/>
    <p:sldId id="288" r:id="rId14"/>
    <p:sldId id="318" r:id="rId15"/>
    <p:sldId id="322" r:id="rId16"/>
    <p:sldId id="315" r:id="rId17"/>
    <p:sldId id="323" r:id="rId18"/>
    <p:sldId id="317" r:id="rId19"/>
    <p:sldId id="328" r:id="rId20"/>
    <p:sldId id="324" r:id="rId21"/>
    <p:sldId id="309" r:id="rId22"/>
    <p:sldId id="325" r:id="rId23"/>
    <p:sldId id="312" r:id="rId24"/>
    <p:sldId id="326" r:id="rId25"/>
    <p:sldId id="334" r:id="rId26"/>
    <p:sldId id="327" r:id="rId27"/>
    <p:sldId id="332" r:id="rId28"/>
    <p:sldId id="333" r:id="rId29"/>
    <p:sldId id="268" r:id="rId30"/>
  </p:sldIdLst>
  <p:sldSz cx="12192000" cy="6858000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B52434FD-0FB1-498E-8F9F-BA72D8273200}">
          <p14:sldIdLst>
            <p14:sldId id="256"/>
            <p14:sldId id="336"/>
            <p14:sldId id="278"/>
            <p14:sldId id="319"/>
            <p14:sldId id="305"/>
            <p14:sldId id="320"/>
            <p14:sldId id="306"/>
            <p14:sldId id="321"/>
            <p14:sldId id="288"/>
            <p14:sldId id="318"/>
            <p14:sldId id="322"/>
            <p14:sldId id="315"/>
            <p14:sldId id="323"/>
            <p14:sldId id="317"/>
            <p14:sldId id="328"/>
            <p14:sldId id="324"/>
            <p14:sldId id="309"/>
            <p14:sldId id="325"/>
            <p14:sldId id="312"/>
            <p14:sldId id="326"/>
            <p14:sldId id="334"/>
            <p14:sldId id="327"/>
            <p14:sldId id="332"/>
            <p14:sldId id="333"/>
            <p14:sldId id="268"/>
          </p14:sldIdLst>
        </p14:section>
        <p14:section name="Back-up" id="{FD79CA86-BAA0-4025-BEFE-7CD80F8B265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1F0"/>
    <a:srgbClr val="33CC33"/>
    <a:srgbClr val="CBF1D8"/>
    <a:srgbClr val="3487C3"/>
    <a:srgbClr val="90BDDE"/>
    <a:srgbClr val="F2F2F2"/>
    <a:srgbClr val="D0D8E8"/>
    <a:srgbClr val="CCCDCD"/>
    <a:srgbClr val="156082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73E605-23FB-45D2-AE9B-E7E0511D3688}" v="535" dt="2026-02-17T17:31:40.406"/>
    <p1510:client id="{36EEA71C-EA2B-027E-2231-3125AB8B1EA6}" v="661" dt="2026-02-17T17:25:56.772"/>
    <p1510:client id="{DD6D2C6C-DC7A-431B-93E0-6873D650DD94}" v="448" dt="2026-02-17T17:32:51.9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3"/>
            <a:ext cx="2946448" cy="495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7" tIns="47747" rIns="95487" bIns="47747" numCol="1" anchor="t" anchorCtr="0" compatLnSpc="1">
            <a:prstTxWarp prst="textNoShape">
              <a:avLst/>
            </a:prstTxWarp>
          </a:bodyPr>
          <a:lstStyle>
            <a:lvl1pPr defTabSz="955155">
              <a:defRPr sz="1300"/>
            </a:lvl1pPr>
          </a:lstStyle>
          <a:p>
            <a:endParaRPr lang="de-DE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50" y="3"/>
            <a:ext cx="2946448" cy="495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7" tIns="47747" rIns="95487" bIns="47747" numCol="1" anchor="t" anchorCtr="0" compatLnSpc="1">
            <a:prstTxWarp prst="textNoShape">
              <a:avLst/>
            </a:prstTxWarp>
          </a:bodyPr>
          <a:lstStyle>
            <a:lvl1pPr algn="r" defTabSz="955155">
              <a:defRPr sz="1300"/>
            </a:lvl1pPr>
          </a:lstStyle>
          <a:p>
            <a:endParaRPr lang="de-DE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8978" y="4715390"/>
            <a:ext cx="5439719" cy="446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7" tIns="47747" rIns="95487" bIns="477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429204"/>
            <a:ext cx="2946448" cy="495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7" tIns="47747" rIns="95487" bIns="47747" numCol="1" anchor="b" anchorCtr="0" compatLnSpc="1">
            <a:prstTxWarp prst="textNoShape">
              <a:avLst/>
            </a:prstTxWarp>
          </a:bodyPr>
          <a:lstStyle>
            <a:lvl1pPr defTabSz="955155">
              <a:defRPr sz="1300"/>
            </a:lvl1pPr>
          </a:lstStyle>
          <a:p>
            <a:endParaRPr lang="de-DE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50" y="9429204"/>
            <a:ext cx="2946448" cy="495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7" tIns="47747" rIns="95487" bIns="47747" numCol="1" anchor="b" anchorCtr="0" compatLnSpc="1">
            <a:prstTxWarp prst="textNoShape">
              <a:avLst/>
            </a:prstTxWarp>
          </a:bodyPr>
          <a:lstStyle>
            <a:lvl1pPr algn="r" defTabSz="955155">
              <a:defRPr sz="1300"/>
            </a:lvl1pPr>
          </a:lstStyle>
          <a:p>
            <a:fld id="{5C59CA3D-00BD-4F25-A168-64C9BF2D0E8A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3324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9CA3D-00BD-4F25-A168-64C9BF2D0E8A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4491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 (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46867" y="1844676"/>
            <a:ext cx="9033933" cy="2160389"/>
          </a:xfrm>
          <a:prstGeom prst="rect">
            <a:avLst/>
          </a:prstGeom>
        </p:spPr>
        <p:txBody>
          <a:bodyPr lIns="0">
            <a:normAutofit/>
          </a:bodyPr>
          <a:lstStyle>
            <a:lvl1pPr>
              <a:defRPr sz="4600">
                <a:solidFill>
                  <a:srgbClr val="0068B4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46867" y="4149080"/>
            <a:ext cx="9036051" cy="1752600"/>
          </a:xfrm>
        </p:spPr>
        <p:txBody>
          <a:bodyPr lIns="0"/>
          <a:lstStyle>
            <a:lvl1pPr marL="0" indent="0">
              <a:buFont typeface="Arial" charset="0"/>
              <a:buNone/>
              <a:defRPr sz="2400"/>
            </a:lvl1pPr>
          </a:lstStyle>
          <a:p>
            <a:r>
              <a:rPr lang="de-DE"/>
              <a:t>Formatvorlage des Untertitelmasters durch Klicken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6207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6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 (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51384" y="1340768"/>
            <a:ext cx="11306184" cy="5042570"/>
          </a:xfrm>
        </p:spPr>
        <p:txBody>
          <a:bodyPr lIns="0">
            <a:normAutofit/>
          </a:bodyPr>
          <a:lstStyle>
            <a:lvl1pPr>
              <a:buSzPct val="80000"/>
              <a:defRPr/>
            </a:lvl1pPr>
            <a:lvl2pPr>
              <a:buSzPct val="90000"/>
              <a:defRPr/>
            </a:lvl2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  <a:prstGeom prst="rect">
            <a:avLst/>
          </a:prstGeom>
        </p:spPr>
        <p:txBody>
          <a:bodyPr wrap="square" lIns="0">
            <a:normAutofit/>
          </a:bodyPr>
          <a:lstStyle>
            <a:lvl1pPr>
              <a:defRPr sz="2400">
                <a:solidFill>
                  <a:srgbClr val="0068B4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56367" y="6584950"/>
            <a:ext cx="7679267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sz="1100">
                <a:solidFill>
                  <a:srgbClr val="0068B4"/>
                </a:solidFill>
              </a:defRPr>
            </a:lvl1pPr>
          </a:lstStyle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8" name="Rectangle 3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5018" y="6584950"/>
            <a:ext cx="1678516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rgbClr val="0068B4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1B718B-4DF4-449B-A09D-493120094A81}" type="datetime1">
              <a:rPr lang="de-DE" smtClean="0"/>
              <a:t>21.02.2026</a:t>
            </a:fld>
            <a:endParaRPr lang="de-DE"/>
          </a:p>
        </p:txBody>
      </p:sp>
      <p:sp>
        <p:nvSpPr>
          <p:cNvPr id="9" name="Rectangle 4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57418" y="6584950"/>
            <a:ext cx="1200149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rgbClr val="0068B4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7141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 mit Kapitelüberschrift (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56367" y="6584950"/>
            <a:ext cx="7679267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lang="de-DE" smtClean="0">
                <a:solidFill>
                  <a:srgbClr val="0068B4"/>
                </a:solidFill>
              </a:defRPr>
            </a:lvl1pPr>
          </a:lstStyle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8" name="Rectangle 3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5018" y="6584950"/>
            <a:ext cx="1678516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de-DE" smtClean="0">
                <a:solidFill>
                  <a:srgbClr val="0068B4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A3F74B-EA65-4038-B0F6-090727FE6ACF}" type="datetime1">
              <a:rPr lang="de-DE" smtClean="0"/>
              <a:t>21.02.2026</a:t>
            </a:fld>
            <a:endParaRPr lang="de-DE"/>
          </a:p>
        </p:txBody>
      </p:sp>
      <p:sp>
        <p:nvSpPr>
          <p:cNvPr id="9" name="Rectangle 4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57418" y="6584950"/>
            <a:ext cx="1200149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lang="de-DE" smtClean="0">
                <a:solidFill>
                  <a:srgbClr val="0068B4"/>
                </a:solidFill>
              </a:defRPr>
            </a:lvl1pPr>
          </a:lstStyle>
          <a:p>
            <a:fld id="{440F72C5-1ECF-4452-AAF8-681E9670A30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Inhaltsplatzhalter 2"/>
          <p:cNvSpPr>
            <a:spLocks noGrp="1"/>
          </p:cNvSpPr>
          <p:nvPr>
            <p:ph idx="1" hasCustomPrompt="1"/>
          </p:nvPr>
        </p:nvSpPr>
        <p:spPr>
          <a:xfrm>
            <a:off x="551384" y="1268760"/>
            <a:ext cx="11306184" cy="5115608"/>
          </a:xfrm>
        </p:spPr>
        <p:txBody>
          <a:bodyPr lIns="0">
            <a:normAutofit/>
          </a:bodyPr>
          <a:lstStyle>
            <a:lvl1pPr>
              <a:buSzPct val="80000"/>
              <a:defRPr/>
            </a:lvl1pPr>
            <a:lvl2pPr>
              <a:buSzPct val="90000"/>
              <a:defRPr/>
            </a:lvl2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F36FE5FF-FB6B-F948-79A0-E0E982D32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  <a:prstGeom prst="rect">
            <a:avLst/>
          </a:prstGeom>
        </p:spPr>
        <p:txBody>
          <a:bodyPr wrap="square" lIns="0">
            <a:normAutofit/>
          </a:bodyPr>
          <a:lstStyle>
            <a:lvl1pPr>
              <a:defRPr sz="2400">
                <a:solidFill>
                  <a:srgbClr val="0068B4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082870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 (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56367" y="6584950"/>
            <a:ext cx="7679267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lang="de-DE" smtClean="0">
                <a:solidFill>
                  <a:srgbClr val="0068B4"/>
                </a:solidFill>
              </a:defRPr>
            </a:lvl1pPr>
          </a:lstStyle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8" name="Rectangle 3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5018" y="6584950"/>
            <a:ext cx="1678516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de-DE" smtClean="0">
                <a:solidFill>
                  <a:srgbClr val="0068B4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6F9DB44-CA39-4EAA-BC35-9C982B944A05}" type="datetime1">
              <a:rPr lang="de-DE" smtClean="0"/>
              <a:t>21.02.2026</a:t>
            </a:fld>
            <a:endParaRPr lang="de-DE"/>
          </a:p>
        </p:txBody>
      </p:sp>
      <p:sp>
        <p:nvSpPr>
          <p:cNvPr id="9" name="Rectangle 4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57418" y="6584950"/>
            <a:ext cx="1200149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lang="de-DE" smtClean="0">
                <a:solidFill>
                  <a:srgbClr val="0068B4"/>
                </a:solidFill>
              </a:defRPr>
            </a:lvl1pPr>
          </a:lstStyle>
          <a:p>
            <a:fld id="{837FEA33-671C-45DC-9B66-069D49B53CDE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7A2A43D-C5BD-E76C-03F1-FBC817FD4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  <a:prstGeom prst="rect">
            <a:avLst/>
          </a:prstGeom>
        </p:spPr>
        <p:txBody>
          <a:bodyPr wrap="square" lIns="0">
            <a:normAutofit/>
          </a:bodyPr>
          <a:lstStyle>
            <a:lvl1pPr>
              <a:defRPr sz="2400">
                <a:solidFill>
                  <a:srgbClr val="0068B4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500318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 mit Kapitelüberschrift (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56367" y="6584950"/>
            <a:ext cx="7679267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lang="de-DE" smtClean="0">
                <a:solidFill>
                  <a:srgbClr val="0068B4"/>
                </a:solidFill>
              </a:defRPr>
            </a:lvl1pPr>
          </a:lstStyle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8" name="Rectangle 3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5018" y="6584950"/>
            <a:ext cx="1678516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de-DE" smtClean="0">
                <a:solidFill>
                  <a:srgbClr val="0068B4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692709A-CC77-4064-84B9-E95F2DD5E43B}" type="datetime1">
              <a:rPr lang="de-DE" smtClean="0"/>
              <a:t>21.02.2026</a:t>
            </a:fld>
            <a:endParaRPr lang="de-DE"/>
          </a:p>
        </p:txBody>
      </p:sp>
      <p:sp>
        <p:nvSpPr>
          <p:cNvPr id="9" name="Rectangle 4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57418" y="6584950"/>
            <a:ext cx="1200149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lang="de-DE" smtClean="0">
                <a:solidFill>
                  <a:srgbClr val="0068B4"/>
                </a:solidFill>
              </a:defRPr>
            </a:lvl1pPr>
          </a:lstStyle>
          <a:p>
            <a:fld id="{440F72C5-1ECF-4452-AAF8-681E9670A30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8DFF5C8-67E9-4AAC-5866-5B0E3D59C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  <a:prstGeom prst="rect">
            <a:avLst/>
          </a:prstGeom>
        </p:spPr>
        <p:txBody>
          <a:bodyPr wrap="square" lIns="0">
            <a:normAutofit/>
          </a:bodyPr>
          <a:lstStyle>
            <a:lvl1pPr>
              <a:defRPr sz="2400">
                <a:solidFill>
                  <a:srgbClr val="0068B4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93125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mit Kapitelüberschrift (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5361" y="1268760"/>
            <a:ext cx="5467351" cy="5114578"/>
          </a:xfrm>
        </p:spPr>
        <p:txBody>
          <a:bodyPr lIns="0">
            <a:normAutofit/>
          </a:bodyPr>
          <a:lstStyle>
            <a:lvl1pPr>
              <a:buSzPct val="80000"/>
              <a:defRPr sz="2000"/>
            </a:lvl1pPr>
            <a:lvl2pPr>
              <a:buSzPct val="90000"/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389440" y="1268760"/>
            <a:ext cx="5467200" cy="5114578"/>
          </a:xfrm>
        </p:spPr>
        <p:txBody>
          <a:bodyPr lIns="0">
            <a:normAutofit/>
          </a:bodyPr>
          <a:lstStyle>
            <a:lvl1pPr>
              <a:buSzPct val="80000"/>
              <a:defRPr sz="2000"/>
            </a:lvl1pPr>
            <a:lvl2pPr>
              <a:buSzPct val="90000"/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56367" y="6584950"/>
            <a:ext cx="7679267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lang="de-DE" smtClean="0">
                <a:solidFill>
                  <a:srgbClr val="0068B4"/>
                </a:solidFill>
              </a:defRPr>
            </a:lvl1pPr>
          </a:lstStyle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10" name="Rectangle 39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345018" y="6584950"/>
            <a:ext cx="1678516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de-DE" smtClean="0">
                <a:solidFill>
                  <a:srgbClr val="0068B4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2A7906A-3FDC-4FC8-AB1D-DB8ABCF17543}" type="datetime1">
              <a:rPr lang="de-DE" smtClean="0"/>
              <a:t>21.02.2026</a:t>
            </a:fld>
            <a:endParaRPr lang="de-DE"/>
          </a:p>
        </p:txBody>
      </p:sp>
      <p:sp>
        <p:nvSpPr>
          <p:cNvPr id="11" name="Rectangle 4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57418" y="6584950"/>
            <a:ext cx="1200149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lang="de-DE" smtClean="0">
                <a:solidFill>
                  <a:srgbClr val="0068B4"/>
                </a:solidFill>
              </a:defRPr>
            </a:lvl1pPr>
          </a:lstStyle>
          <a:p>
            <a:fld id="{440F72C5-1ECF-4452-AAF8-681E9670A30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99D64E5-4EC1-AB1B-DBA4-423B10F45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  <a:prstGeom prst="rect">
            <a:avLst/>
          </a:prstGeom>
        </p:spPr>
        <p:txBody>
          <a:bodyPr wrap="square" lIns="0">
            <a:normAutofit/>
          </a:bodyPr>
          <a:lstStyle>
            <a:lvl1pPr>
              <a:defRPr sz="2400">
                <a:solidFill>
                  <a:srgbClr val="0068B4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45078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 mit Kapitelüberschrift (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5361" y="1268760"/>
            <a:ext cx="5467351" cy="5114578"/>
          </a:xfrm>
        </p:spPr>
        <p:txBody>
          <a:bodyPr lIns="0">
            <a:normAutofit/>
          </a:bodyPr>
          <a:lstStyle>
            <a:lvl1pPr>
              <a:buSzPct val="80000"/>
              <a:defRPr sz="2000"/>
            </a:lvl1pPr>
            <a:lvl2pPr>
              <a:buSzPct val="90000"/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389440" y="1268760"/>
            <a:ext cx="5467200" cy="5114578"/>
          </a:xfrm>
        </p:spPr>
        <p:txBody>
          <a:bodyPr lIns="0">
            <a:normAutofit/>
          </a:bodyPr>
          <a:lstStyle>
            <a:lvl1pPr>
              <a:buSzPct val="80000"/>
              <a:defRPr sz="2000"/>
            </a:lvl1pPr>
            <a:lvl2pPr>
              <a:buSzPct val="90000"/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56367" y="6584950"/>
            <a:ext cx="7679267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lang="de-DE" smtClean="0">
                <a:solidFill>
                  <a:srgbClr val="0068B4"/>
                </a:solidFill>
              </a:defRPr>
            </a:lvl1pPr>
          </a:lstStyle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10" name="Rectangle 39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345018" y="6584950"/>
            <a:ext cx="1678516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de-DE" smtClean="0">
                <a:solidFill>
                  <a:srgbClr val="0068B4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8FA877-A4E6-4EC1-A4CB-4898F68CB89E}" type="datetime1">
              <a:rPr lang="de-DE" smtClean="0"/>
              <a:t>21.02.2026</a:t>
            </a:fld>
            <a:endParaRPr lang="de-DE"/>
          </a:p>
        </p:txBody>
      </p:sp>
      <p:sp>
        <p:nvSpPr>
          <p:cNvPr id="11" name="Rectangle 4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57418" y="6584950"/>
            <a:ext cx="1200149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lang="de-DE" smtClean="0">
                <a:solidFill>
                  <a:srgbClr val="0068B4"/>
                </a:solidFill>
              </a:defRPr>
            </a:lvl1pPr>
          </a:lstStyle>
          <a:p>
            <a:fld id="{440F72C5-1ECF-4452-AAF8-681E9670A30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E722E4E-5661-2CBF-A185-9D1ED15D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  <a:prstGeom prst="rect">
            <a:avLst/>
          </a:prstGeom>
        </p:spPr>
        <p:txBody>
          <a:bodyPr wrap="square" lIns="0">
            <a:normAutofit/>
          </a:bodyPr>
          <a:lstStyle>
            <a:lvl1pPr>
              <a:defRPr sz="2400">
                <a:solidFill>
                  <a:srgbClr val="0068B4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96883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49D82F-AB2C-AA11-816D-39BA03BD1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47CB363-C842-9F83-CF56-C0C7E9751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93A4C2-9124-0C1F-A8F0-219AFE30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A1BD-6C57-4238-9C52-8B48207D0B3A}" type="datetime1">
              <a:rPr lang="de-DE" smtClean="0"/>
              <a:t>21.02.2026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B3F3DD-EDCA-C89A-0CFC-485058B53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Mining und Visual Analytics, Ruttmann Simon, Karl Tobias, Staiger Marcel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D709C0-4B7A-36B1-AA86-6B8BD125D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831A7-0433-4F2C-8D1A-F46D9D99C00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38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3E8D27-FDFE-6246-8E2C-BB1CBE2B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FADD56-567A-E1F7-51FC-EA769208A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FB3CEF-CAE5-B9F7-D4A3-2A6C3031F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C17A-2EE3-4158-B82C-CDE2B2769780}" type="datetime1">
              <a:rPr lang="de-DE" smtClean="0"/>
              <a:t>21.02.2026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F8343B-F0F7-9C1D-E75E-004DA5FB3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Mining und Visual Analytics, Ruttmann Simon, Karl Tobias, Staiger Marcel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52CB99-991C-3FA2-0225-661E734E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831A7-0433-4F2C-8D1A-F46D9D99C00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487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F3C080-4032-D30B-3F2F-5AA1D68A5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D4057F-707F-1EA7-284E-FC92FA69E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402ED7-D127-D48C-7D2C-76A893C9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3EEAD-CB66-4343-AC91-B3E1BE6E8E99}" type="datetime1">
              <a:rPr lang="de-DE" smtClean="0"/>
              <a:t>21.02.2026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78C0BB-11BE-5EE7-7510-F9AFE2C07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Mining und Visual Analytics, Ruttmann Simon, Karl Tobias, Staiger Marcel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444281-0135-B92E-CF4E-3901072F6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831A7-0433-4F2C-8D1A-F46D9D99C00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464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7BDF14-70C4-0E74-EAAB-A9A5852F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3A5B5A-CCE8-01DC-83B1-84B04AD8E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2B4D616-EEF0-E655-0944-98CD2F749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F1B494-7609-BB46-6FB3-54CDB4975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8F0FF-57D1-48DF-A9C8-B6F6BB91ED7B}" type="datetime1">
              <a:rPr lang="de-DE" smtClean="0"/>
              <a:t>21.02.2026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D95F659-9CFC-6BDC-6BFB-9CBD0B43B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Mining und Visual Analytics, Ruttmann Simon, Karl Tobias, Staiger Marcel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9E3E69-FCD0-E587-5C1B-878A5205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831A7-0433-4F2C-8D1A-F46D9D99C00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357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7D4D34-8CD6-5DB8-BA20-C4A662AB2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4915D4-621D-DD73-233E-9B039BEEE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85C6C74-70B1-A60F-55D6-7429241A2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A273E6E-5484-1949-A490-FA5EA54840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C2254E7-ABF9-D4A0-229F-88705D5A96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6FEBA21-4815-1102-4150-AB3C74504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74EE-68DB-467E-B45E-3DA41239C5AC}" type="datetime1">
              <a:rPr lang="de-DE" smtClean="0"/>
              <a:t>21.02.2026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99D7BA2-29D5-798C-E9DD-161A3E4DD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Mining und Visual Analytics, Ruttmann Simon, Karl Tobias, Staiger Marcel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933AA1-FF72-B2DD-8050-AB5CC00C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831A7-0433-4F2C-8D1A-F46D9D99C00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143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43F61E-F968-4A7C-B3B6-B648D189E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4515D58-DD1C-5553-DFA7-C180AD2DE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FEE7-FD79-481A-B5A1-56D91E6F9876}" type="datetime1">
              <a:rPr lang="de-DE" smtClean="0"/>
              <a:t>21.02.2026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6CE319-04EF-94EE-3AEC-4B03F92C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Mining und Visual Analytics, Ruttmann Simon, Karl Tobias, Staiger Marcel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CFB787-62E8-BA12-297E-52AAC660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831A7-0433-4F2C-8D1A-F46D9D99C00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729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48F4829-7E29-6501-FA0D-95AB1AF38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9AB-FD70-464A-8CBA-108D382CF0F5}" type="datetime1">
              <a:rPr lang="de-DE" smtClean="0"/>
              <a:t>21.02.2026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557D8BB-0E1C-8649-2BC1-60FE8AFC6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Mining und Visual Analytics, Ruttmann Simon, Karl Tobias, Staiger Marcel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E0169E-D0EB-7FC5-9C09-0004DFEE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831A7-0433-4F2C-8D1A-F46D9D99C00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486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8A705C-75F8-7210-493A-A5A8B9734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185C97-5FDC-814D-33ED-3DAF001A3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330407E-B94D-54B6-B561-B6F64DF05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813050A-3C41-E998-012B-40349B5B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154DF-2958-4E61-A4A5-C316AC0CB573}" type="datetime1">
              <a:rPr lang="de-DE" smtClean="0"/>
              <a:t>21.02.2026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4A55C0-87D3-1442-06E3-6094372DF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Mining und Visual Analytics, Ruttmann Simon, Karl Tobias, Staiger Marcel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C98749C-BD0A-AC88-BF26-A54630157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831A7-0433-4F2C-8D1A-F46D9D99C00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4685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EB162E-1D4F-98E3-6B3E-B0E14F43D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3628B01-3230-F2A6-DB68-25CF21149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C0B53A3-2694-64BE-C266-2458E0F43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D118500-B38B-FBDA-DBA1-380C05F17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B11E7-6E2E-4DFF-9773-185F20F64B57}" type="datetime1">
              <a:rPr lang="de-DE" smtClean="0"/>
              <a:t>21.02.2026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7A8AE8-0393-CA5A-FF7C-7B0374EAC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Mining und Visual Analytics, Ruttmann Simon, Karl Tobias, Staiger Marcel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F30368-83A3-8C16-F22E-D813642C1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831A7-0433-4F2C-8D1A-F46D9D99C00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53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3871DE-1F64-3322-9F28-81B95BAC4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2755A3C-E854-08EC-1B49-D3FA3DE90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3E17BA-1C7D-5776-4424-08CC8B0F3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95A0-21D4-4C8C-8283-58C07157EB93}" type="datetime1">
              <a:rPr lang="de-DE" smtClean="0"/>
              <a:t>21.02.2026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6F9C8E-E1BD-E048-F436-683A2852B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Mining und Visual Analytics, Ruttmann Simon, Karl Tobias, Staiger Marcel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DE2373-0020-01B7-973E-E15618135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831A7-0433-4F2C-8D1A-F46D9D99C00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9869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A6F5C73-9E85-7276-CFB1-62797B1059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DE1B3C4-9B5A-8EBE-93A7-7C23E326D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9B6F27-F820-C6F7-1A22-FD200D35C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E6D09-CC09-4697-BB5A-9DFF4BDB6749}" type="datetime1">
              <a:rPr lang="de-DE" smtClean="0"/>
              <a:t>21.02.2026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FDF5C4-F141-D0D1-B931-D6B35972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Mining und Visual Analytics, Ruttmann Simon, Karl Tobias, Staiger Marcel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87F24F-A195-7AF6-F179-C7A76107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831A7-0433-4F2C-8D1A-F46D9D99C00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491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 mit Kapitelüberschrift (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56367" y="6584950"/>
            <a:ext cx="7679267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lang="de-DE" smtClean="0">
                <a:solidFill>
                  <a:srgbClr val="0068B4"/>
                </a:solidFill>
              </a:defRPr>
            </a:lvl1pPr>
          </a:lstStyle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8" name="Rectangle 3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5018" y="6584950"/>
            <a:ext cx="1678516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de-DE" smtClean="0">
                <a:solidFill>
                  <a:srgbClr val="0068B4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A3F74B-EA65-4038-B0F6-090727FE6ACF}" type="datetime1">
              <a:rPr lang="de-DE" smtClean="0"/>
              <a:t>21.02.2026</a:t>
            </a:fld>
            <a:endParaRPr lang="de-DE"/>
          </a:p>
        </p:txBody>
      </p:sp>
      <p:sp>
        <p:nvSpPr>
          <p:cNvPr id="9" name="Rectangle 4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57418" y="6584950"/>
            <a:ext cx="1200149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lang="de-DE" smtClean="0">
                <a:solidFill>
                  <a:srgbClr val="0068B4"/>
                </a:solidFill>
              </a:defRPr>
            </a:lvl1pPr>
          </a:lstStyle>
          <a:p>
            <a:fld id="{440F72C5-1ECF-4452-AAF8-681E9670A30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Inhaltsplatzhalter 2"/>
          <p:cNvSpPr>
            <a:spLocks noGrp="1"/>
          </p:cNvSpPr>
          <p:nvPr>
            <p:ph idx="1" hasCustomPrompt="1"/>
          </p:nvPr>
        </p:nvSpPr>
        <p:spPr>
          <a:xfrm>
            <a:off x="551384" y="1268760"/>
            <a:ext cx="11306184" cy="5115608"/>
          </a:xfrm>
        </p:spPr>
        <p:txBody>
          <a:bodyPr lIns="0">
            <a:normAutofit/>
          </a:bodyPr>
          <a:lstStyle>
            <a:lvl1pPr>
              <a:buSzPct val="80000"/>
              <a:defRPr/>
            </a:lvl1pPr>
            <a:lvl2pPr>
              <a:buSzPct val="90000"/>
              <a:defRPr/>
            </a:lvl2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F36FE5FF-FB6B-F948-79A0-E0E982D32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  <a:prstGeom prst="rect">
            <a:avLst/>
          </a:prstGeom>
        </p:spPr>
        <p:txBody>
          <a:bodyPr wrap="square" lIns="0">
            <a:normAutofit/>
          </a:bodyPr>
          <a:lstStyle>
            <a:lvl1pPr>
              <a:defRPr sz="2400">
                <a:solidFill>
                  <a:srgbClr val="0068B4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3719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5361" y="1412876"/>
            <a:ext cx="11522207" cy="497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  <a:p>
            <a:pPr lvl="2"/>
            <a:r>
              <a:rPr lang="en-GB" err="1"/>
              <a:t>Dritte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  <a:p>
            <a:pPr lvl="3"/>
            <a:r>
              <a:rPr lang="en-GB" err="1"/>
              <a:t>Vierte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  <a:p>
            <a:pPr lvl="4"/>
            <a:r>
              <a:rPr lang="en-GB" err="1"/>
              <a:t>Fünfte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</p:txBody>
      </p:sp>
      <p:sp>
        <p:nvSpPr>
          <p:cNvPr id="3095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56367" y="6584950"/>
            <a:ext cx="7679267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de-DE" sz="1100" smtClean="0">
                <a:solidFill>
                  <a:srgbClr val="0068B4"/>
                </a:solidFill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3111" name="Rectangle 3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5018" y="6584950"/>
            <a:ext cx="1678516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de-DE" sz="1100" smtClean="0">
                <a:solidFill>
                  <a:srgbClr val="0068B4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278D049-FE2C-4A5A-B52C-DD04BBC041C6}" type="datetime1">
              <a:rPr lang="de-DE" smtClean="0"/>
              <a:t>21.02.2026</a:t>
            </a:fld>
            <a:endParaRPr lang="de-DE"/>
          </a:p>
        </p:txBody>
      </p:sp>
      <p:sp>
        <p:nvSpPr>
          <p:cNvPr id="3112" name="Rectangle 4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57418" y="6584950"/>
            <a:ext cx="1200149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de-DE" sz="1100" smtClean="0">
                <a:solidFill>
                  <a:srgbClr val="0068B4"/>
                </a:solidFill>
              </a:defRPr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40F72C5-1ECF-4452-AAF8-681E9670A308}" type="slidenum">
              <a:rPr lang="de-DE" smtClean="0"/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‹Nr.›</a:t>
            </a:fld>
            <a:endParaRPr lang="de-DE"/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719403" y="764704"/>
            <a:ext cx="11137237" cy="576064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endParaRPr lang="de-DE" sz="2700" kern="0"/>
          </a:p>
        </p:txBody>
      </p:sp>
      <p:pic>
        <p:nvPicPr>
          <p:cNvPr id="3" name="Picture 6" descr="Hochschule Aalen - academics">
            <a:extLst>
              <a:ext uri="{FF2B5EF4-FFF2-40B4-BE49-F238E27FC236}">
                <a16:creationId xmlns:a16="http://schemas.microsoft.com/office/drawing/2014/main" id="{37DB4CFD-FDDE-28FA-A584-F3194EB5A4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4286" b="63810" l="5750" r="94000">
                        <a14:foregroundMark x1="31083" y1="50000" x2="31083" y2="50000"/>
                        <a14:foregroundMark x1="33583" y1="53333" x2="33583" y2="53333"/>
                        <a14:foregroundMark x1="39250" y1="49365" x2="39250" y2="49365"/>
                        <a14:foregroundMark x1="43833" y1="51905" x2="43833" y2="51905"/>
                        <a14:foregroundMark x1="50417" y1="49683" x2="50417" y2="49683"/>
                        <a14:foregroundMark x1="52667" y1="49524" x2="52667" y2="49524"/>
                        <a14:foregroundMark x1="60667" y1="53333" x2="60667" y2="53333"/>
                        <a14:foregroundMark x1="63000" y1="51746" x2="63000" y2="51746"/>
                        <a14:foregroundMark x1="66583" y1="51587" x2="66583" y2="51587"/>
                        <a14:foregroundMark x1="75667" y1="50952" x2="75667" y2="50952"/>
                        <a14:foregroundMark x1="80583" y1="51429" x2="80583" y2="51429"/>
                        <a14:foregroundMark x1="83667" y1="51270" x2="83667" y2="51270"/>
                        <a14:foregroundMark x1="94083" y1="50317" x2="94083" y2="50317"/>
                        <a14:foregroundMark x1="88250" y1="51587" x2="88250" y2="51587"/>
                        <a14:foregroundMark x1="13667" y1="47460" x2="13667" y2="47460"/>
                        <a14:foregroundMark x1="13083" y1="46508" x2="13083" y2="46508"/>
                        <a14:foregroundMark x1="13417" y1="46190" x2="13417" y2="46190"/>
                        <a14:foregroundMark x1="13417" y1="46667" x2="13417" y2="46508"/>
                        <a14:foregroundMark x1="13250" y1="49683" x2="13250" y2="49683"/>
                        <a14:foregroundMark x1="12917" y1="52540" x2="12917" y2="52540"/>
                        <a14:foregroundMark x1="12833" y1="55397" x2="12833" y2="55397"/>
                        <a14:foregroundMark x1="12833" y1="59683" x2="12833" y2="59683"/>
                        <a14:foregroundMark x1="12417" y1="59048" x2="12417" y2="59048"/>
                        <a14:foregroundMark x1="13583" y1="43968" x2="13583" y2="43968"/>
                        <a14:foregroundMark x1="13500" y1="42857" x2="13500" y2="42857"/>
                        <a14:foregroundMark x1="13667" y1="41270" x2="13667" y2="41270"/>
                        <a14:foregroundMark x1="13750" y1="40159" x2="13750" y2="40159"/>
                        <a14:foregroundMark x1="13583" y1="40317" x2="13583" y2="40317"/>
                        <a14:foregroundMark x1="17417" y1="41905" x2="17417" y2="41905"/>
                        <a14:foregroundMark x1="17500" y1="41429" x2="17500" y2="41429"/>
                        <a14:foregroundMark x1="17250" y1="41587" x2="17250" y2="41587"/>
                        <a14:foregroundMark x1="15750" y1="43651" x2="15750" y2="43651"/>
                        <a14:foregroundMark x1="15167" y1="44286" x2="15167" y2="44286"/>
                        <a14:foregroundMark x1="15750" y1="46508" x2="15750" y2="46508"/>
                        <a14:foregroundMark x1="17000" y1="46508" x2="17000" y2="46508"/>
                        <a14:foregroundMark x1="15000" y1="48095" x2="15000" y2="48095"/>
                        <a14:foregroundMark x1="15833" y1="49841" x2="15833" y2="49841"/>
                        <a14:foregroundMark x1="18583" y1="46349" x2="18583" y2="46349"/>
                        <a14:foregroundMark x1="17750" y1="51746" x2="17750" y2="51746"/>
                        <a14:foregroundMark x1="19250" y1="53810" x2="19250" y2="53810"/>
                        <a14:foregroundMark x1="20667" y1="46190" x2="20667" y2="46190"/>
                        <a14:foregroundMark x1="11000" y1="46508" x2="11000" y2="46508"/>
                        <a14:foregroundMark x1="11917" y1="44921" x2="11917" y2="44921"/>
                        <a14:foregroundMark x1="11583" y1="48889" x2="11583" y2="48889"/>
                        <a14:foregroundMark x1="10333" y1="50000" x2="10333" y2="50000"/>
                        <a14:foregroundMark x1="9583" y1="47302" x2="9583" y2="47302"/>
                        <a14:foregroundMark x1="11250" y1="43651" x2="11250" y2="43651"/>
                        <a14:foregroundMark x1="8000" y1="46667" x2="8000" y2="46667"/>
                        <a14:foregroundMark x1="8417" y1="52222" x2="8417" y2="52222"/>
                        <a14:foregroundMark x1="9667" y1="46508" x2="9667" y2="46508"/>
                        <a14:foregroundMark x1="10417" y1="42698" x2="10417" y2="42698"/>
                        <a14:foregroundMark x1="6250" y1="54127" x2="6250" y2="54127"/>
                        <a14:foregroundMark x1="5750" y1="55079" x2="5750" y2="55079"/>
                        <a14:foregroundMark x1="6250" y1="46667" x2="6250" y2="46667"/>
                        <a14:foregroundMark x1="5917" y1="46825" x2="6500" y2="46825"/>
                        <a14:foregroundMark x1="6583" y1="46984" x2="6417" y2="46032"/>
                        <a14:foregroundMark x1="9583" y1="41905" x2="9583" y2="41905"/>
                        <a14:foregroundMark x1="9583" y1="42063" x2="9750" y2="41905"/>
                        <a14:foregroundMark x1="9833" y1="41746" x2="9417" y2="42063"/>
                        <a14:foregroundMark x1="16667" y1="42698" x2="16667" y2="42698"/>
                        <a14:foregroundMark x1="17750" y1="41746" x2="17750" y2="41746"/>
                        <a14:foregroundMark x1="19000" y1="46508" x2="19000" y2="46508"/>
                        <a14:foregroundMark x1="20250" y1="46349" x2="20250" y2="46349"/>
                        <a14:foregroundMark x1="20000" y1="46508" x2="20000" y2="46508"/>
                        <a14:foregroundMark x1="19500" y1="54444" x2="19500" y2="54444"/>
                        <a14:foregroundMark x1="23583" y1="49683" x2="23583" y2="49683"/>
                        <a14:foregroundMark x1="10167" y1="43016" x2="10167" y2="43016"/>
                        <a14:foregroundMark x1="10000" y1="42540" x2="10000" y2="42540"/>
                        <a14:foregroundMark x1="10083" y1="42698" x2="10083" y2="42698"/>
                        <a14:foregroundMark x1="10083" y1="42540" x2="10083" y2="42540"/>
                        <a14:foregroundMark x1="19333" y1="53333" x2="19667" y2="54762"/>
                        <a14:backgroundMark x1="67000" y1="50159" x2="67000" y2="50159"/>
                        <a14:backgroundMark x1="74750" y1="51111" x2="74750" y2="51111"/>
                        <a14:backgroundMark x1="79417" y1="53492" x2="79417" y2="53492"/>
                        <a14:backgroundMark x1="87083" y1="50952" x2="87083" y2="50952"/>
                        <a14:backgroundMark x1="9417" y1="47619" x2="9417" y2="47619"/>
                        <a14:backgroundMark x1="14750" y1="47460" x2="14750" y2="47460"/>
                        <a14:backgroundMark x1="9583" y1="47619" x2="9583" y2="47619"/>
                        <a14:backgroundMark x1="13750" y1="40952" x2="13750" y2="40952"/>
                        <a14:backgroundMark x1="17333" y1="42540" x2="17333" y2="42540"/>
                        <a14:backgroundMark x1="9917" y1="42381" x2="9917" y2="423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889" b="32361"/>
          <a:stretch>
            <a:fillRect/>
          </a:stretch>
        </p:blipFill>
        <p:spPr bwMode="auto">
          <a:xfrm>
            <a:off x="9834233" y="131386"/>
            <a:ext cx="2315372" cy="44673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85370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3" r:id="rId2"/>
    <p:sldLayoutId id="2147483694" r:id="rId3"/>
    <p:sldLayoutId id="2147483695" r:id="rId4"/>
    <p:sldLayoutId id="2147483696" r:id="rId5"/>
    <p:sldLayoutId id="2147483698" r:id="rId6"/>
    <p:sldLayoutId id="2147483699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accent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accent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accent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accent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accent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accent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accent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accent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10000"/>
        </a:spcBef>
        <a:spcAft>
          <a:spcPct val="20000"/>
        </a:spcAft>
        <a:buClr>
          <a:schemeClr val="accent1"/>
        </a:buClr>
        <a:buSzPct val="80000"/>
        <a:buFont typeface="Arial" charset="0"/>
        <a:buChar char="●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01663" indent="-257175" algn="l" rtl="0" eaLnBrk="1" fontAlgn="base" hangingPunct="1">
        <a:spcBef>
          <a:spcPct val="10000"/>
        </a:spcBef>
        <a:spcAft>
          <a:spcPct val="1000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811213" indent="-207963" algn="l" rtl="0" eaLnBrk="1" fontAlgn="base" hangingPunct="1">
        <a:spcBef>
          <a:spcPct val="10000"/>
        </a:spcBef>
        <a:spcAft>
          <a:spcPct val="10000"/>
        </a:spcAft>
        <a:buClr>
          <a:schemeClr val="accent1"/>
        </a:buClr>
        <a:buFont typeface="Arial" charset="0"/>
        <a:buChar char="•"/>
        <a:defRPr sz="1600">
          <a:solidFill>
            <a:schemeClr val="tx1"/>
          </a:solidFill>
          <a:latin typeface="+mn-lt"/>
        </a:defRPr>
      </a:lvl3pPr>
      <a:lvl4pPr marL="1079500" indent="-266700" algn="l" rtl="0" eaLnBrk="1" fontAlgn="base" hangingPunct="1">
        <a:spcBef>
          <a:spcPct val="10000"/>
        </a:spcBef>
        <a:spcAft>
          <a:spcPct val="10000"/>
        </a:spcAft>
        <a:buClr>
          <a:schemeClr val="accent1"/>
        </a:buClr>
        <a:buChar char="–"/>
        <a:defRPr sz="1400">
          <a:solidFill>
            <a:schemeClr val="tx1"/>
          </a:solidFill>
          <a:latin typeface="+mn-lt"/>
        </a:defRPr>
      </a:lvl4pPr>
      <a:lvl5pPr marL="1331913" indent="-250825" algn="l" rtl="0" eaLnBrk="1" fontAlgn="base" hangingPunct="1">
        <a:spcBef>
          <a:spcPct val="10000"/>
        </a:spcBef>
        <a:spcAft>
          <a:spcPct val="10000"/>
        </a:spcAft>
        <a:buClr>
          <a:schemeClr val="accent1"/>
        </a:buClr>
        <a:buChar char="»"/>
        <a:defRPr sz="1200">
          <a:solidFill>
            <a:schemeClr val="tx1"/>
          </a:solidFill>
          <a:latin typeface="+mn-lt"/>
        </a:defRPr>
      </a:lvl5pPr>
      <a:lvl6pPr marL="1789113" indent="-250825" algn="l" rtl="0" eaLnBrk="1" fontAlgn="base" hangingPunct="1">
        <a:spcBef>
          <a:spcPct val="10000"/>
        </a:spcBef>
        <a:spcAft>
          <a:spcPct val="10000"/>
        </a:spcAft>
        <a:buClr>
          <a:schemeClr val="accent1"/>
        </a:buClr>
        <a:buChar char="»"/>
        <a:defRPr sz="1400">
          <a:solidFill>
            <a:schemeClr val="tx1"/>
          </a:solidFill>
          <a:latin typeface="+mn-lt"/>
        </a:defRPr>
      </a:lvl6pPr>
      <a:lvl7pPr marL="2246313" indent="-250825" algn="l" rtl="0" eaLnBrk="1" fontAlgn="base" hangingPunct="1">
        <a:spcBef>
          <a:spcPct val="10000"/>
        </a:spcBef>
        <a:spcAft>
          <a:spcPct val="10000"/>
        </a:spcAft>
        <a:buClr>
          <a:schemeClr val="accent1"/>
        </a:buClr>
        <a:buChar char="»"/>
        <a:defRPr sz="1400">
          <a:solidFill>
            <a:schemeClr val="tx1"/>
          </a:solidFill>
          <a:latin typeface="+mn-lt"/>
        </a:defRPr>
      </a:lvl7pPr>
      <a:lvl8pPr marL="2703513" indent="-250825" algn="l" rtl="0" eaLnBrk="1" fontAlgn="base" hangingPunct="1">
        <a:spcBef>
          <a:spcPct val="10000"/>
        </a:spcBef>
        <a:spcAft>
          <a:spcPct val="10000"/>
        </a:spcAft>
        <a:buClr>
          <a:schemeClr val="accent1"/>
        </a:buClr>
        <a:buChar char="»"/>
        <a:defRPr sz="1400">
          <a:solidFill>
            <a:schemeClr val="tx1"/>
          </a:solidFill>
          <a:latin typeface="+mn-lt"/>
        </a:defRPr>
      </a:lvl8pPr>
      <a:lvl9pPr marL="3160713" indent="-250825" algn="l" rtl="0" eaLnBrk="1" fontAlgn="base" hangingPunct="1">
        <a:spcBef>
          <a:spcPct val="10000"/>
        </a:spcBef>
        <a:spcAft>
          <a:spcPct val="10000"/>
        </a:spcAft>
        <a:buClr>
          <a:schemeClr val="accent1"/>
        </a:buClr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E0F1977-E0F5-6E6D-AC13-D8222E7A3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9E1EC8-82E7-B814-ECEB-F1D82C6E7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D44BD3-B2AE-FBB7-53C4-BEB3405EE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97D980-6E86-4455-9DAC-5B4BAE8D9C42}" type="datetime1">
              <a:rPr lang="de-DE" smtClean="0"/>
              <a:t>21.02.2026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FF42BF-B232-0B22-85C5-D7F9300219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Data Mining und Visual Analytics, Ruttmann Simon, Karl Tobias, Staiger Marcel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E83104-C921-2794-D0C1-B30853084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7831A7-0433-4F2C-8D1A-F46D9D99C00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469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colab.research.google.com/drive/1yYsZch0dEkwV8WvkbjrFEj5WRPeidCT_#scrollTo=lV895LrHgFbx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03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28" name="Picture 4" descr="Aalen - Hochschule, Neubau Aula- und Hörsaalgebäude">
            <a:extLst>
              <a:ext uri="{FF2B5EF4-FFF2-40B4-BE49-F238E27FC236}">
                <a16:creationId xmlns:a16="http://schemas.microsoft.com/office/drawing/2014/main" id="{986A4C2D-4CE3-BE7A-D2E1-940B1D6DB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505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E0AAEB5-CDDA-7CEA-12F8-2DE3EA19C09D}"/>
              </a:ext>
            </a:extLst>
          </p:cNvPr>
          <p:cNvGrpSpPr/>
          <p:nvPr/>
        </p:nvGrpSpPr>
        <p:grpSpPr>
          <a:xfrm>
            <a:off x="8925682" y="0"/>
            <a:ext cx="3266318" cy="6858001"/>
            <a:chOff x="8925682" y="0"/>
            <a:chExt cx="3266318" cy="6858001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BF6C5D71-793A-224F-D250-5412B7B2F25B}"/>
                </a:ext>
              </a:extLst>
            </p:cNvPr>
            <p:cNvGrpSpPr/>
            <p:nvPr/>
          </p:nvGrpSpPr>
          <p:grpSpPr>
            <a:xfrm>
              <a:off x="8925682" y="0"/>
              <a:ext cx="3266318" cy="6858001"/>
              <a:chOff x="8925682" y="0"/>
              <a:chExt cx="3266318" cy="6858001"/>
            </a:xfrm>
            <a:solidFill>
              <a:schemeClr val="bg1"/>
            </a:solidFill>
          </p:grpSpPr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75A3D0B4-9459-9124-8563-5BD6DA47F4C2}"/>
                  </a:ext>
                </a:extLst>
              </p:cNvPr>
              <p:cNvSpPr/>
              <p:nvPr/>
            </p:nvSpPr>
            <p:spPr>
              <a:xfrm>
                <a:off x="8927206" y="0"/>
                <a:ext cx="3264794" cy="96591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0E02BF59-6BDD-66A1-D24C-462409CB9240}"/>
                  </a:ext>
                </a:extLst>
              </p:cNvPr>
              <p:cNvSpPr/>
              <p:nvPr/>
            </p:nvSpPr>
            <p:spPr>
              <a:xfrm>
                <a:off x="11900078" y="965914"/>
                <a:ext cx="290397" cy="589080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DCFBAD9D-3A85-5556-8570-FC7EA300B799}"/>
                  </a:ext>
                </a:extLst>
              </p:cNvPr>
              <p:cNvSpPr/>
              <p:nvPr/>
            </p:nvSpPr>
            <p:spPr>
              <a:xfrm>
                <a:off x="8925682" y="6587545"/>
                <a:ext cx="3264793" cy="27045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1030" name="Picture 6" descr="Hochschule Aalen - academics">
              <a:extLst>
                <a:ext uri="{FF2B5EF4-FFF2-40B4-BE49-F238E27FC236}">
                  <a16:creationId xmlns:a16="http://schemas.microsoft.com/office/drawing/2014/main" id="{126FE3FE-5E2E-85D4-9474-DCAB126B72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682" y="131385"/>
              <a:ext cx="3223924" cy="6220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itel 9">
            <a:extLst>
              <a:ext uri="{FF2B5EF4-FFF2-40B4-BE49-F238E27FC236}">
                <a16:creationId xmlns:a16="http://schemas.microsoft.com/office/drawing/2014/main" id="{BBC553AE-2B01-B5E0-40E6-72BF25BC0037}"/>
              </a:ext>
            </a:extLst>
          </p:cNvPr>
          <p:cNvSpPr txBox="1">
            <a:spLocks/>
          </p:cNvSpPr>
          <p:nvPr/>
        </p:nvSpPr>
        <p:spPr>
          <a:xfrm>
            <a:off x="406698" y="4492586"/>
            <a:ext cx="5974784" cy="1133745"/>
          </a:xfrm>
          <a:prstGeom prst="rect">
            <a:avLst/>
          </a:prstGeom>
          <a:solidFill>
            <a:schemeClr val="tx2">
              <a:lumMod val="75000"/>
              <a:lumOff val="25000"/>
              <a:alpha val="85000"/>
            </a:schemeClr>
          </a:solidFill>
        </p:spPr>
        <p:txBody>
          <a:bodyPr vert="horz" wrap="square" lIns="108000" tIns="108000" rIns="91440" bIns="108000" rtlCol="0" anchor="t">
            <a:spAutoFit/>
          </a:bodyPr>
          <a:lstStyle>
            <a:lvl1pPr algn="l" defTabSz="3429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3429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500" b="0" i="0" u="none" strike="noStrike" kern="1200" cap="all" spc="75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j-ea"/>
                <a:cs typeface="+mj-cs"/>
              </a:rPr>
              <a:t>22.02.2026, Aalen</a:t>
            </a:r>
            <a:br>
              <a:rPr kumimoji="0" lang="de-DE" sz="1800" b="0" i="0" u="none" strike="noStrike" kern="1200" cap="all" spc="75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j-ea"/>
                <a:cs typeface="+mj-cs"/>
              </a:rPr>
            </a:br>
            <a:r>
              <a:rPr kumimoji="0" lang="de-DE" sz="2400" b="1" i="0" u="none" strike="noStrike" kern="1200" cap="all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Machine</a:t>
            </a:r>
            <a:r>
              <a:rPr kumimoji="0" lang="de-DE" sz="24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Learning and Deep </a:t>
            </a:r>
            <a:r>
              <a:rPr kumimoji="0" lang="de-DE" sz="2400" b="1" i="0" u="none" strike="noStrike" kern="1200" cap="all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learning</a:t>
            </a:r>
            <a:endParaRPr kumimoji="0" lang="de-DE" sz="2400" b="1" i="0" u="none" strike="noStrike" kern="120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j-ea"/>
              <a:cs typeface="Calibri"/>
            </a:endParaRPr>
          </a:p>
          <a:p>
            <a:pPr marL="0" marR="0" lvl="0" indent="0" algn="l" defTabSz="3429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000">
                <a:solidFill>
                  <a:prstClr val="white"/>
                </a:solidFill>
                <a:latin typeface="Calibri"/>
                <a:cs typeface="Calibri"/>
              </a:rPr>
              <a:t>Project 1; </a:t>
            </a:r>
            <a:r>
              <a:rPr lang="de-DE" sz="2000" err="1">
                <a:solidFill>
                  <a:prstClr val="white"/>
                </a:solidFill>
                <a:latin typeface="Calibri"/>
                <a:cs typeface="Calibri"/>
              </a:rPr>
              <a:t>group</a:t>
            </a:r>
            <a:r>
              <a:rPr lang="de-DE" sz="2000">
                <a:solidFill>
                  <a:prstClr val="white"/>
                </a:solidFill>
                <a:latin typeface="Calibri"/>
                <a:cs typeface="Calibri"/>
              </a:rPr>
              <a:t> 4</a:t>
            </a:r>
            <a:br>
              <a:rPr kumimoji="0" lang="de-DE" sz="4500" b="0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j-ea"/>
                <a:cs typeface="Calibri"/>
              </a:rPr>
            </a:br>
            <a:endParaRPr kumimoji="0" lang="de-DE" sz="1500" b="0" i="0" u="none" strike="noStrike" kern="1200" cap="all" spc="75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8805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041C8-EDE4-2BD1-24D9-745EF0B8B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1A30499-E02D-DC77-913F-7402F86DA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8AA50EA-D7EC-16D5-7DBE-FD8A1F10AA3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AA3F74B-EA65-4038-B0F6-090727FE6ACF}" type="datetime1">
              <a:rPr lang="de-DE" smtClean="0"/>
              <a:t>21.02.2026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C98D67-C2A4-45E8-4378-C1975BB9E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0F72C5-1ECF-4452-AAF8-681E9670A308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9A02CC6-6383-913F-C564-FC2F69185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45720" rIns="91440" bIns="45720" anchor="t">
            <a:normAutofit/>
          </a:bodyPr>
          <a:lstStyle/>
          <a:p>
            <a:r>
              <a:rPr lang="de-DE">
                <a:cs typeface="Arial"/>
              </a:rPr>
              <a:t>QR Code &amp; Link zum Google </a:t>
            </a:r>
            <a:r>
              <a:rPr lang="de-DE" err="1">
                <a:cs typeface="Arial"/>
              </a:rPr>
              <a:t>Colab</a:t>
            </a:r>
            <a:r>
              <a:rPr lang="de-DE">
                <a:cs typeface="Arial"/>
              </a:rPr>
              <a:t> unseres Projekts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F7480D9D-39FE-39B3-D8DD-F3541E818267}"/>
              </a:ext>
            </a:extLst>
          </p:cNvPr>
          <p:cNvSpPr txBox="1"/>
          <p:nvPr/>
        </p:nvSpPr>
        <p:spPr bwMode="auto">
          <a:xfrm>
            <a:off x="139149" y="7020339"/>
            <a:ext cx="5128592" cy="1800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Input Shape:</a:t>
            </a:r>
            <a:r>
              <a:rPr lang="en-US" sz="900">
                <a:latin typeface="Arial"/>
                <a:cs typeface="Arial"/>
              </a:rPr>
              <a:t> 180 x 180 Pixel (RGB, 3 </a:t>
            </a:r>
            <a:r>
              <a:rPr lang="en-US" sz="900" err="1">
                <a:latin typeface="Arial"/>
                <a:cs typeface="Arial"/>
              </a:rPr>
              <a:t>Kanäle</a:t>
            </a:r>
            <a:r>
              <a:rPr lang="en-US" sz="900">
                <a:latin typeface="Arial"/>
                <a:cs typeface="Arial"/>
              </a:rPr>
              <a:t>).</a:t>
            </a:r>
          </a:p>
          <a:p>
            <a:pPr marL="228600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Preprocessing:</a:t>
            </a:r>
            <a:r>
              <a:rPr lang="en-US" sz="900">
                <a:latin typeface="Arial"/>
                <a:cs typeface="Arial"/>
              </a:rPr>
              <a:t> Rescaling der </a:t>
            </a:r>
            <a:r>
              <a:rPr lang="en-US" sz="900" err="1">
                <a:latin typeface="Arial"/>
                <a:cs typeface="Arial"/>
              </a:rPr>
              <a:t>Pixelwerte</a:t>
            </a:r>
            <a:r>
              <a:rPr lang="en-US" sz="900">
                <a:latin typeface="Arial"/>
                <a:cs typeface="Arial"/>
              </a:rPr>
              <a:t> auf den </a:t>
            </a:r>
            <a:r>
              <a:rPr lang="en-US" sz="900" err="1">
                <a:latin typeface="Arial"/>
                <a:cs typeface="Arial"/>
              </a:rPr>
              <a:t>Bereich</a:t>
            </a:r>
            <a:r>
              <a:rPr lang="en-US" sz="900">
                <a:latin typeface="Arial"/>
                <a:cs typeface="Arial"/>
              </a:rPr>
              <a:t> [0, 1] </a:t>
            </a:r>
            <a:r>
              <a:rPr lang="en-US" sz="900" err="1">
                <a:latin typeface="Arial"/>
                <a:cs typeface="Arial"/>
              </a:rPr>
              <a:t>durch</a:t>
            </a:r>
            <a:r>
              <a:rPr lang="en-US" sz="900">
                <a:latin typeface="Arial"/>
                <a:cs typeface="Arial"/>
              </a:rPr>
              <a:t> </a:t>
            </a:r>
            <a:r>
              <a:rPr lang="en-US" sz="900" err="1">
                <a:latin typeface="Arial"/>
                <a:cs typeface="Arial"/>
              </a:rPr>
              <a:t>Multiplikation</a:t>
            </a:r>
            <a:r>
              <a:rPr lang="en-US" sz="900">
                <a:latin typeface="Arial"/>
                <a:cs typeface="Arial"/>
              </a:rPr>
              <a:t> </a:t>
            </a:r>
            <a:r>
              <a:rPr lang="en-US" sz="900" err="1">
                <a:latin typeface="Arial"/>
                <a:cs typeface="Arial"/>
              </a:rPr>
              <a:t>mit</a:t>
            </a:r>
            <a:r>
              <a:rPr lang="en-US" sz="900">
                <a:latin typeface="Arial"/>
                <a:cs typeface="Arial"/>
              </a:rPr>
              <a:t> 1.0/255.</a:t>
            </a:r>
          </a:p>
          <a:p>
            <a:pPr marL="228600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Convolutional Blocks (3 Stück):</a:t>
            </a:r>
            <a:r>
              <a:rPr lang="en-US" sz="900">
                <a:latin typeface="Arial"/>
                <a:cs typeface="Arial"/>
              </a:rPr>
              <a:t> * </a:t>
            </a:r>
            <a:r>
              <a:rPr lang="en-US" sz="900" b="1">
                <a:latin typeface="Arial"/>
                <a:cs typeface="Arial"/>
              </a:rPr>
              <a:t>Layer 1:</a:t>
            </a:r>
            <a:r>
              <a:rPr lang="en-US" sz="900">
                <a:latin typeface="Arial"/>
                <a:cs typeface="Arial"/>
              </a:rPr>
              <a:t> 16 Filter, 3x3 Kernel, </a:t>
            </a:r>
            <a:r>
              <a:rPr lang="en-US" sz="900" err="1">
                <a:latin typeface="Arial"/>
                <a:cs typeface="Arial"/>
              </a:rPr>
              <a:t>ReLU-Aktivierung</a:t>
            </a:r>
            <a:r>
              <a:rPr lang="en-US" sz="900">
                <a:latin typeface="Arial"/>
                <a:cs typeface="Arial"/>
              </a:rPr>
              <a:t>, </a:t>
            </a:r>
            <a:r>
              <a:rPr lang="en-US" sz="900" err="1">
                <a:latin typeface="Arial"/>
                <a:cs typeface="Arial"/>
              </a:rPr>
              <a:t>gefolgt</a:t>
            </a:r>
            <a:r>
              <a:rPr lang="en-US" sz="900">
                <a:latin typeface="Arial"/>
                <a:cs typeface="Arial"/>
              </a:rPr>
              <a:t> von </a:t>
            </a:r>
            <a:r>
              <a:rPr lang="en-US" sz="900" err="1">
                <a:latin typeface="Arial"/>
                <a:cs typeface="Arial"/>
              </a:rPr>
              <a:t>MaxPooling</a:t>
            </a:r>
            <a:r>
              <a:rPr lang="en-US" sz="900">
                <a:latin typeface="Arial"/>
                <a:cs typeface="Arial"/>
              </a:rPr>
              <a:t>.</a:t>
            </a:r>
          </a:p>
          <a:p>
            <a:pPr marL="228600" lvl="1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Layer 2:</a:t>
            </a:r>
            <a:r>
              <a:rPr lang="en-US" sz="900">
                <a:latin typeface="Arial"/>
                <a:cs typeface="Arial"/>
              </a:rPr>
              <a:t> 32 Filter, 3x3 Kernel, </a:t>
            </a:r>
            <a:r>
              <a:rPr lang="en-US" sz="900" err="1">
                <a:latin typeface="Arial"/>
                <a:cs typeface="Arial"/>
              </a:rPr>
              <a:t>ReLU-Aktivierung</a:t>
            </a:r>
            <a:r>
              <a:rPr lang="en-US" sz="900">
                <a:latin typeface="Arial"/>
                <a:cs typeface="Arial"/>
              </a:rPr>
              <a:t>, </a:t>
            </a:r>
            <a:r>
              <a:rPr lang="en-US" sz="900" err="1">
                <a:latin typeface="Arial"/>
                <a:cs typeface="Arial"/>
              </a:rPr>
              <a:t>gefolgt</a:t>
            </a:r>
            <a:r>
              <a:rPr lang="en-US" sz="900">
                <a:latin typeface="Arial"/>
                <a:cs typeface="Arial"/>
              </a:rPr>
              <a:t> von </a:t>
            </a:r>
            <a:r>
              <a:rPr lang="en-US" sz="900" err="1">
                <a:latin typeface="Arial"/>
                <a:cs typeface="Arial"/>
              </a:rPr>
              <a:t>MaxPooling</a:t>
            </a:r>
            <a:r>
              <a:rPr lang="en-US" sz="900">
                <a:latin typeface="Arial"/>
                <a:cs typeface="Arial"/>
              </a:rPr>
              <a:t>.</a:t>
            </a:r>
          </a:p>
          <a:p>
            <a:pPr marL="228600" lvl="1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Layer 3:</a:t>
            </a:r>
            <a:r>
              <a:rPr lang="en-US" sz="900">
                <a:latin typeface="Arial"/>
                <a:cs typeface="Arial"/>
              </a:rPr>
              <a:t> 64 Filter, 3x3 Kernel, </a:t>
            </a:r>
            <a:r>
              <a:rPr lang="en-US" sz="900" err="1">
                <a:latin typeface="Arial"/>
                <a:cs typeface="Arial"/>
              </a:rPr>
              <a:t>ReLU-Aktivierung</a:t>
            </a:r>
            <a:r>
              <a:rPr lang="en-US" sz="900">
                <a:latin typeface="Arial"/>
                <a:cs typeface="Arial"/>
              </a:rPr>
              <a:t>, </a:t>
            </a:r>
            <a:r>
              <a:rPr lang="en-US" sz="900" err="1">
                <a:latin typeface="Arial"/>
                <a:cs typeface="Arial"/>
              </a:rPr>
              <a:t>gefolgt</a:t>
            </a:r>
            <a:r>
              <a:rPr lang="en-US" sz="900">
                <a:latin typeface="Arial"/>
                <a:cs typeface="Arial"/>
              </a:rPr>
              <a:t> von </a:t>
            </a:r>
            <a:r>
              <a:rPr lang="en-US" sz="900" err="1">
                <a:latin typeface="Arial"/>
                <a:cs typeface="Arial"/>
              </a:rPr>
              <a:t>MaxPooling</a:t>
            </a:r>
            <a:r>
              <a:rPr lang="en-US" sz="900">
                <a:latin typeface="Arial"/>
                <a:cs typeface="Arial"/>
              </a:rPr>
              <a:t>.</a:t>
            </a:r>
          </a:p>
          <a:p>
            <a:pPr marL="228600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Classification Head:</a:t>
            </a:r>
          </a:p>
          <a:p>
            <a:pPr marL="228600" lvl="1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Flatten Layer:</a:t>
            </a:r>
            <a:r>
              <a:rPr lang="en-US" sz="900">
                <a:latin typeface="Arial"/>
                <a:cs typeface="Arial"/>
              </a:rPr>
              <a:t> </a:t>
            </a:r>
            <a:r>
              <a:rPr lang="en-US" sz="900" err="1">
                <a:latin typeface="Arial"/>
                <a:cs typeface="Arial"/>
              </a:rPr>
              <a:t>Umwandlung</a:t>
            </a:r>
            <a:r>
              <a:rPr lang="en-US" sz="900">
                <a:latin typeface="Arial"/>
                <a:cs typeface="Arial"/>
              </a:rPr>
              <a:t> der Feature-Maps in </a:t>
            </a:r>
            <a:r>
              <a:rPr lang="en-US" sz="900" err="1">
                <a:latin typeface="Arial"/>
                <a:cs typeface="Arial"/>
              </a:rPr>
              <a:t>einen</a:t>
            </a:r>
            <a:r>
              <a:rPr lang="en-US" sz="900">
                <a:latin typeface="Arial"/>
                <a:cs typeface="Arial"/>
              </a:rPr>
              <a:t> Vektor.</a:t>
            </a:r>
          </a:p>
          <a:p>
            <a:pPr marL="228600" lvl="1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Dense Layer:</a:t>
            </a:r>
            <a:r>
              <a:rPr lang="en-US" sz="900">
                <a:latin typeface="Arial"/>
                <a:cs typeface="Arial"/>
              </a:rPr>
              <a:t> 64 Units </a:t>
            </a:r>
            <a:r>
              <a:rPr lang="en-US" sz="900" err="1">
                <a:latin typeface="Arial"/>
                <a:cs typeface="Arial"/>
              </a:rPr>
              <a:t>mit</a:t>
            </a:r>
            <a:r>
              <a:rPr lang="en-US" sz="900">
                <a:latin typeface="Arial"/>
                <a:cs typeface="Arial"/>
              </a:rPr>
              <a:t> </a:t>
            </a:r>
            <a:r>
              <a:rPr lang="en-US" sz="900" err="1">
                <a:latin typeface="Arial"/>
                <a:cs typeface="Arial"/>
              </a:rPr>
              <a:t>ReLU-Aktivierung</a:t>
            </a:r>
            <a:r>
              <a:rPr lang="en-US" sz="900">
                <a:latin typeface="Arial"/>
                <a:cs typeface="Arial"/>
              </a:rPr>
              <a:t>.</a:t>
            </a:r>
          </a:p>
          <a:p>
            <a:pPr marL="228600" lvl="1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Dropout:</a:t>
            </a:r>
            <a:r>
              <a:rPr lang="en-US" sz="900">
                <a:latin typeface="Arial"/>
                <a:cs typeface="Arial"/>
              </a:rPr>
              <a:t> 0.3 (30%) </a:t>
            </a:r>
            <a:r>
              <a:rPr lang="en-US" sz="900" err="1">
                <a:latin typeface="Arial"/>
                <a:cs typeface="Arial"/>
              </a:rPr>
              <a:t>zur</a:t>
            </a:r>
            <a:r>
              <a:rPr lang="en-US" sz="900">
                <a:latin typeface="Arial"/>
                <a:cs typeface="Arial"/>
              </a:rPr>
              <a:t> </a:t>
            </a:r>
            <a:r>
              <a:rPr lang="en-US" sz="900" err="1">
                <a:latin typeface="Arial"/>
                <a:cs typeface="Arial"/>
              </a:rPr>
              <a:t>Vermeidung</a:t>
            </a:r>
            <a:r>
              <a:rPr lang="en-US" sz="900">
                <a:latin typeface="Arial"/>
                <a:cs typeface="Arial"/>
              </a:rPr>
              <a:t> von Overfitting.</a:t>
            </a:r>
          </a:p>
          <a:p>
            <a:pPr marL="228600" lvl="1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Output Layer:</a:t>
            </a:r>
            <a:r>
              <a:rPr lang="en-US" sz="900">
                <a:latin typeface="Arial"/>
                <a:cs typeface="Arial"/>
              </a:rPr>
              <a:t> </a:t>
            </a:r>
            <a:r>
              <a:rPr lang="en-US" sz="900" err="1">
                <a:latin typeface="Arial"/>
                <a:cs typeface="Arial"/>
              </a:rPr>
              <a:t>Softmax-Aktivierung</a:t>
            </a:r>
            <a:r>
              <a:rPr lang="en-US" sz="900">
                <a:latin typeface="Arial"/>
                <a:cs typeface="Arial"/>
              </a:rPr>
              <a:t> </a:t>
            </a:r>
            <a:r>
              <a:rPr lang="en-US" sz="900" err="1">
                <a:latin typeface="Arial"/>
                <a:cs typeface="Arial"/>
              </a:rPr>
              <a:t>mit</a:t>
            </a:r>
            <a:r>
              <a:rPr lang="en-US" sz="900">
                <a:latin typeface="Arial"/>
                <a:cs typeface="Arial"/>
              </a:rPr>
              <a:t> 30 Units (für 15 </a:t>
            </a:r>
            <a:r>
              <a:rPr lang="en-US" sz="900" err="1">
                <a:latin typeface="Arial"/>
                <a:cs typeface="Arial"/>
              </a:rPr>
              <a:t>Kategorien</a:t>
            </a:r>
            <a:r>
              <a:rPr lang="en-US" sz="900">
                <a:latin typeface="Arial"/>
                <a:cs typeface="Arial"/>
              </a:rPr>
              <a:t> × 2 </a:t>
            </a:r>
            <a:r>
              <a:rPr lang="en-US" sz="900" err="1">
                <a:latin typeface="Arial"/>
                <a:cs typeface="Arial"/>
              </a:rPr>
              <a:t>Zustände</a:t>
            </a:r>
            <a:r>
              <a:rPr lang="en-US" sz="900">
                <a:latin typeface="Arial"/>
                <a:cs typeface="Arial"/>
              </a:rPr>
              <a:t> IO/NIO).</a:t>
            </a:r>
          </a:p>
          <a:p>
            <a:pPr marL="228600" lvl="1" indent="-228600">
              <a:buFont typeface=""/>
              <a:buChar char="•"/>
            </a:pPr>
            <a:endParaRPr lang="en-US" sz="900"/>
          </a:p>
          <a:p>
            <a:pPr algn="ctr"/>
            <a:endParaRPr lang="de-DE" sz="900" kern="0" err="1"/>
          </a:p>
        </p:txBody>
      </p:sp>
      <p:pic>
        <p:nvPicPr>
          <p:cNvPr id="32" name="Grafik 31" descr="Ein Bild, das Im Haus, Computer, Tisch, Computertastatur enthält.&#10;&#10;KI-generierte Inhalte können fehlerhaft sein.">
            <a:extLst>
              <a:ext uri="{FF2B5EF4-FFF2-40B4-BE49-F238E27FC236}">
                <a16:creationId xmlns:a16="http://schemas.microsoft.com/office/drawing/2014/main" id="{842EFA56-F91C-8960-BF4E-B84AB05E5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9" y="1245703"/>
            <a:ext cx="4239558" cy="4306957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DC5334E2-6588-62D0-DE4C-B88220BD81F2}"/>
              </a:ext>
            </a:extLst>
          </p:cNvPr>
          <p:cNvSpPr txBox="1"/>
          <p:nvPr/>
        </p:nvSpPr>
        <p:spPr bwMode="auto">
          <a:xfrm>
            <a:off x="775251" y="5552660"/>
            <a:ext cx="1961321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050" kern="0">
                <a:solidFill>
                  <a:srgbClr val="7F7F7F"/>
                </a:solidFill>
                <a:latin typeface="Arial"/>
                <a:cs typeface="Arial"/>
              </a:rPr>
              <a:t>Generiert mit Nano </a:t>
            </a:r>
            <a:r>
              <a:rPr lang="de-DE" sz="1050" kern="0" err="1">
                <a:solidFill>
                  <a:srgbClr val="7F7F7F"/>
                </a:solidFill>
                <a:latin typeface="Arial"/>
                <a:cs typeface="Arial"/>
              </a:rPr>
              <a:t>Banana</a:t>
            </a:r>
            <a:endParaRPr lang="de-DE" sz="1050" kern="0" err="1">
              <a:solidFill>
                <a:srgbClr val="7F7F7F"/>
              </a:solidFill>
            </a:endParaRPr>
          </a:p>
        </p:txBody>
      </p:sp>
      <p:pic>
        <p:nvPicPr>
          <p:cNvPr id="8" name="Inhaltsplatzhalter 7" descr="Ein Bild, das Muster, Quadrat, Pixel, nähen enthält.&#10;&#10;KI-generierte Inhalte können fehlerhaft sein.">
            <a:extLst>
              <a:ext uri="{FF2B5EF4-FFF2-40B4-BE49-F238E27FC236}">
                <a16:creationId xmlns:a16="http://schemas.microsoft.com/office/drawing/2014/main" id="{3F5560AE-E9A2-1917-7886-F22414744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79935" y="1912212"/>
            <a:ext cx="2907711" cy="278805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B90E084-BE35-6A7A-9464-1C551F8364A7}"/>
              </a:ext>
            </a:extLst>
          </p:cNvPr>
          <p:cNvSpPr txBox="1"/>
          <p:nvPr/>
        </p:nvSpPr>
        <p:spPr>
          <a:xfrm>
            <a:off x="7262190" y="4806302"/>
            <a:ext cx="2743200" cy="9079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100" dirty="0">
                <a:solidFill>
                  <a:srgbClr val="A31515"/>
                </a:solidFill>
                <a:highlight>
                  <a:srgbClr val="FFFFFF"/>
                </a:highlight>
                <a:latin typeface="Arial"/>
                <a:cs typeface="Arial"/>
                <a:hlinkClick r:id="rId4"/>
              </a:rPr>
              <a:t>https://colab.research.google.com/drive/1yYsZch0dEkwV8WvkbjrFEj5WRPeidCT_#scrollTo=lV895LrHgFbx</a:t>
            </a:r>
            <a:endParaRPr lang="de-DE">
              <a:latin typeface="Arial"/>
            </a:endParaRPr>
          </a:p>
          <a:p>
            <a:pPr algn="l"/>
            <a:endParaRPr lang="de-DE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1874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964EFC2-60A5-87E2-8FF3-755F3E199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4D515F-FFA1-D06F-4A13-CEA9DA730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de-DE"/>
          </a:p>
        </p:txBody>
      </p: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F447FC8A-8728-609C-5A23-A317F7554C8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7CD714-8341-4FF2-AA85-E345444355E9}" type="datetime1">
              <a:rPr lang="de-DE" smtClean="0"/>
              <a:t>21.02.2026</a:t>
            </a:fld>
            <a:endParaRPr lang="de-DE"/>
          </a:p>
        </p:txBody>
      </p:sp>
      <p:sp>
        <p:nvSpPr>
          <p:cNvPr id="7" name="Titel 2">
            <a:extLst>
              <a:ext uri="{FF2B5EF4-FFF2-40B4-BE49-F238E27FC236}">
                <a16:creationId xmlns:a16="http://schemas.microsoft.com/office/drawing/2014/main" id="{7A0C5EB1-2B65-14AA-5D47-9C1708E87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3BF3AD4-D624-EAFB-8B10-58244DB51D5C}"/>
              </a:ext>
            </a:extLst>
          </p:cNvPr>
          <p:cNvSpPr txBox="1"/>
          <p:nvPr/>
        </p:nvSpPr>
        <p:spPr bwMode="auto">
          <a:xfrm>
            <a:off x="7478258" y="4140127"/>
            <a:ext cx="61010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1200">
                <a:solidFill>
                  <a:schemeClr val="bg1"/>
                </a:solidFill>
              </a:rPr>
              <a:t>[3] </a:t>
            </a:r>
            <a:endParaRPr lang="en-GB" sz="1200">
              <a:solidFill>
                <a:schemeClr val="bg1"/>
              </a:solidFill>
            </a:endParaRPr>
          </a:p>
        </p:txBody>
      </p:sp>
      <p:graphicFrame>
        <p:nvGraphicFramePr>
          <p:cNvPr id="30" name="Table 24">
            <a:extLst>
              <a:ext uri="{FF2B5EF4-FFF2-40B4-BE49-F238E27FC236}">
                <a16:creationId xmlns:a16="http://schemas.microsoft.com/office/drawing/2014/main" id="{0B865DA9-48F3-D089-6A6E-8F54C064E1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4783167"/>
              </p:ext>
            </p:extLst>
          </p:nvPr>
        </p:nvGraphicFramePr>
        <p:xfrm>
          <a:off x="5454000" y="1200000"/>
          <a:ext cx="6037677" cy="5035218"/>
        </p:xfrm>
        <a:graphic>
          <a:graphicData uri="http://schemas.openxmlformats.org/drawingml/2006/table">
            <a:tbl>
              <a:tblPr firstRow="1" bandRow="1"/>
              <a:tblGrid>
                <a:gridCol w="694983">
                  <a:extLst>
                    <a:ext uri="{9D8B030D-6E8A-4147-A177-3AD203B41FA5}">
                      <a16:colId xmlns:a16="http://schemas.microsoft.com/office/drawing/2014/main" val="1857791330"/>
                    </a:ext>
                  </a:extLst>
                </a:gridCol>
                <a:gridCol w="4684978">
                  <a:extLst>
                    <a:ext uri="{9D8B030D-6E8A-4147-A177-3AD203B41FA5}">
                      <a16:colId xmlns:a16="http://schemas.microsoft.com/office/drawing/2014/main" val="620299569"/>
                    </a:ext>
                  </a:extLst>
                </a:gridCol>
                <a:gridCol w="657716">
                  <a:extLst>
                    <a:ext uri="{9D8B030D-6E8A-4147-A177-3AD203B41FA5}">
                      <a16:colId xmlns:a16="http://schemas.microsoft.com/office/drawing/2014/main" val="1172101712"/>
                    </a:ext>
                  </a:extLst>
                </a:gridCol>
              </a:tblGrid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tx1"/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600" b="1" noProof="0">
                          <a:solidFill>
                            <a:schemeClr val="tx1"/>
                          </a:solidFill>
                          <a:latin typeface="+mn-lt"/>
                        </a:rPr>
                        <a:t>Start </a:t>
                      </a:r>
                      <a:r>
                        <a:rPr lang="en-US" sz="1600" b="1" noProof="0" err="1">
                          <a:solidFill>
                            <a:schemeClr val="tx1"/>
                          </a:solidFill>
                          <a:latin typeface="+mn-lt"/>
                        </a:rPr>
                        <a:t>mit</a:t>
                      </a:r>
                      <a:r>
                        <a:rPr lang="en-US" sz="1600" b="1" noProof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1" noProof="0" err="1">
                          <a:solidFill>
                            <a:schemeClr val="tx1"/>
                          </a:solidFill>
                          <a:latin typeface="+mn-lt"/>
                        </a:rPr>
                        <a:t>Experimentieren</a:t>
                      </a:r>
                      <a:r>
                        <a:rPr lang="en-US" sz="1600" b="1" noProof="0">
                          <a:solidFill>
                            <a:schemeClr val="tx1"/>
                          </a:solidFill>
                          <a:latin typeface="+mn-lt"/>
                        </a:rPr>
                        <a:t>:</a:t>
                      </a:r>
                      <a:endParaRPr lang="de-DE" b="1"/>
                    </a:p>
                    <a:p>
                      <a:pPr lvl="0">
                        <a:buNone/>
                      </a:pPr>
                      <a:r>
                        <a:rPr lang="en-US" sz="1600" b="0" noProof="0" err="1">
                          <a:solidFill>
                            <a:schemeClr val="tx1"/>
                          </a:solidFill>
                          <a:latin typeface="+mn-lt"/>
                        </a:rPr>
                        <a:t>Erkenntnisse</a:t>
                      </a:r>
                      <a:r>
                        <a:rPr lang="en-US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tx1"/>
                          </a:solidFill>
                          <a:latin typeface="+mn-lt"/>
                        </a:rPr>
                        <a:t>anhand</a:t>
                      </a:r>
                      <a:r>
                        <a:rPr lang="en-US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tx1"/>
                          </a:solidFill>
                          <a:latin typeface="+mn-lt"/>
                        </a:rPr>
                        <a:t>eines</a:t>
                      </a:r>
                      <a:r>
                        <a:rPr lang="en-US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 Custom CNN 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16587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tx1"/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Problematik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Imbalanced Datasets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955894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tx1"/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1: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Augmentation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045840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tx1"/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</a:rPr>
                        <a:t> 2: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</a:rPr>
                        <a:t>Class Weights</a:t>
                      </a:r>
                      <a:endParaRPr lang="de-DE" b="1"/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83214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tx1"/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Modell-Tuning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550306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tx1"/>
                          </a:solidFill>
                          <a:latin typeface="+mj-lt"/>
                        </a:rPr>
                        <a:t>06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Confusion matrix 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100306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07</a:t>
                      </a:r>
                      <a:endParaRPr lang="de-DE"/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A: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Classifier Ensemble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072433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08</a:t>
                      </a:r>
                      <a:endParaRPr lang="de-DE"/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B: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2-Head-Classifier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0074"/>
                  </a:ext>
                </a:extLst>
              </a:tr>
              <a:tr h="523573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Pretrained Models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Vergleich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3-Head-Classifier vs 3 </a:t>
                      </a: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Einzelmodelle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927458"/>
                  </a:ext>
                </a:extLst>
              </a:tr>
            </a:tbl>
          </a:graphicData>
        </a:graphic>
      </p:graphicFrame>
      <p:pic>
        <p:nvPicPr>
          <p:cNvPr id="3" name="Grafik 2" descr="Ein Bild, das Im Haus, Computer, Tisch, Computertastatur enthält.&#10;&#10;KI-generierte Inhalte können fehlerhaft sein.">
            <a:extLst>
              <a:ext uri="{FF2B5EF4-FFF2-40B4-BE49-F238E27FC236}">
                <a16:creationId xmlns:a16="http://schemas.microsoft.com/office/drawing/2014/main" id="{5352497A-857C-37FD-CB13-E2DCF2915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9" y="1245703"/>
            <a:ext cx="4239558" cy="430695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A6E5D27-B604-ECA9-841D-EE6C58FA7E84}"/>
              </a:ext>
            </a:extLst>
          </p:cNvPr>
          <p:cNvSpPr txBox="1"/>
          <p:nvPr/>
        </p:nvSpPr>
        <p:spPr bwMode="auto">
          <a:xfrm>
            <a:off x="775251" y="5552660"/>
            <a:ext cx="1961321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050" kern="0">
                <a:solidFill>
                  <a:srgbClr val="7F7F7F"/>
                </a:solidFill>
                <a:latin typeface="Arial"/>
                <a:cs typeface="Arial"/>
              </a:rPr>
              <a:t>Generiert mit Nano </a:t>
            </a:r>
            <a:r>
              <a:rPr lang="de-DE" sz="1050" kern="0" err="1">
                <a:solidFill>
                  <a:srgbClr val="7F7F7F"/>
                </a:solidFill>
                <a:latin typeface="Arial"/>
                <a:cs typeface="Arial"/>
              </a:rPr>
              <a:t>Banana</a:t>
            </a:r>
            <a:endParaRPr lang="de-DE" sz="1050" kern="0" err="1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901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A40AB-E56F-7D19-6945-C96B382F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602C4F-D470-48DE-FE59-140F62F6C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36FE6D-8843-EC1D-A211-69026898A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de-DE"/>
          </a:p>
        </p:txBody>
      </p: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26547E0-95AE-0648-5A92-E8A319B0BA2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7CD714-8341-4FF2-AA85-E345444355E9}" type="datetime1">
              <a:rPr lang="de-DE" smtClean="0"/>
              <a:t>21.02.2026</a:t>
            </a:fld>
            <a:endParaRPr lang="de-DE"/>
          </a:p>
        </p:txBody>
      </p:sp>
      <p:sp>
        <p:nvSpPr>
          <p:cNvPr id="7" name="Titel 2">
            <a:extLst>
              <a:ext uri="{FF2B5EF4-FFF2-40B4-BE49-F238E27FC236}">
                <a16:creationId xmlns:a16="http://schemas.microsoft.com/office/drawing/2014/main" id="{99639FF6-56B4-BA79-7EC5-35F0EF497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7E797BB-5476-57C0-AA6E-3AA8EE2EF1E2}"/>
              </a:ext>
            </a:extLst>
          </p:cNvPr>
          <p:cNvSpPr txBox="1"/>
          <p:nvPr/>
        </p:nvSpPr>
        <p:spPr bwMode="auto">
          <a:xfrm>
            <a:off x="7478258" y="4140127"/>
            <a:ext cx="61010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1200">
                <a:solidFill>
                  <a:schemeClr val="bg1"/>
                </a:solidFill>
              </a:rPr>
              <a:t>[3] </a:t>
            </a:r>
            <a:endParaRPr lang="en-GB" sz="1200">
              <a:solidFill>
                <a:schemeClr val="bg1"/>
              </a:solidFill>
            </a:endParaRPr>
          </a:p>
        </p:txBody>
      </p:sp>
      <p:graphicFrame>
        <p:nvGraphicFramePr>
          <p:cNvPr id="30" name="Table 24">
            <a:extLst>
              <a:ext uri="{FF2B5EF4-FFF2-40B4-BE49-F238E27FC236}">
                <a16:creationId xmlns:a16="http://schemas.microsoft.com/office/drawing/2014/main" id="{5D36B1BC-1923-4951-6D48-7480F74FF3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9525081"/>
              </p:ext>
            </p:extLst>
          </p:nvPr>
        </p:nvGraphicFramePr>
        <p:xfrm>
          <a:off x="5454000" y="1200000"/>
          <a:ext cx="6037677" cy="5035218"/>
        </p:xfrm>
        <a:graphic>
          <a:graphicData uri="http://schemas.openxmlformats.org/drawingml/2006/table">
            <a:tbl>
              <a:tblPr firstRow="1" bandRow="1"/>
              <a:tblGrid>
                <a:gridCol w="694983">
                  <a:extLst>
                    <a:ext uri="{9D8B030D-6E8A-4147-A177-3AD203B41FA5}">
                      <a16:colId xmlns:a16="http://schemas.microsoft.com/office/drawing/2014/main" val="1857791330"/>
                    </a:ext>
                  </a:extLst>
                </a:gridCol>
                <a:gridCol w="4684978">
                  <a:extLst>
                    <a:ext uri="{9D8B030D-6E8A-4147-A177-3AD203B41FA5}">
                      <a16:colId xmlns:a16="http://schemas.microsoft.com/office/drawing/2014/main" val="620299569"/>
                    </a:ext>
                  </a:extLst>
                </a:gridCol>
                <a:gridCol w="657716">
                  <a:extLst>
                    <a:ext uri="{9D8B030D-6E8A-4147-A177-3AD203B41FA5}">
                      <a16:colId xmlns:a16="http://schemas.microsoft.com/office/drawing/2014/main" val="1172101712"/>
                    </a:ext>
                  </a:extLst>
                </a:gridCol>
              </a:tblGrid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de-DE" sz="3200" b="1" noProof="0">
                          <a:solidFill>
                            <a:schemeClr val="tx1"/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de-DE" sz="1600" b="1" noProof="0">
                          <a:solidFill>
                            <a:schemeClr val="tx1"/>
                          </a:solidFill>
                          <a:latin typeface="+mn-lt"/>
                        </a:rPr>
                        <a:t>Start mit Experimentieren:</a:t>
                      </a:r>
                      <a:endParaRPr lang="de-DE" b="1"/>
                    </a:p>
                    <a:p>
                      <a:pPr lvl="0">
                        <a:buNone/>
                      </a:pPr>
                      <a:r>
                        <a:rPr lang="de-DE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Erkenntnisse anhand eines Custom CNN 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de-DE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16587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de-DE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Problematik des </a:t>
                      </a:r>
                      <a:r>
                        <a:rPr lang="de-DE" sz="16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Imbalanced</a:t>
                      </a:r>
                      <a:r>
                        <a:rPr lang="de-DE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Datasets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de-DE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955894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de-DE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Maßnahme 1: </a:t>
                      </a:r>
                      <a:r>
                        <a:rPr lang="de-DE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Augmentation</a:t>
                      </a:r>
                      <a:endParaRPr kumimoji="0" lang="de-DE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de-DE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045840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de-DE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Maßnahme 2: </a:t>
                      </a:r>
                      <a:r>
                        <a:rPr lang="de-DE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Class </a:t>
                      </a:r>
                      <a:r>
                        <a:rPr lang="de-DE" sz="16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Weights</a:t>
                      </a:r>
                      <a:endParaRPr lang="de-DE" b="1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de-DE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83214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de-DE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Modell-Tuning</a:t>
                      </a:r>
                      <a:endParaRPr kumimoji="0" lang="de-DE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de-DE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550306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de-DE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06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e-DE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Confusion</a:t>
                      </a:r>
                      <a:r>
                        <a:rPr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matrix</a:t>
                      </a:r>
                      <a:r>
                        <a:rPr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de-DE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de-DE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100306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de-DE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07</a:t>
                      </a:r>
                      <a:endParaRPr lang="de-DE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A:</a:t>
                      </a:r>
                      <a:r>
                        <a:rPr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6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Classifier</a:t>
                      </a:r>
                      <a:r>
                        <a:rPr lang="de-DE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Ensemble</a:t>
                      </a:r>
                      <a:endParaRPr kumimoji="0" lang="de-DE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de-DE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072433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de-DE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08</a:t>
                      </a:r>
                      <a:endParaRPr lang="de-DE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B: </a:t>
                      </a:r>
                      <a:r>
                        <a:rPr lang="de-DE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2-Head-Classifier</a:t>
                      </a:r>
                      <a:endParaRPr kumimoji="0" lang="de-DE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de-DE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0074"/>
                  </a:ext>
                </a:extLst>
              </a:tr>
              <a:tr h="523573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de-DE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Pretrained</a:t>
                      </a:r>
                      <a:r>
                        <a:rPr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Models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Vergleich: 3-Head-Classifier </a:t>
                      </a:r>
                      <a:r>
                        <a:rPr lang="de-DE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  <a:r>
                        <a:rPr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3 Einzelmodelle</a:t>
                      </a:r>
                      <a:endParaRPr kumimoji="0" lang="de-DE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927458"/>
                  </a:ext>
                </a:extLst>
              </a:tr>
            </a:tbl>
          </a:graphicData>
        </a:graphic>
      </p:graphicFrame>
      <p:pic>
        <p:nvPicPr>
          <p:cNvPr id="3" name="Grafik 2" descr="Ein Bild, das Im Haus, Computer, Tisch, Computertastatur enthält.&#10;&#10;KI-generierte Inhalte können fehlerhaft sein.">
            <a:extLst>
              <a:ext uri="{FF2B5EF4-FFF2-40B4-BE49-F238E27FC236}">
                <a16:creationId xmlns:a16="http://schemas.microsoft.com/office/drawing/2014/main" id="{EF9CDC20-3F16-1B95-3D5C-C331D964D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9" y="1245703"/>
            <a:ext cx="4239558" cy="430695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D85E84E-3E40-B6ED-846D-E0D4B0CF84EB}"/>
              </a:ext>
            </a:extLst>
          </p:cNvPr>
          <p:cNvSpPr txBox="1"/>
          <p:nvPr/>
        </p:nvSpPr>
        <p:spPr bwMode="auto">
          <a:xfrm>
            <a:off x="775251" y="5552660"/>
            <a:ext cx="1961321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050" kern="0">
                <a:solidFill>
                  <a:srgbClr val="7F7F7F"/>
                </a:solidFill>
                <a:latin typeface="Arial"/>
                <a:cs typeface="Arial"/>
              </a:rPr>
              <a:t>Generiert mit Nano </a:t>
            </a:r>
            <a:r>
              <a:rPr lang="de-DE" sz="1050" kern="0" err="1">
                <a:solidFill>
                  <a:srgbClr val="7F7F7F"/>
                </a:solidFill>
                <a:latin typeface="Arial"/>
                <a:cs typeface="Arial"/>
              </a:rPr>
              <a:t>Banana</a:t>
            </a:r>
            <a:endParaRPr lang="de-DE" sz="1050" kern="0" err="1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768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81EED08-0973-692E-748A-C3ECDE253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BDAFDEA-BF7C-8EB2-C680-6C6DD2CFAB2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AA3F74B-EA65-4038-B0F6-090727FE6ACF}" type="datetime1">
              <a:rPr lang="de-DE" smtClean="0"/>
              <a:t>21.02.2026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6F5412-B29F-6441-CB26-9DE490FFC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0F72C5-1ECF-4452-AAF8-681E9670A308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2D309A0-6551-9BD0-3315-7685B4A00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758" y="1904864"/>
            <a:ext cx="1987558" cy="550339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de-DE" sz="1600" b="1">
                <a:cs typeface="Arial"/>
              </a:rPr>
              <a:t>Einfaches Custom-CNN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529BB6A-19CF-33C2-8C8A-095A6943E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45720" rIns="91440" bIns="45720" anchor="t">
            <a:normAutofit fontScale="90000"/>
          </a:bodyPr>
          <a:lstStyle/>
          <a:p>
            <a:r>
              <a:rPr lang="en-US">
                <a:cs typeface="Arial"/>
              </a:rPr>
              <a:t>01 Start </a:t>
            </a:r>
            <a:r>
              <a:rPr lang="en-US" err="1">
                <a:cs typeface="Arial"/>
              </a:rPr>
              <a:t>mit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Experimentieren</a:t>
            </a:r>
            <a:r>
              <a:rPr lang="en-US">
                <a:cs typeface="Arial"/>
              </a:rPr>
              <a:t> -</a:t>
            </a:r>
          </a:p>
          <a:p>
            <a:r>
              <a:rPr lang="en-US" err="1">
                <a:cs typeface="Arial"/>
              </a:rPr>
              <a:t>Erkenntnisse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anhand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eines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einfachen</a:t>
            </a:r>
            <a:r>
              <a:rPr lang="en-US">
                <a:cs typeface="Arial"/>
              </a:rPr>
              <a:t> Custom CNN</a:t>
            </a:r>
            <a:endParaRPr lang="de-DE">
              <a:cs typeface="Arial"/>
            </a:endParaRPr>
          </a:p>
        </p:txBody>
      </p:sp>
      <p:pic>
        <p:nvPicPr>
          <p:cNvPr id="7" name="Grafik 6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3DB32B09-1F1F-CA4D-D251-71668DAEE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62" y="2453824"/>
            <a:ext cx="1972746" cy="1432305"/>
          </a:xfrm>
          <a:prstGeom prst="rect">
            <a:avLst/>
          </a:prstGeom>
        </p:spPr>
      </p:pic>
      <p:pic>
        <p:nvPicPr>
          <p:cNvPr id="8" name="Grafik 7" descr="Ein Bild, das Text, Karte Menü, Screenshot, Dokument enthält.&#10;&#10;KI-generierte Inhalte können fehlerhaft sein.">
            <a:extLst>
              <a:ext uri="{FF2B5EF4-FFF2-40B4-BE49-F238E27FC236}">
                <a16:creationId xmlns:a16="http://schemas.microsoft.com/office/drawing/2014/main" id="{FBB040BB-7E2E-9D50-18AD-7CD13C4C0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613" y="1620053"/>
            <a:ext cx="3557575" cy="482472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9" name="Grafik 8" descr="Ein Bild, das Text, Screenshot, Zahl, Karte Menü enthält.&#10;&#10;KI-generierte Inhalte können fehlerhaft sein.">
            <a:extLst>
              <a:ext uri="{FF2B5EF4-FFF2-40B4-BE49-F238E27FC236}">
                <a16:creationId xmlns:a16="http://schemas.microsoft.com/office/drawing/2014/main" id="{68BC2812-91DF-8399-98BA-312847DC1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150" y="1990538"/>
            <a:ext cx="3011700" cy="29429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DAF34AF5-4EA2-5767-C811-A15932214561}"/>
              </a:ext>
            </a:extLst>
          </p:cNvPr>
          <p:cNvSpPr txBox="1"/>
          <p:nvPr/>
        </p:nvSpPr>
        <p:spPr bwMode="auto">
          <a:xfrm>
            <a:off x="3050244" y="1701919"/>
            <a:ext cx="320071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err="1">
                <a:solidFill>
                  <a:schemeClr val="accent1"/>
                </a:solidFill>
                <a:latin typeface="Arial"/>
                <a:cs typeface="Arial"/>
              </a:rPr>
              <a:t>Kategorie-Klassifikation</a:t>
            </a:r>
            <a:endParaRPr lang="de-DE" err="1">
              <a:solidFill>
                <a:schemeClr val="accent1"/>
              </a:solidFill>
            </a:endParaRPr>
          </a:p>
          <a:p>
            <a:pPr algn="ctr"/>
            <a:endParaRPr lang="de-DE" sz="1800" kern="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20167DA-6F71-F1E1-21F7-4A367619C227}"/>
              </a:ext>
            </a:extLst>
          </p:cNvPr>
          <p:cNvSpPr txBox="1"/>
          <p:nvPr/>
        </p:nvSpPr>
        <p:spPr bwMode="auto">
          <a:xfrm>
            <a:off x="7052176" y="1312727"/>
            <a:ext cx="417627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err="1">
                <a:solidFill>
                  <a:schemeClr val="accent1"/>
                </a:solidFill>
                <a:latin typeface="Arial"/>
                <a:cs typeface="Arial"/>
              </a:rPr>
              <a:t>Kategorie</a:t>
            </a:r>
            <a:r>
              <a:rPr lang="en-US" sz="1800" b="1">
                <a:solidFill>
                  <a:schemeClr val="accent1"/>
                </a:solidFill>
                <a:latin typeface="Arial"/>
                <a:cs typeface="Arial"/>
              </a:rPr>
              <a:t> + (IO/NIO)-</a:t>
            </a:r>
            <a:r>
              <a:rPr lang="en-US" sz="1800" b="1" err="1">
                <a:solidFill>
                  <a:schemeClr val="accent1"/>
                </a:solidFill>
                <a:latin typeface="Arial"/>
                <a:cs typeface="Arial"/>
              </a:rPr>
              <a:t>Klassifikaiton</a:t>
            </a:r>
            <a:endParaRPr lang="en-US" sz="1800" b="1">
              <a:solidFill>
                <a:schemeClr val="accent1"/>
              </a:solidFill>
              <a:cs typeface="Arial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280D80F-7AA9-5300-1784-A37EE768C117}"/>
              </a:ext>
            </a:extLst>
          </p:cNvPr>
          <p:cNvSpPr txBox="1"/>
          <p:nvPr/>
        </p:nvSpPr>
        <p:spPr bwMode="auto">
          <a:xfrm>
            <a:off x="4361790" y="4988660"/>
            <a:ext cx="1804905" cy="444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400" kern="0">
                <a:solidFill>
                  <a:srgbClr val="00B050"/>
                </a:solidFill>
                <a:latin typeface="Arial"/>
                <a:cs typeface="Arial"/>
              </a:rPr>
              <a:t>Alle Klassen werden perfekt erkannt</a:t>
            </a:r>
            <a:endParaRPr lang="de-DE" sz="1400" kern="0">
              <a:solidFill>
                <a:srgbClr val="00B050"/>
              </a:solidFill>
            </a:endParaRPr>
          </a:p>
        </p:txBody>
      </p:sp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00D2B4FB-FA91-CFBA-00A7-60A537246EE8}"/>
              </a:ext>
            </a:extLst>
          </p:cNvPr>
          <p:cNvSpPr txBox="1">
            <a:spLocks/>
          </p:cNvSpPr>
          <p:nvPr/>
        </p:nvSpPr>
        <p:spPr bwMode="auto">
          <a:xfrm>
            <a:off x="550451" y="3891606"/>
            <a:ext cx="2137558" cy="760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10000"/>
              </a:spcBef>
              <a:spcAft>
                <a:spcPct val="20000"/>
              </a:spcAft>
              <a:buClr>
                <a:schemeClr val="accent1"/>
              </a:buClr>
              <a:buSzPct val="80000"/>
              <a:buFont typeface="Arial" charset="0"/>
              <a:buChar char="●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1663" indent="-257175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9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2pPr>
            <a:lvl3pPr marL="811213" indent="-207963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3pPr>
            <a:lvl4pPr marL="1079500" indent="-266700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Char char="–"/>
              <a:defRPr sz="1400">
                <a:solidFill>
                  <a:schemeClr val="tx1"/>
                </a:solidFill>
                <a:latin typeface="+mn-lt"/>
              </a:defRPr>
            </a:lvl4pPr>
            <a:lvl5pPr marL="1331913" indent="-250825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Char char="»"/>
              <a:defRPr sz="1200">
                <a:solidFill>
                  <a:schemeClr val="tx1"/>
                </a:solidFill>
                <a:latin typeface="+mn-lt"/>
              </a:defRPr>
            </a:lvl5pPr>
            <a:lvl6pPr marL="1789113" indent="-250825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Char char="»"/>
              <a:defRPr sz="1400">
                <a:solidFill>
                  <a:schemeClr val="tx1"/>
                </a:solidFill>
                <a:latin typeface="+mn-lt"/>
              </a:defRPr>
            </a:lvl6pPr>
            <a:lvl7pPr marL="2246313" indent="-250825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Char char="»"/>
              <a:defRPr sz="1400">
                <a:solidFill>
                  <a:schemeClr val="tx1"/>
                </a:solidFill>
                <a:latin typeface="+mn-lt"/>
              </a:defRPr>
            </a:lvl7pPr>
            <a:lvl8pPr marL="2703513" indent="-250825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Char char="»"/>
              <a:defRPr sz="1400">
                <a:solidFill>
                  <a:schemeClr val="tx1"/>
                </a:solidFill>
                <a:latin typeface="+mn-lt"/>
              </a:defRPr>
            </a:lvl8pPr>
            <a:lvl9pPr marL="3160713" indent="-250825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Char char="»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de-DE" sz="1200" b="1" kern="0">
                <a:cs typeface="Arial"/>
              </a:rPr>
              <a:t>Learning Rate: 0,001</a:t>
            </a:r>
          </a:p>
          <a:p>
            <a:pPr marL="0" indent="0">
              <a:buNone/>
            </a:pPr>
            <a:r>
              <a:rPr lang="de-DE" sz="1200" b="1" kern="0">
                <a:cs typeface="Arial"/>
              </a:rPr>
              <a:t>Epochen:     30</a:t>
            </a:r>
          </a:p>
          <a:p>
            <a:pPr marL="0" indent="0">
              <a:buNone/>
            </a:pPr>
            <a:r>
              <a:rPr lang="de-DE" sz="1200" b="1" kern="0">
                <a:cs typeface="Arial"/>
              </a:rPr>
              <a:t>Batch Size:  32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B07EFB1-E721-8763-AD8C-6A3BEA566423}"/>
              </a:ext>
            </a:extLst>
          </p:cNvPr>
          <p:cNvSpPr/>
          <p:nvPr/>
        </p:nvSpPr>
        <p:spPr bwMode="auto">
          <a:xfrm>
            <a:off x="350423" y="1762953"/>
            <a:ext cx="2330400" cy="2864400"/>
          </a:xfrm>
          <a:prstGeom prst="rect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Pfeil: gebogen 16">
            <a:extLst>
              <a:ext uri="{FF2B5EF4-FFF2-40B4-BE49-F238E27FC236}">
                <a16:creationId xmlns:a16="http://schemas.microsoft.com/office/drawing/2014/main" id="{5956039F-7172-4498-4BBC-8A6BEAB4BC5B}"/>
              </a:ext>
            </a:extLst>
          </p:cNvPr>
          <p:cNvSpPr/>
          <p:nvPr/>
        </p:nvSpPr>
        <p:spPr bwMode="auto">
          <a:xfrm>
            <a:off x="1999769" y="1357691"/>
            <a:ext cx="1044408" cy="1038408"/>
          </a:xfrm>
          <a:prstGeom prst="circularArrow">
            <a:avLst/>
          </a:prstGeom>
          <a:solidFill>
            <a:srgbClr val="CCE1F0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Pfeil: 180-Grad 18">
            <a:extLst>
              <a:ext uri="{FF2B5EF4-FFF2-40B4-BE49-F238E27FC236}">
                <a16:creationId xmlns:a16="http://schemas.microsoft.com/office/drawing/2014/main" id="{3B54A213-6FAB-FD4F-E83B-533EF3FBD4E4}"/>
              </a:ext>
            </a:extLst>
          </p:cNvPr>
          <p:cNvSpPr/>
          <p:nvPr/>
        </p:nvSpPr>
        <p:spPr bwMode="auto">
          <a:xfrm>
            <a:off x="1992972" y="1276476"/>
            <a:ext cx="4967282" cy="630832"/>
          </a:xfrm>
          <a:prstGeom prst="uturnArrow">
            <a:avLst/>
          </a:prstGeom>
          <a:solidFill>
            <a:srgbClr val="CCE1F0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798902D-91A1-8D87-E0DD-B4B6051E2DEF}"/>
              </a:ext>
            </a:extLst>
          </p:cNvPr>
          <p:cNvSpPr txBox="1"/>
          <p:nvPr/>
        </p:nvSpPr>
        <p:spPr bwMode="auto">
          <a:xfrm>
            <a:off x="10171864" y="3195830"/>
            <a:ext cx="1939529" cy="430887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400" b="1" kern="0">
                <a:latin typeface="Arial"/>
                <a:cs typeface="Arial"/>
              </a:rPr>
              <a:t>Defekte (NIO) werden kaum vorhergesagt </a:t>
            </a:r>
            <a:endParaRPr lang="de-DE" sz="1400" b="1" kern="0">
              <a:cs typeface="Arial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B102F275-16E3-0A04-726C-EB01C439DCA2}"/>
              </a:ext>
            </a:extLst>
          </p:cNvPr>
          <p:cNvSpPr/>
          <p:nvPr/>
        </p:nvSpPr>
        <p:spPr bwMode="auto">
          <a:xfrm>
            <a:off x="7053998" y="3886737"/>
            <a:ext cx="162364" cy="147158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E9C06819-000D-721E-63C5-DF1BC3156509}"/>
              </a:ext>
            </a:extLst>
          </p:cNvPr>
          <p:cNvSpPr/>
          <p:nvPr/>
        </p:nvSpPr>
        <p:spPr bwMode="auto">
          <a:xfrm>
            <a:off x="7055526" y="5509118"/>
            <a:ext cx="166696" cy="73758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6C26BFE9-2ADD-3A14-80C0-1016072C625B}"/>
              </a:ext>
            </a:extLst>
          </p:cNvPr>
          <p:cNvSpPr/>
          <p:nvPr/>
        </p:nvSpPr>
        <p:spPr bwMode="auto">
          <a:xfrm>
            <a:off x="8119682" y="3889191"/>
            <a:ext cx="158541" cy="147540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6268DB1E-92F5-37C2-8511-FA538A78A463}"/>
              </a:ext>
            </a:extLst>
          </p:cNvPr>
          <p:cNvSpPr/>
          <p:nvPr/>
        </p:nvSpPr>
        <p:spPr bwMode="auto">
          <a:xfrm>
            <a:off x="8121179" y="5526910"/>
            <a:ext cx="160070" cy="72432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64B3AF7-A38F-EB58-E7E4-ADDD79EA1B7E}"/>
              </a:ext>
            </a:extLst>
          </p:cNvPr>
          <p:cNvSpPr/>
          <p:nvPr/>
        </p:nvSpPr>
        <p:spPr bwMode="auto">
          <a:xfrm>
            <a:off x="4685422" y="2266875"/>
            <a:ext cx="1162801" cy="2523337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F8813230-252C-1C66-9886-BCD306571692}"/>
              </a:ext>
            </a:extLst>
          </p:cNvPr>
          <p:cNvCxnSpPr/>
          <p:nvPr/>
        </p:nvCxnSpPr>
        <p:spPr bwMode="auto">
          <a:xfrm flipH="1">
            <a:off x="7224574" y="3371661"/>
            <a:ext cx="2756399" cy="627652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CCA2DA8B-D1AF-7408-5E33-B2772E129BF7}"/>
              </a:ext>
            </a:extLst>
          </p:cNvPr>
          <p:cNvCxnSpPr>
            <a:cxnSpLocks/>
          </p:cNvCxnSpPr>
          <p:nvPr/>
        </p:nvCxnSpPr>
        <p:spPr bwMode="auto">
          <a:xfrm flipH="1">
            <a:off x="8353617" y="3384913"/>
            <a:ext cx="1617600" cy="614400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786DADEB-0D71-A955-0FEE-1B8F2E0F704C}"/>
              </a:ext>
            </a:extLst>
          </p:cNvPr>
          <p:cNvSpPr txBox="1"/>
          <p:nvPr/>
        </p:nvSpPr>
        <p:spPr bwMode="auto">
          <a:xfrm>
            <a:off x="10170639" y="5168763"/>
            <a:ext cx="1935029" cy="430887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400" b="1" kern="0">
                <a:solidFill>
                  <a:srgbClr val="000000"/>
                </a:solidFill>
                <a:latin typeface="Arial"/>
                <a:cs typeface="Arial"/>
              </a:rPr>
              <a:t>Der F1-Score von 0.52 </a:t>
            </a:r>
            <a:r>
              <a:rPr lang="de-DE" sz="1400" b="1" kern="0" err="1">
                <a:solidFill>
                  <a:srgbClr val="000000"/>
                </a:solidFill>
                <a:latin typeface="Arial"/>
                <a:cs typeface="Arial"/>
              </a:rPr>
              <a:t>weißt</a:t>
            </a:r>
            <a:r>
              <a:rPr lang="de-DE" sz="1400" b="1" kern="0">
                <a:solidFill>
                  <a:srgbClr val="000000"/>
                </a:solidFill>
                <a:latin typeface="Arial"/>
                <a:cs typeface="Arial"/>
              </a:rPr>
              <a:t> auf Problem hin</a:t>
            </a:r>
            <a:endParaRPr lang="de-DE" b="1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F379098-476B-874E-0B5A-78A4FAC7A914}"/>
              </a:ext>
            </a:extLst>
          </p:cNvPr>
          <p:cNvSpPr/>
          <p:nvPr/>
        </p:nvSpPr>
        <p:spPr bwMode="auto">
          <a:xfrm>
            <a:off x="6976455" y="1624471"/>
            <a:ext cx="279781" cy="14359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FDDAD00-27D6-2BC3-6114-12A4650F01F9}"/>
              </a:ext>
            </a:extLst>
          </p:cNvPr>
          <p:cNvSpPr/>
          <p:nvPr/>
        </p:nvSpPr>
        <p:spPr bwMode="auto">
          <a:xfrm>
            <a:off x="7741395" y="1622942"/>
            <a:ext cx="514054" cy="12174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0DC5E50A-2A46-D7F1-242D-B2C0314F0727}"/>
              </a:ext>
            </a:extLst>
          </p:cNvPr>
          <p:cNvCxnSpPr>
            <a:cxnSpLocks/>
          </p:cNvCxnSpPr>
          <p:nvPr/>
        </p:nvCxnSpPr>
        <p:spPr bwMode="auto">
          <a:xfrm flipH="1">
            <a:off x="9268016" y="5399244"/>
            <a:ext cx="888731" cy="660781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D30E37B6-EADE-1D94-490C-53F7D707708C}"/>
              </a:ext>
            </a:extLst>
          </p:cNvPr>
          <p:cNvCxnSpPr>
            <a:cxnSpLocks/>
          </p:cNvCxnSpPr>
          <p:nvPr/>
        </p:nvCxnSpPr>
        <p:spPr bwMode="auto">
          <a:xfrm flipH="1">
            <a:off x="9658954" y="5869695"/>
            <a:ext cx="424905" cy="190330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Rechteck 32">
            <a:extLst>
              <a:ext uri="{FF2B5EF4-FFF2-40B4-BE49-F238E27FC236}">
                <a16:creationId xmlns:a16="http://schemas.microsoft.com/office/drawing/2014/main" id="{3FBF70C8-C0CD-3548-F227-54F7AE42D78F}"/>
              </a:ext>
            </a:extLst>
          </p:cNvPr>
          <p:cNvSpPr/>
          <p:nvPr/>
        </p:nvSpPr>
        <p:spPr bwMode="auto">
          <a:xfrm>
            <a:off x="9130323" y="6252533"/>
            <a:ext cx="847462" cy="159653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3430691D-637F-51FC-3153-D143B44EC469}"/>
              </a:ext>
            </a:extLst>
          </p:cNvPr>
          <p:cNvSpPr/>
          <p:nvPr/>
        </p:nvSpPr>
        <p:spPr bwMode="auto">
          <a:xfrm>
            <a:off x="9183332" y="1633115"/>
            <a:ext cx="741444" cy="113271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EA5E78A2-15F9-0833-A999-4A9ADCF24C07}"/>
              </a:ext>
            </a:extLst>
          </p:cNvPr>
          <p:cNvSpPr txBox="1"/>
          <p:nvPr/>
        </p:nvSpPr>
        <p:spPr bwMode="auto">
          <a:xfrm>
            <a:off x="139149" y="7020339"/>
            <a:ext cx="5128592" cy="1800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Input Shape:</a:t>
            </a:r>
            <a:r>
              <a:rPr lang="en-US" sz="900">
                <a:latin typeface="Arial"/>
                <a:cs typeface="Arial"/>
              </a:rPr>
              <a:t> 180 x 180 Pixel (RGB, 3 </a:t>
            </a:r>
            <a:r>
              <a:rPr lang="en-US" sz="900" err="1">
                <a:latin typeface="Arial"/>
                <a:cs typeface="Arial"/>
              </a:rPr>
              <a:t>Kanäle</a:t>
            </a:r>
            <a:r>
              <a:rPr lang="en-US" sz="900">
                <a:latin typeface="Arial"/>
                <a:cs typeface="Arial"/>
              </a:rPr>
              <a:t>).</a:t>
            </a:r>
          </a:p>
          <a:p>
            <a:pPr marL="228600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Preprocessing:</a:t>
            </a:r>
            <a:r>
              <a:rPr lang="en-US" sz="900">
                <a:latin typeface="Arial"/>
                <a:cs typeface="Arial"/>
              </a:rPr>
              <a:t> Rescaling der </a:t>
            </a:r>
            <a:r>
              <a:rPr lang="en-US" sz="900" err="1">
                <a:latin typeface="Arial"/>
                <a:cs typeface="Arial"/>
              </a:rPr>
              <a:t>Pixelwerte</a:t>
            </a:r>
            <a:r>
              <a:rPr lang="en-US" sz="900">
                <a:latin typeface="Arial"/>
                <a:cs typeface="Arial"/>
              </a:rPr>
              <a:t> auf den </a:t>
            </a:r>
            <a:r>
              <a:rPr lang="en-US" sz="900" err="1">
                <a:latin typeface="Arial"/>
                <a:cs typeface="Arial"/>
              </a:rPr>
              <a:t>Bereich</a:t>
            </a:r>
            <a:r>
              <a:rPr lang="en-US" sz="900">
                <a:latin typeface="Arial"/>
                <a:cs typeface="Arial"/>
              </a:rPr>
              <a:t> [0, 1] </a:t>
            </a:r>
            <a:r>
              <a:rPr lang="en-US" sz="900" err="1">
                <a:latin typeface="Arial"/>
                <a:cs typeface="Arial"/>
              </a:rPr>
              <a:t>durch</a:t>
            </a:r>
            <a:r>
              <a:rPr lang="en-US" sz="900">
                <a:latin typeface="Arial"/>
                <a:cs typeface="Arial"/>
              </a:rPr>
              <a:t> </a:t>
            </a:r>
            <a:r>
              <a:rPr lang="en-US" sz="900" err="1">
                <a:latin typeface="Arial"/>
                <a:cs typeface="Arial"/>
              </a:rPr>
              <a:t>Multiplikation</a:t>
            </a:r>
            <a:r>
              <a:rPr lang="en-US" sz="900">
                <a:latin typeface="Arial"/>
                <a:cs typeface="Arial"/>
              </a:rPr>
              <a:t> </a:t>
            </a:r>
            <a:r>
              <a:rPr lang="en-US" sz="900" err="1">
                <a:latin typeface="Arial"/>
                <a:cs typeface="Arial"/>
              </a:rPr>
              <a:t>mit</a:t>
            </a:r>
            <a:r>
              <a:rPr lang="en-US" sz="900">
                <a:latin typeface="Arial"/>
                <a:cs typeface="Arial"/>
              </a:rPr>
              <a:t> 1.0/255.</a:t>
            </a:r>
          </a:p>
          <a:p>
            <a:pPr marL="228600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Convolutional Blocks (3 Stück):</a:t>
            </a:r>
            <a:r>
              <a:rPr lang="en-US" sz="900">
                <a:latin typeface="Arial"/>
                <a:cs typeface="Arial"/>
              </a:rPr>
              <a:t> * </a:t>
            </a:r>
            <a:r>
              <a:rPr lang="en-US" sz="900" b="1">
                <a:latin typeface="Arial"/>
                <a:cs typeface="Arial"/>
              </a:rPr>
              <a:t>Layer 1:</a:t>
            </a:r>
            <a:r>
              <a:rPr lang="en-US" sz="900">
                <a:latin typeface="Arial"/>
                <a:cs typeface="Arial"/>
              </a:rPr>
              <a:t> 16 Filter, 3x3 Kernel, </a:t>
            </a:r>
            <a:r>
              <a:rPr lang="en-US" sz="900" err="1">
                <a:latin typeface="Arial"/>
                <a:cs typeface="Arial"/>
              </a:rPr>
              <a:t>ReLU-Aktivierung</a:t>
            </a:r>
            <a:r>
              <a:rPr lang="en-US" sz="900">
                <a:latin typeface="Arial"/>
                <a:cs typeface="Arial"/>
              </a:rPr>
              <a:t>, </a:t>
            </a:r>
            <a:r>
              <a:rPr lang="en-US" sz="900" err="1">
                <a:latin typeface="Arial"/>
                <a:cs typeface="Arial"/>
              </a:rPr>
              <a:t>gefolgt</a:t>
            </a:r>
            <a:r>
              <a:rPr lang="en-US" sz="900">
                <a:latin typeface="Arial"/>
                <a:cs typeface="Arial"/>
              </a:rPr>
              <a:t> von </a:t>
            </a:r>
            <a:r>
              <a:rPr lang="en-US" sz="900" err="1">
                <a:latin typeface="Arial"/>
                <a:cs typeface="Arial"/>
              </a:rPr>
              <a:t>MaxPooling</a:t>
            </a:r>
            <a:r>
              <a:rPr lang="en-US" sz="900">
                <a:latin typeface="Arial"/>
                <a:cs typeface="Arial"/>
              </a:rPr>
              <a:t>.</a:t>
            </a:r>
          </a:p>
          <a:p>
            <a:pPr marL="228600" lvl="1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Layer 2:</a:t>
            </a:r>
            <a:r>
              <a:rPr lang="en-US" sz="900">
                <a:latin typeface="Arial"/>
                <a:cs typeface="Arial"/>
              </a:rPr>
              <a:t> 32 Filter, 3x3 Kernel, </a:t>
            </a:r>
            <a:r>
              <a:rPr lang="en-US" sz="900" err="1">
                <a:latin typeface="Arial"/>
                <a:cs typeface="Arial"/>
              </a:rPr>
              <a:t>ReLU-Aktivierung</a:t>
            </a:r>
            <a:r>
              <a:rPr lang="en-US" sz="900">
                <a:latin typeface="Arial"/>
                <a:cs typeface="Arial"/>
              </a:rPr>
              <a:t>, </a:t>
            </a:r>
            <a:r>
              <a:rPr lang="en-US" sz="900" err="1">
                <a:latin typeface="Arial"/>
                <a:cs typeface="Arial"/>
              </a:rPr>
              <a:t>gefolgt</a:t>
            </a:r>
            <a:r>
              <a:rPr lang="en-US" sz="900">
                <a:latin typeface="Arial"/>
                <a:cs typeface="Arial"/>
              </a:rPr>
              <a:t> von </a:t>
            </a:r>
            <a:r>
              <a:rPr lang="en-US" sz="900" err="1">
                <a:latin typeface="Arial"/>
                <a:cs typeface="Arial"/>
              </a:rPr>
              <a:t>MaxPooling</a:t>
            </a:r>
            <a:r>
              <a:rPr lang="en-US" sz="900">
                <a:latin typeface="Arial"/>
                <a:cs typeface="Arial"/>
              </a:rPr>
              <a:t>.</a:t>
            </a:r>
          </a:p>
          <a:p>
            <a:pPr marL="228600" lvl="1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Layer 3:</a:t>
            </a:r>
            <a:r>
              <a:rPr lang="en-US" sz="900">
                <a:latin typeface="Arial"/>
                <a:cs typeface="Arial"/>
              </a:rPr>
              <a:t> 64 Filter, 3x3 Kernel, </a:t>
            </a:r>
            <a:r>
              <a:rPr lang="en-US" sz="900" err="1">
                <a:latin typeface="Arial"/>
                <a:cs typeface="Arial"/>
              </a:rPr>
              <a:t>ReLU-Aktivierung</a:t>
            </a:r>
            <a:r>
              <a:rPr lang="en-US" sz="900">
                <a:latin typeface="Arial"/>
                <a:cs typeface="Arial"/>
              </a:rPr>
              <a:t>, </a:t>
            </a:r>
            <a:r>
              <a:rPr lang="en-US" sz="900" err="1">
                <a:latin typeface="Arial"/>
                <a:cs typeface="Arial"/>
              </a:rPr>
              <a:t>gefolgt</a:t>
            </a:r>
            <a:r>
              <a:rPr lang="en-US" sz="900">
                <a:latin typeface="Arial"/>
                <a:cs typeface="Arial"/>
              </a:rPr>
              <a:t> von </a:t>
            </a:r>
            <a:r>
              <a:rPr lang="en-US" sz="900" err="1">
                <a:latin typeface="Arial"/>
                <a:cs typeface="Arial"/>
              </a:rPr>
              <a:t>MaxPooling</a:t>
            </a:r>
            <a:r>
              <a:rPr lang="en-US" sz="900">
                <a:latin typeface="Arial"/>
                <a:cs typeface="Arial"/>
              </a:rPr>
              <a:t>.</a:t>
            </a:r>
          </a:p>
          <a:p>
            <a:pPr marL="228600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Classification Head:</a:t>
            </a:r>
          </a:p>
          <a:p>
            <a:pPr marL="228600" lvl="1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Flatten Layer:</a:t>
            </a:r>
            <a:r>
              <a:rPr lang="en-US" sz="900">
                <a:latin typeface="Arial"/>
                <a:cs typeface="Arial"/>
              </a:rPr>
              <a:t> </a:t>
            </a:r>
            <a:r>
              <a:rPr lang="en-US" sz="900" err="1">
                <a:latin typeface="Arial"/>
                <a:cs typeface="Arial"/>
              </a:rPr>
              <a:t>Umwandlung</a:t>
            </a:r>
            <a:r>
              <a:rPr lang="en-US" sz="900">
                <a:latin typeface="Arial"/>
                <a:cs typeface="Arial"/>
              </a:rPr>
              <a:t> der Feature-Maps in </a:t>
            </a:r>
            <a:r>
              <a:rPr lang="en-US" sz="900" err="1">
                <a:latin typeface="Arial"/>
                <a:cs typeface="Arial"/>
              </a:rPr>
              <a:t>einen</a:t>
            </a:r>
            <a:r>
              <a:rPr lang="en-US" sz="900">
                <a:latin typeface="Arial"/>
                <a:cs typeface="Arial"/>
              </a:rPr>
              <a:t> Vektor.</a:t>
            </a:r>
          </a:p>
          <a:p>
            <a:pPr marL="228600" lvl="1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Dense Layer:</a:t>
            </a:r>
            <a:r>
              <a:rPr lang="en-US" sz="900">
                <a:latin typeface="Arial"/>
                <a:cs typeface="Arial"/>
              </a:rPr>
              <a:t> 64 Units </a:t>
            </a:r>
            <a:r>
              <a:rPr lang="en-US" sz="900" err="1">
                <a:latin typeface="Arial"/>
                <a:cs typeface="Arial"/>
              </a:rPr>
              <a:t>mit</a:t>
            </a:r>
            <a:r>
              <a:rPr lang="en-US" sz="900">
                <a:latin typeface="Arial"/>
                <a:cs typeface="Arial"/>
              </a:rPr>
              <a:t> </a:t>
            </a:r>
            <a:r>
              <a:rPr lang="en-US" sz="900" err="1">
                <a:latin typeface="Arial"/>
                <a:cs typeface="Arial"/>
              </a:rPr>
              <a:t>ReLU-Aktivierung</a:t>
            </a:r>
            <a:r>
              <a:rPr lang="en-US" sz="900">
                <a:latin typeface="Arial"/>
                <a:cs typeface="Arial"/>
              </a:rPr>
              <a:t>.</a:t>
            </a:r>
          </a:p>
          <a:p>
            <a:pPr marL="228600" lvl="1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Dropout:</a:t>
            </a:r>
            <a:r>
              <a:rPr lang="en-US" sz="900">
                <a:latin typeface="Arial"/>
                <a:cs typeface="Arial"/>
              </a:rPr>
              <a:t> 0.3 (30%) </a:t>
            </a:r>
            <a:r>
              <a:rPr lang="en-US" sz="900" err="1">
                <a:latin typeface="Arial"/>
                <a:cs typeface="Arial"/>
              </a:rPr>
              <a:t>zur</a:t>
            </a:r>
            <a:r>
              <a:rPr lang="en-US" sz="900">
                <a:latin typeface="Arial"/>
                <a:cs typeface="Arial"/>
              </a:rPr>
              <a:t> </a:t>
            </a:r>
            <a:r>
              <a:rPr lang="en-US" sz="900" err="1">
                <a:latin typeface="Arial"/>
                <a:cs typeface="Arial"/>
              </a:rPr>
              <a:t>Vermeidung</a:t>
            </a:r>
            <a:r>
              <a:rPr lang="en-US" sz="900">
                <a:latin typeface="Arial"/>
                <a:cs typeface="Arial"/>
              </a:rPr>
              <a:t> von Overfitting.</a:t>
            </a:r>
          </a:p>
          <a:p>
            <a:pPr marL="228600" lvl="1" indent="-228600">
              <a:buFont typeface=""/>
              <a:buChar char="•"/>
            </a:pPr>
            <a:r>
              <a:rPr lang="en-US" sz="900" b="1">
                <a:latin typeface="Arial"/>
                <a:cs typeface="Arial"/>
              </a:rPr>
              <a:t>Output Layer:</a:t>
            </a:r>
            <a:r>
              <a:rPr lang="en-US" sz="900">
                <a:latin typeface="Arial"/>
                <a:cs typeface="Arial"/>
              </a:rPr>
              <a:t> </a:t>
            </a:r>
            <a:r>
              <a:rPr lang="en-US" sz="900" err="1">
                <a:latin typeface="Arial"/>
                <a:cs typeface="Arial"/>
              </a:rPr>
              <a:t>Softmax-Aktivierung</a:t>
            </a:r>
            <a:r>
              <a:rPr lang="en-US" sz="900">
                <a:latin typeface="Arial"/>
                <a:cs typeface="Arial"/>
              </a:rPr>
              <a:t> </a:t>
            </a:r>
            <a:r>
              <a:rPr lang="en-US" sz="900" err="1">
                <a:latin typeface="Arial"/>
                <a:cs typeface="Arial"/>
              </a:rPr>
              <a:t>mit</a:t>
            </a:r>
            <a:r>
              <a:rPr lang="en-US" sz="900">
                <a:latin typeface="Arial"/>
                <a:cs typeface="Arial"/>
              </a:rPr>
              <a:t> 30 Units (für 15 </a:t>
            </a:r>
            <a:r>
              <a:rPr lang="en-US" sz="900" err="1">
                <a:latin typeface="Arial"/>
                <a:cs typeface="Arial"/>
              </a:rPr>
              <a:t>Kategorien</a:t>
            </a:r>
            <a:r>
              <a:rPr lang="en-US" sz="900">
                <a:latin typeface="Arial"/>
                <a:cs typeface="Arial"/>
              </a:rPr>
              <a:t> × 2 </a:t>
            </a:r>
            <a:r>
              <a:rPr lang="en-US" sz="900" err="1">
                <a:latin typeface="Arial"/>
                <a:cs typeface="Arial"/>
              </a:rPr>
              <a:t>Zustände</a:t>
            </a:r>
            <a:r>
              <a:rPr lang="en-US" sz="900">
                <a:latin typeface="Arial"/>
                <a:cs typeface="Arial"/>
              </a:rPr>
              <a:t> IO/NIO).</a:t>
            </a:r>
          </a:p>
          <a:p>
            <a:pPr marL="228600" lvl="1" indent="-228600">
              <a:buFont typeface=""/>
              <a:buChar char="•"/>
            </a:pPr>
            <a:endParaRPr lang="en-US" sz="900"/>
          </a:p>
          <a:p>
            <a:pPr algn="ctr"/>
            <a:endParaRPr lang="de-DE" sz="900" kern="0" err="1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EF4CE55-49B4-02BA-7159-643A35D1FB4C}"/>
              </a:ext>
            </a:extLst>
          </p:cNvPr>
          <p:cNvSpPr txBox="1"/>
          <p:nvPr/>
        </p:nvSpPr>
        <p:spPr bwMode="auto">
          <a:xfrm>
            <a:off x="10152780" y="5799794"/>
            <a:ext cx="1935029" cy="646331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400" b="1" kern="0">
                <a:solidFill>
                  <a:srgbClr val="000000"/>
                </a:solidFill>
                <a:latin typeface="Arial"/>
                <a:cs typeface="Arial"/>
              </a:rPr>
              <a:t>Die 0.78 </a:t>
            </a:r>
            <a:r>
              <a:rPr lang="de-DE" sz="1400" b="1" kern="0" err="1">
                <a:solidFill>
                  <a:srgbClr val="000000"/>
                </a:solidFill>
                <a:latin typeface="Arial"/>
                <a:cs typeface="Arial"/>
              </a:rPr>
              <a:t>Accuracy</a:t>
            </a:r>
            <a:r>
              <a:rPr lang="de-DE" sz="1400" b="1" kern="0">
                <a:solidFill>
                  <a:srgbClr val="000000"/>
                </a:solidFill>
                <a:latin typeface="Arial"/>
                <a:cs typeface="Arial"/>
              </a:rPr>
              <a:t> scheint trügerisch​ zu sein</a:t>
            </a:r>
            <a:endParaRPr lang="de-DE" b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1406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C7FEA-1351-7E95-F76E-6A6623851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DF7738-4A66-391C-E39D-3392C4756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F31E52-31A7-F3D0-8E69-F66B357E7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de-DE"/>
          </a:p>
        </p:txBody>
      </p: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706E20A6-457F-5F21-A0F4-B56DF33F858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7CD714-8341-4FF2-AA85-E345444355E9}" type="datetime1">
              <a:rPr lang="de-DE" smtClean="0"/>
              <a:t>21.02.2026</a:t>
            </a:fld>
            <a:endParaRPr lang="de-DE"/>
          </a:p>
        </p:txBody>
      </p:sp>
      <p:sp>
        <p:nvSpPr>
          <p:cNvPr id="7" name="Titel 2">
            <a:extLst>
              <a:ext uri="{FF2B5EF4-FFF2-40B4-BE49-F238E27FC236}">
                <a16:creationId xmlns:a16="http://schemas.microsoft.com/office/drawing/2014/main" id="{292729E0-ADDC-FD1A-EF77-6F5A20C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0CE1729-6A6F-F65B-54A0-FE885DFC0C31}"/>
              </a:ext>
            </a:extLst>
          </p:cNvPr>
          <p:cNvSpPr txBox="1"/>
          <p:nvPr/>
        </p:nvSpPr>
        <p:spPr bwMode="auto">
          <a:xfrm>
            <a:off x="7478258" y="4140127"/>
            <a:ext cx="61010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1200">
                <a:solidFill>
                  <a:schemeClr val="bg1"/>
                </a:solidFill>
              </a:rPr>
              <a:t>[3] </a:t>
            </a:r>
            <a:endParaRPr lang="en-GB" sz="1200">
              <a:solidFill>
                <a:schemeClr val="bg1"/>
              </a:solidFill>
            </a:endParaRPr>
          </a:p>
        </p:txBody>
      </p:sp>
      <p:graphicFrame>
        <p:nvGraphicFramePr>
          <p:cNvPr id="30" name="Table 24">
            <a:extLst>
              <a:ext uri="{FF2B5EF4-FFF2-40B4-BE49-F238E27FC236}">
                <a16:creationId xmlns:a16="http://schemas.microsoft.com/office/drawing/2014/main" id="{D7DA573D-81B0-D1FF-9B32-A0F331AB03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0674987"/>
              </p:ext>
            </p:extLst>
          </p:nvPr>
        </p:nvGraphicFramePr>
        <p:xfrm>
          <a:off x="5454000" y="1200000"/>
          <a:ext cx="6037677" cy="5035218"/>
        </p:xfrm>
        <a:graphic>
          <a:graphicData uri="http://schemas.openxmlformats.org/drawingml/2006/table">
            <a:tbl>
              <a:tblPr firstRow="1" bandRow="1"/>
              <a:tblGrid>
                <a:gridCol w="694983">
                  <a:extLst>
                    <a:ext uri="{9D8B030D-6E8A-4147-A177-3AD203B41FA5}">
                      <a16:colId xmlns:a16="http://schemas.microsoft.com/office/drawing/2014/main" val="1857791330"/>
                    </a:ext>
                  </a:extLst>
                </a:gridCol>
                <a:gridCol w="4684978">
                  <a:extLst>
                    <a:ext uri="{9D8B030D-6E8A-4147-A177-3AD203B41FA5}">
                      <a16:colId xmlns:a16="http://schemas.microsoft.com/office/drawing/2014/main" val="620299569"/>
                    </a:ext>
                  </a:extLst>
                </a:gridCol>
                <a:gridCol w="657716">
                  <a:extLst>
                    <a:ext uri="{9D8B030D-6E8A-4147-A177-3AD203B41FA5}">
                      <a16:colId xmlns:a16="http://schemas.microsoft.com/office/drawing/2014/main" val="1172101712"/>
                    </a:ext>
                  </a:extLst>
                </a:gridCol>
              </a:tblGrid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Start </a:t>
                      </a:r>
                      <a:r>
                        <a:rPr lang="en-US" sz="1600" b="1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mit</a:t>
                      </a:r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1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Experimentieren</a:t>
                      </a:r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:</a:t>
                      </a:r>
                      <a:endParaRPr lang="de-DE" b="1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Erkenntnisse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anhand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eines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Custom CNN 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16587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tx1"/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Problematik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Imbalanced Datasets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955894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1: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Augmentation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045840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 2: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Class Weights</a:t>
                      </a:r>
                      <a:endParaRPr lang="de-DE" b="1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83214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Modell-Tuning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550306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06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Confusion matrix 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100306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07</a:t>
                      </a:r>
                      <a:endParaRPr lang="de-DE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A: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Classifier Ensemble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072433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08</a:t>
                      </a:r>
                      <a:endParaRPr lang="de-DE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B: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2-Head-Classifier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0074"/>
                  </a:ext>
                </a:extLst>
              </a:tr>
              <a:tr h="523573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Pretrained Models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Vergleich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3-Head-Classifier vs 3 </a:t>
                      </a: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Einzelmodelle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927458"/>
                  </a:ext>
                </a:extLst>
              </a:tr>
            </a:tbl>
          </a:graphicData>
        </a:graphic>
      </p:graphicFrame>
      <p:pic>
        <p:nvPicPr>
          <p:cNvPr id="3" name="Grafik 2" descr="Ein Bild, das Im Haus, Computer, Tisch, Computertastatur enthält.&#10;&#10;KI-generierte Inhalte können fehlerhaft sein.">
            <a:extLst>
              <a:ext uri="{FF2B5EF4-FFF2-40B4-BE49-F238E27FC236}">
                <a16:creationId xmlns:a16="http://schemas.microsoft.com/office/drawing/2014/main" id="{DDBA3E2E-3FFA-7704-8B3C-8295793F6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9" y="1245703"/>
            <a:ext cx="4239558" cy="430695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BD5F1DD-AD1B-9199-4AAA-C9873028E583}"/>
              </a:ext>
            </a:extLst>
          </p:cNvPr>
          <p:cNvSpPr txBox="1"/>
          <p:nvPr/>
        </p:nvSpPr>
        <p:spPr bwMode="auto">
          <a:xfrm>
            <a:off x="775251" y="5552660"/>
            <a:ext cx="1961321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050" kern="0">
                <a:solidFill>
                  <a:srgbClr val="7F7F7F"/>
                </a:solidFill>
                <a:latin typeface="Arial"/>
                <a:cs typeface="Arial"/>
              </a:rPr>
              <a:t>Generiert mit Nano </a:t>
            </a:r>
            <a:r>
              <a:rPr lang="de-DE" sz="1050" kern="0" err="1">
                <a:solidFill>
                  <a:srgbClr val="7F7F7F"/>
                </a:solidFill>
                <a:latin typeface="Arial"/>
                <a:cs typeface="Arial"/>
              </a:rPr>
              <a:t>Banana</a:t>
            </a:r>
            <a:endParaRPr lang="de-DE" sz="1050" kern="0" err="1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616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03BA517F-58F1-FC48-C7F0-8C2DE473D356}"/>
              </a:ext>
            </a:extLst>
          </p:cNvPr>
          <p:cNvSpPr/>
          <p:nvPr/>
        </p:nvSpPr>
        <p:spPr bwMode="auto">
          <a:xfrm>
            <a:off x="262144" y="1591985"/>
            <a:ext cx="3926439" cy="4056434"/>
          </a:xfrm>
          <a:prstGeom prst="rect">
            <a:avLst/>
          </a:prstGeom>
          <a:solidFill>
            <a:srgbClr val="CCE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/>
            <a:r>
              <a:rPr lang="de-DE" sz="1600" b="1">
                <a:latin typeface="Arial"/>
                <a:cs typeface="Arial"/>
              </a:rPr>
              <a:t>Im Dataset sind fehlerhafte Bauteile unterrepräsentiert</a:t>
            </a:r>
            <a:endParaRPr lang="de-DE" sz="1600" b="1" i="0" u="none" strike="noStrike" cap="none" normalizeH="0" baseline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4FEF79F-E6C5-8F56-B7EA-EA23125FD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3DAEFC8-C447-0A0F-7997-D5C4481D415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AA3F74B-EA65-4038-B0F6-090727FE6ACF}" type="datetime1">
              <a:rPr lang="de-DE" smtClean="0"/>
              <a:t>21.02.2026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53FC47-41D5-2856-397F-F3BA6125C6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0F72C5-1ECF-4452-AAF8-681E9670A308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7" name="Inhaltsplatzhalter 6" descr="Ein Bild, das Text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0DF44ABB-869A-03DB-E214-B8559D6AF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20501" y="2472194"/>
            <a:ext cx="3759753" cy="3074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6C7DD7D0-6F62-DDC6-32E4-1E1795F5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45720" rIns="91440" bIns="45720" anchor="t">
            <a:normAutofit fontScale="90000"/>
          </a:bodyPr>
          <a:lstStyle/>
          <a:p>
            <a:r>
              <a:rPr lang="en-US" dirty="0">
                <a:cs typeface="Arial"/>
              </a:rPr>
              <a:t>02 </a:t>
            </a:r>
            <a:r>
              <a:rPr lang="en-US" dirty="0" err="1">
                <a:cs typeface="Arial"/>
              </a:rPr>
              <a:t>Problematik</a:t>
            </a:r>
            <a:r>
              <a:rPr lang="en-US" dirty="0">
                <a:cs typeface="Arial"/>
              </a:rPr>
              <a:t> des Imbalanced Datasets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Die </a:t>
            </a:r>
            <a:r>
              <a:rPr lang="en-US" dirty="0" err="1">
                <a:cs typeface="Arial"/>
              </a:rPr>
              <a:t>ungleiche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Verteilung</a:t>
            </a:r>
            <a:r>
              <a:rPr lang="en-US" dirty="0">
                <a:cs typeface="Arial"/>
              </a:rPr>
              <a:t> "OK" und "Fehler" muss </a:t>
            </a:r>
            <a:r>
              <a:rPr lang="en-US" dirty="0" err="1">
                <a:cs typeface="Arial"/>
              </a:rPr>
              <a:t>behandelt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werden</a:t>
            </a:r>
            <a:r>
              <a:rPr lang="en-US" dirty="0">
                <a:cs typeface="Arial"/>
              </a:rPr>
              <a:t>.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EACA52F-FE85-C6E2-7061-4A7350B090F7}"/>
              </a:ext>
            </a:extLst>
          </p:cNvPr>
          <p:cNvSpPr/>
          <p:nvPr/>
        </p:nvSpPr>
        <p:spPr bwMode="auto">
          <a:xfrm>
            <a:off x="3240768" y="2649465"/>
            <a:ext cx="424070" cy="318054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3B6025E-8567-3380-220B-38EE52C8057B}"/>
              </a:ext>
            </a:extLst>
          </p:cNvPr>
          <p:cNvSpPr/>
          <p:nvPr/>
        </p:nvSpPr>
        <p:spPr bwMode="auto">
          <a:xfrm>
            <a:off x="3240767" y="3716264"/>
            <a:ext cx="424070" cy="324680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C28FC08-A115-B301-D28B-998960F71406}"/>
              </a:ext>
            </a:extLst>
          </p:cNvPr>
          <p:cNvSpPr/>
          <p:nvPr/>
        </p:nvSpPr>
        <p:spPr bwMode="auto">
          <a:xfrm>
            <a:off x="3240766" y="4252976"/>
            <a:ext cx="424070" cy="477078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980C685-31AF-4602-33B6-08866228EC99}"/>
              </a:ext>
            </a:extLst>
          </p:cNvPr>
          <p:cNvSpPr/>
          <p:nvPr/>
        </p:nvSpPr>
        <p:spPr bwMode="auto">
          <a:xfrm>
            <a:off x="3240765" y="4783062"/>
            <a:ext cx="424070" cy="29817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>
              <a:latin typeface="Arial"/>
              <a:cs typeface="Arial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FF5C140-0E77-8CAB-FC49-51FBE6662B36}"/>
              </a:ext>
            </a:extLst>
          </p:cNvPr>
          <p:cNvSpPr/>
          <p:nvPr/>
        </p:nvSpPr>
        <p:spPr bwMode="auto">
          <a:xfrm>
            <a:off x="3240764" y="3398208"/>
            <a:ext cx="424070" cy="31805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1FC7084-F3F4-5014-4A14-E99FB4363E86}"/>
              </a:ext>
            </a:extLst>
          </p:cNvPr>
          <p:cNvSpPr/>
          <p:nvPr/>
        </p:nvSpPr>
        <p:spPr bwMode="auto">
          <a:xfrm>
            <a:off x="3240767" y="3186178"/>
            <a:ext cx="424070" cy="165654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C1C9F64-305D-BC41-0583-D4A0868EAA5F}"/>
              </a:ext>
            </a:extLst>
          </p:cNvPr>
          <p:cNvSpPr/>
          <p:nvPr/>
        </p:nvSpPr>
        <p:spPr bwMode="auto">
          <a:xfrm>
            <a:off x="3240765" y="4093949"/>
            <a:ext cx="424070" cy="106018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>
              <a:cs typeface="Arial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2343D47-C190-E2EC-8609-7214520D4FB4}"/>
              </a:ext>
            </a:extLst>
          </p:cNvPr>
          <p:cNvSpPr/>
          <p:nvPr/>
        </p:nvSpPr>
        <p:spPr bwMode="auto">
          <a:xfrm>
            <a:off x="3240764" y="3020522"/>
            <a:ext cx="424070" cy="119271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13F8040-38FF-3221-BBB5-7D37AE9FD342}"/>
              </a:ext>
            </a:extLst>
          </p:cNvPr>
          <p:cNvSpPr/>
          <p:nvPr/>
        </p:nvSpPr>
        <p:spPr bwMode="auto">
          <a:xfrm>
            <a:off x="3240763" y="5140868"/>
            <a:ext cx="424070" cy="139149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9C2A2AA-B46B-0D8E-D319-118EDEB3AB5C}"/>
              </a:ext>
            </a:extLst>
          </p:cNvPr>
          <p:cNvSpPr/>
          <p:nvPr/>
        </p:nvSpPr>
        <p:spPr bwMode="auto">
          <a:xfrm>
            <a:off x="4588978" y="1590672"/>
            <a:ext cx="3041374" cy="881270"/>
          </a:xfrm>
          <a:prstGeom prst="rect">
            <a:avLst/>
          </a:prstGeom>
          <a:solidFill>
            <a:srgbClr val="CCE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1400" b="1">
                <a:latin typeface="Arial"/>
                <a:cs typeface="Arial"/>
              </a:rPr>
              <a:t>Modell neigt dazu auf "OK" zu raten und erreicht damit hohe </a:t>
            </a:r>
            <a:r>
              <a:rPr lang="de-DE" sz="1400" b="1" err="1">
                <a:latin typeface="Arial"/>
                <a:cs typeface="Arial"/>
              </a:rPr>
              <a:t>Accuracy</a:t>
            </a:r>
            <a:endParaRPr lang="de-DE">
              <a:cs typeface="Arial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7F6920F-A4E9-FB77-E425-721E1E6BE4D6}"/>
              </a:ext>
            </a:extLst>
          </p:cNvPr>
          <p:cNvSpPr/>
          <p:nvPr/>
        </p:nvSpPr>
        <p:spPr bwMode="auto">
          <a:xfrm>
            <a:off x="7988159" y="5064189"/>
            <a:ext cx="3611217" cy="351184"/>
          </a:xfrm>
          <a:prstGeom prst="rect">
            <a:avLst/>
          </a:prstGeom>
          <a:solidFill>
            <a:srgbClr val="CCE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1400" b="1" dirty="0">
                <a:latin typeface="Arial"/>
                <a:cs typeface="Arial"/>
              </a:rPr>
              <a:t>Modell auf F1-Score optimieren </a:t>
            </a:r>
            <a:endParaRPr lang="de-DE" sz="1400" b="1" dirty="0">
              <a:cs typeface="Arial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CB3AE59-9AF2-B981-3084-1FA16F546E56}"/>
              </a:ext>
            </a:extLst>
          </p:cNvPr>
          <p:cNvSpPr/>
          <p:nvPr/>
        </p:nvSpPr>
        <p:spPr bwMode="auto">
          <a:xfrm>
            <a:off x="7988158" y="5475006"/>
            <a:ext cx="3611217" cy="35118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1400" b="1">
                <a:solidFill>
                  <a:srgbClr val="BFBFBF"/>
                </a:solidFill>
                <a:latin typeface="Arial"/>
                <a:cs typeface="Arial"/>
              </a:rPr>
              <a:t>auf </a:t>
            </a:r>
            <a:r>
              <a:rPr lang="de-DE" sz="1400" b="1" err="1">
                <a:solidFill>
                  <a:srgbClr val="BFBFBF"/>
                </a:solidFill>
                <a:latin typeface="Arial"/>
                <a:cs typeface="Arial"/>
              </a:rPr>
              <a:t>Balanced</a:t>
            </a:r>
            <a:r>
              <a:rPr lang="de-DE" sz="1400" b="1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lang="de-DE" sz="1400" b="1" err="1">
                <a:solidFill>
                  <a:srgbClr val="BFBFBF"/>
                </a:solidFill>
                <a:latin typeface="Arial"/>
                <a:cs typeface="Arial"/>
              </a:rPr>
              <a:t>Accuracy</a:t>
            </a:r>
            <a:r>
              <a:rPr lang="de-DE" sz="1400" b="1">
                <a:solidFill>
                  <a:srgbClr val="BFBFBF"/>
                </a:solidFill>
                <a:latin typeface="Arial"/>
                <a:cs typeface="Arial"/>
              </a:rPr>
              <a:t> optimieren</a:t>
            </a:r>
            <a:endParaRPr lang="de-DE" sz="1400" b="1" err="1">
              <a:solidFill>
                <a:srgbClr val="BFBFBF"/>
              </a:solidFill>
              <a:cs typeface="Arial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924FB07-7826-1FB0-76DE-45A2C9B6DF29}"/>
              </a:ext>
            </a:extLst>
          </p:cNvPr>
          <p:cNvSpPr/>
          <p:nvPr/>
        </p:nvSpPr>
        <p:spPr bwMode="auto">
          <a:xfrm>
            <a:off x="8001411" y="1588688"/>
            <a:ext cx="3611217" cy="8892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1400" b="1" u="sng" dirty="0">
                <a:solidFill>
                  <a:schemeClr val="bg1"/>
                </a:solidFill>
                <a:latin typeface="Arial"/>
                <a:cs typeface="Arial"/>
              </a:rPr>
              <a:t>Prinzipielle Möglichkeiten um </a:t>
            </a:r>
            <a:br>
              <a:rPr lang="de-DE" sz="1400" b="1" u="sng" dirty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de-DE" sz="1400" b="1" u="sng" dirty="0">
                <a:solidFill>
                  <a:schemeClr val="bg1"/>
                </a:solidFill>
                <a:latin typeface="Arial"/>
                <a:cs typeface="Arial"/>
              </a:rPr>
              <a:t>Imbalance zu überwinden:</a:t>
            </a:r>
            <a:endParaRPr lang="de-DE" sz="1400" b="1" u="sng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29E77C1-11FB-25F0-3262-8B38066D3DB2}"/>
              </a:ext>
            </a:extLst>
          </p:cNvPr>
          <p:cNvSpPr/>
          <p:nvPr/>
        </p:nvSpPr>
        <p:spPr bwMode="auto">
          <a:xfrm>
            <a:off x="8000030" y="4126528"/>
            <a:ext cx="3611217" cy="65598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1400" b="1" err="1">
                <a:solidFill>
                  <a:srgbClr val="BFBFBF"/>
                </a:solidFill>
                <a:latin typeface="Arial"/>
                <a:cs typeface="Arial"/>
              </a:rPr>
              <a:t>Downsampling</a:t>
            </a:r>
          </a:p>
          <a:p>
            <a:pPr marL="180975" indent="-180975" algn="ctr"/>
            <a:r>
              <a:rPr lang="de-DE" sz="1000">
                <a:solidFill>
                  <a:srgbClr val="BFBFBF"/>
                </a:solidFill>
                <a:latin typeface="Arial"/>
                <a:cs typeface="Arial"/>
              </a:rPr>
              <a:t>reduzieren von "OK"-Bildern im Training bis </a:t>
            </a:r>
            <a:r>
              <a:rPr lang="de-DE" sz="1000" err="1">
                <a:solidFill>
                  <a:srgbClr val="BFBFBF"/>
                </a:solidFill>
                <a:latin typeface="Arial"/>
                <a:cs typeface="Arial"/>
              </a:rPr>
              <a:t>ca</a:t>
            </a:r>
            <a:r>
              <a:rPr lang="de-DE" sz="1000">
                <a:solidFill>
                  <a:srgbClr val="BFBFBF"/>
                </a:solidFill>
                <a:latin typeface="Arial"/>
                <a:cs typeface="Arial"/>
              </a:rPr>
              <a:t> 50% Verhältnis erreicht ist</a:t>
            </a:r>
            <a:endParaRPr lang="de-DE" sz="1000">
              <a:solidFill>
                <a:srgbClr val="BFBFBF"/>
              </a:solidFill>
              <a:cs typeface="Arial"/>
            </a:endParaRPr>
          </a:p>
          <a:p>
            <a:pPr marL="180975" indent="-180975" algn="ctr"/>
            <a:endParaRPr lang="de-DE" sz="1000" b="1">
              <a:solidFill>
                <a:srgbClr val="BFBFBF"/>
              </a:solidFill>
              <a:cs typeface="Arial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1DFBC4C6-EAEB-2C45-5AFA-D8B4CDE208E5}"/>
              </a:ext>
            </a:extLst>
          </p:cNvPr>
          <p:cNvSpPr/>
          <p:nvPr/>
        </p:nvSpPr>
        <p:spPr bwMode="auto">
          <a:xfrm>
            <a:off x="7993679" y="2510590"/>
            <a:ext cx="3611217" cy="732182"/>
          </a:xfrm>
          <a:prstGeom prst="rect">
            <a:avLst/>
          </a:prstGeom>
          <a:solidFill>
            <a:srgbClr val="CCE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1400" b="1" err="1">
                <a:latin typeface="Arial"/>
                <a:cs typeface="Arial"/>
              </a:rPr>
              <a:t>Upsampling</a:t>
            </a:r>
            <a:r>
              <a:rPr lang="de-DE" sz="1400" b="1">
                <a:latin typeface="Arial"/>
                <a:cs typeface="Arial"/>
              </a:rPr>
              <a:t> durch Data Augmentation</a:t>
            </a:r>
            <a:endParaRPr lang="de-DE" sz="1000">
              <a:cs typeface="Arial"/>
            </a:endParaRPr>
          </a:p>
          <a:p>
            <a:pPr marL="180975" indent="-180975" algn="ctr"/>
            <a:r>
              <a:rPr lang="de-DE" sz="1000">
                <a:latin typeface="Arial"/>
                <a:cs typeface="Arial"/>
              </a:rPr>
              <a:t>erzeugen von zusätzlichen, künstlichen, aber realistischen "Fehler"-Bildern bis ca. 50% Verhältnis erreicht ist)</a:t>
            </a:r>
            <a:endParaRPr lang="de-DE" sz="1000">
              <a:cs typeface="Arial"/>
            </a:endParaRPr>
          </a:p>
          <a:p>
            <a:pPr marL="180975" indent="-180975" algn="ctr"/>
            <a:endParaRPr lang="de-DE" sz="1000" b="1">
              <a:cs typeface="Arial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281B718-ACD9-3C54-70F1-FC0D2FA2C1B3}"/>
              </a:ext>
            </a:extLst>
          </p:cNvPr>
          <p:cNvSpPr/>
          <p:nvPr/>
        </p:nvSpPr>
        <p:spPr bwMode="auto">
          <a:xfrm>
            <a:off x="7993678" y="3314830"/>
            <a:ext cx="3611217" cy="732182"/>
          </a:xfrm>
          <a:prstGeom prst="rect">
            <a:avLst/>
          </a:prstGeom>
          <a:solidFill>
            <a:srgbClr val="CCE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1400" b="1">
                <a:latin typeface="Arial"/>
                <a:cs typeface="Arial"/>
              </a:rPr>
              <a:t>Class </a:t>
            </a:r>
            <a:r>
              <a:rPr lang="de-DE" sz="1400" b="1" err="1">
                <a:latin typeface="Arial"/>
                <a:cs typeface="Arial"/>
              </a:rPr>
              <a:t>Weights</a:t>
            </a:r>
            <a:endParaRPr lang="de-DE" sz="1400" b="1">
              <a:cs typeface="Arial"/>
            </a:endParaRPr>
          </a:p>
          <a:p>
            <a:pPr marL="180975" indent="-180975" algn="ctr"/>
            <a:r>
              <a:rPr lang="de-DE" sz="1000">
                <a:latin typeface="Arial"/>
                <a:cs typeface="Arial"/>
              </a:rPr>
              <a:t>Loss-</a:t>
            </a:r>
            <a:r>
              <a:rPr lang="de-DE" sz="1000" err="1">
                <a:latin typeface="Arial"/>
                <a:cs typeface="Arial"/>
              </a:rPr>
              <a:t>Function</a:t>
            </a:r>
            <a:r>
              <a:rPr lang="de-DE" sz="1000">
                <a:latin typeface="Arial"/>
                <a:cs typeface="Arial"/>
              </a:rPr>
              <a:t> wird beim Training mit dem Verhältnis </a:t>
            </a:r>
          </a:p>
          <a:p>
            <a:pPr marL="180975" indent="-180975" algn="ctr"/>
            <a:r>
              <a:rPr lang="de-DE" sz="1000">
                <a:latin typeface="Arial"/>
                <a:cs typeface="Arial"/>
              </a:rPr>
              <a:t>die vorhandenen Klassen gewichtet. </a:t>
            </a:r>
            <a:endParaRPr lang="de-DE"/>
          </a:p>
          <a:p>
            <a:pPr marL="180975" indent="-180975" algn="ctr"/>
            <a:endParaRPr lang="de-DE" sz="1000" b="1">
              <a:cs typeface="Arial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CF67035E-5B18-EF99-9E74-C589B52D54F6}"/>
              </a:ext>
            </a:extLst>
          </p:cNvPr>
          <p:cNvSpPr/>
          <p:nvPr/>
        </p:nvSpPr>
        <p:spPr bwMode="auto">
          <a:xfrm rot="20520000">
            <a:off x="10926463" y="3833688"/>
            <a:ext cx="1022400" cy="284400"/>
          </a:xfrm>
          <a:prstGeom prst="rect">
            <a:avLst/>
          </a:prstGeom>
          <a:solidFill>
            <a:srgbClr val="CCE1F0"/>
          </a:solidFill>
          <a:ln w="9525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100">
                <a:highlight>
                  <a:srgbClr val="FFFF00"/>
                </a:highlight>
                <a:latin typeface="Arial"/>
                <a:cs typeface="Arial"/>
              </a:rPr>
              <a:t>weiterverfolgt</a:t>
            </a:r>
            <a:endParaRPr kumimoji="0" lang="de-DE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D4D19F2-283D-A9DA-3F2F-6C69283AA190}"/>
              </a:ext>
            </a:extLst>
          </p:cNvPr>
          <p:cNvSpPr/>
          <p:nvPr/>
        </p:nvSpPr>
        <p:spPr bwMode="auto">
          <a:xfrm rot="20520000">
            <a:off x="10926463" y="3029687"/>
            <a:ext cx="1022400" cy="284400"/>
          </a:xfrm>
          <a:prstGeom prst="rect">
            <a:avLst/>
          </a:prstGeom>
          <a:solidFill>
            <a:srgbClr val="CCE1F0"/>
          </a:solidFill>
          <a:ln w="9525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100">
                <a:highlight>
                  <a:srgbClr val="FFFF00"/>
                </a:highlight>
                <a:latin typeface="Arial"/>
                <a:cs typeface="Arial"/>
              </a:rPr>
              <a:t>weiterverfolgt</a:t>
            </a:r>
            <a:endParaRPr kumimoji="0" lang="de-DE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charset="0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FD7F2FE-7E96-06E9-6FC1-4378545236B7}"/>
              </a:ext>
            </a:extLst>
          </p:cNvPr>
          <p:cNvSpPr/>
          <p:nvPr/>
        </p:nvSpPr>
        <p:spPr bwMode="auto">
          <a:xfrm rot="20520000">
            <a:off x="10926098" y="5212691"/>
            <a:ext cx="1022400" cy="284400"/>
          </a:xfrm>
          <a:prstGeom prst="rect">
            <a:avLst/>
          </a:prstGeom>
          <a:solidFill>
            <a:srgbClr val="CCE1F0"/>
          </a:solidFill>
          <a:ln w="9525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100">
                <a:highlight>
                  <a:srgbClr val="FFFF00"/>
                </a:highlight>
                <a:latin typeface="Arial"/>
                <a:cs typeface="Arial"/>
              </a:rPr>
              <a:t>weiterverfolgt</a:t>
            </a:r>
            <a:endParaRPr kumimoji="0" lang="de-DE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charset="0"/>
            </a:endParaRPr>
          </a:p>
        </p:txBody>
      </p:sp>
      <p:sp>
        <p:nvSpPr>
          <p:cNvPr id="18" name="Gleichschenkliges Dreieck 17">
            <a:extLst>
              <a:ext uri="{FF2B5EF4-FFF2-40B4-BE49-F238E27FC236}">
                <a16:creationId xmlns:a16="http://schemas.microsoft.com/office/drawing/2014/main" id="{CB883BE8-7623-2C81-293A-5F2FF84C69D4}"/>
              </a:ext>
            </a:extLst>
          </p:cNvPr>
          <p:cNvSpPr/>
          <p:nvPr/>
        </p:nvSpPr>
        <p:spPr bwMode="auto">
          <a:xfrm rot="5400000">
            <a:off x="4028396" y="1845366"/>
            <a:ext cx="881800" cy="377687"/>
          </a:xfrm>
          <a:custGeom>
            <a:avLst/>
            <a:gdLst>
              <a:gd name="csX0" fmla="*/ 0 w 881800"/>
              <a:gd name="csY0" fmla="*/ 377687 h 377687"/>
              <a:gd name="csX1" fmla="*/ 440900 w 881800"/>
              <a:gd name="csY1" fmla="*/ 0 h 377687"/>
              <a:gd name="csX2" fmla="*/ 881800 w 881800"/>
              <a:gd name="csY2" fmla="*/ 377687 h 377687"/>
              <a:gd name="csX3" fmla="*/ 432082 w 881800"/>
              <a:gd name="csY3" fmla="*/ 377687 h 377687"/>
              <a:gd name="csX4" fmla="*/ 0 w 881800"/>
              <a:gd name="csY4" fmla="*/ 377687 h 377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81800" h="377687" fill="none" extrusionOk="0">
                <a:moveTo>
                  <a:pt x="0" y="377687"/>
                </a:moveTo>
                <a:cubicBezTo>
                  <a:pt x="88538" y="264450"/>
                  <a:pt x="257106" y="179889"/>
                  <a:pt x="440900" y="0"/>
                </a:cubicBezTo>
                <a:cubicBezTo>
                  <a:pt x="622744" y="123521"/>
                  <a:pt x="682808" y="191984"/>
                  <a:pt x="881800" y="377687"/>
                </a:cubicBezTo>
                <a:cubicBezTo>
                  <a:pt x="690683" y="394076"/>
                  <a:pt x="555907" y="386192"/>
                  <a:pt x="432082" y="377687"/>
                </a:cubicBezTo>
                <a:cubicBezTo>
                  <a:pt x="308257" y="369182"/>
                  <a:pt x="91446" y="366764"/>
                  <a:pt x="0" y="377687"/>
                </a:cubicBezTo>
                <a:close/>
              </a:path>
              <a:path w="881800" h="377687" stroke="0" extrusionOk="0">
                <a:moveTo>
                  <a:pt x="0" y="377687"/>
                </a:moveTo>
                <a:cubicBezTo>
                  <a:pt x="131901" y="247586"/>
                  <a:pt x="261081" y="134646"/>
                  <a:pt x="440900" y="0"/>
                </a:cubicBezTo>
                <a:cubicBezTo>
                  <a:pt x="530320" y="84994"/>
                  <a:pt x="691099" y="199930"/>
                  <a:pt x="881800" y="377687"/>
                </a:cubicBezTo>
                <a:cubicBezTo>
                  <a:pt x="716718" y="389493"/>
                  <a:pt x="607290" y="378847"/>
                  <a:pt x="467354" y="377687"/>
                </a:cubicBezTo>
                <a:cubicBezTo>
                  <a:pt x="327418" y="376527"/>
                  <a:pt x="136898" y="362365"/>
                  <a:pt x="0" y="377687"/>
                </a:cubicBezTo>
                <a:close/>
              </a:path>
            </a:pathLst>
          </a:custGeom>
          <a:solidFill>
            <a:srgbClr val="CCE1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499211612">
                  <a:prstGeom prst="triangl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1AB5CDFE-361F-A729-78A6-0E18B2FB1815}"/>
              </a:ext>
            </a:extLst>
          </p:cNvPr>
          <p:cNvSpPr/>
          <p:nvPr/>
        </p:nvSpPr>
        <p:spPr bwMode="auto">
          <a:xfrm rot="5400000">
            <a:off x="7546847" y="1871869"/>
            <a:ext cx="881800" cy="377687"/>
          </a:xfrm>
          <a:custGeom>
            <a:avLst/>
            <a:gdLst>
              <a:gd name="csX0" fmla="*/ 0 w 881800"/>
              <a:gd name="csY0" fmla="*/ 377687 h 377687"/>
              <a:gd name="csX1" fmla="*/ 440900 w 881800"/>
              <a:gd name="csY1" fmla="*/ 0 h 377687"/>
              <a:gd name="csX2" fmla="*/ 881800 w 881800"/>
              <a:gd name="csY2" fmla="*/ 377687 h 377687"/>
              <a:gd name="csX3" fmla="*/ 432082 w 881800"/>
              <a:gd name="csY3" fmla="*/ 377687 h 377687"/>
              <a:gd name="csX4" fmla="*/ 0 w 881800"/>
              <a:gd name="csY4" fmla="*/ 377687 h 377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81800" h="377687" fill="none" extrusionOk="0">
                <a:moveTo>
                  <a:pt x="0" y="377687"/>
                </a:moveTo>
                <a:cubicBezTo>
                  <a:pt x="88538" y="264450"/>
                  <a:pt x="257106" y="179889"/>
                  <a:pt x="440900" y="0"/>
                </a:cubicBezTo>
                <a:cubicBezTo>
                  <a:pt x="622744" y="123521"/>
                  <a:pt x="682808" y="191984"/>
                  <a:pt x="881800" y="377687"/>
                </a:cubicBezTo>
                <a:cubicBezTo>
                  <a:pt x="690683" y="394076"/>
                  <a:pt x="555907" y="386192"/>
                  <a:pt x="432082" y="377687"/>
                </a:cubicBezTo>
                <a:cubicBezTo>
                  <a:pt x="308257" y="369182"/>
                  <a:pt x="91446" y="366764"/>
                  <a:pt x="0" y="377687"/>
                </a:cubicBezTo>
                <a:close/>
              </a:path>
              <a:path w="881800" h="377687" stroke="0" extrusionOk="0">
                <a:moveTo>
                  <a:pt x="0" y="377687"/>
                </a:moveTo>
                <a:cubicBezTo>
                  <a:pt x="131901" y="247586"/>
                  <a:pt x="261081" y="134646"/>
                  <a:pt x="440900" y="0"/>
                </a:cubicBezTo>
                <a:cubicBezTo>
                  <a:pt x="530320" y="84994"/>
                  <a:pt x="691099" y="199930"/>
                  <a:pt x="881800" y="377687"/>
                </a:cubicBezTo>
                <a:cubicBezTo>
                  <a:pt x="716718" y="389493"/>
                  <a:pt x="607290" y="378847"/>
                  <a:pt x="467354" y="377687"/>
                </a:cubicBezTo>
                <a:cubicBezTo>
                  <a:pt x="327418" y="376527"/>
                  <a:pt x="136898" y="362365"/>
                  <a:pt x="0" y="377687"/>
                </a:cubicBezTo>
                <a:close/>
              </a:path>
            </a:pathLst>
          </a:custGeom>
          <a:solidFill>
            <a:srgbClr val="CCE1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499211612">
                  <a:prstGeom prst="triangl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1C81DE5-232A-BC28-5C45-0BFC4E957CBC}"/>
              </a:ext>
            </a:extLst>
          </p:cNvPr>
          <p:cNvSpPr txBox="1"/>
          <p:nvPr/>
        </p:nvSpPr>
        <p:spPr bwMode="auto">
          <a:xfrm>
            <a:off x="633692" y="5747352"/>
            <a:ext cx="204192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800" kern="0" dirty="0">
                <a:latin typeface="Arial"/>
                <a:cs typeface="Arial"/>
              </a:rPr>
              <a:t>sehr stark unterrepräsentiert (&lt;20%)</a:t>
            </a:r>
          </a:p>
          <a:p>
            <a:r>
              <a:rPr lang="de-DE" sz="800" kern="0" dirty="0">
                <a:latin typeface="Arial"/>
                <a:cs typeface="Arial"/>
              </a:rPr>
              <a:t>stark unterrepräsentiert (&lt;30%)</a:t>
            </a:r>
            <a:endParaRPr lang="de-DE" sz="800" kern="0">
              <a:cs typeface="Arial"/>
            </a:endParaRPr>
          </a:p>
          <a:p>
            <a:r>
              <a:rPr lang="de-DE" sz="800" kern="0" dirty="0">
                <a:latin typeface="Arial"/>
                <a:cs typeface="Arial"/>
              </a:rPr>
              <a:t>unterrepräsentiert (30-35%)</a:t>
            </a:r>
            <a:endParaRPr lang="de-DE" sz="800" kern="0" dirty="0">
              <a:cs typeface="Arial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13E10A3-1B60-0D31-C511-7E38C25372EE}"/>
              </a:ext>
            </a:extLst>
          </p:cNvPr>
          <p:cNvSpPr/>
          <p:nvPr/>
        </p:nvSpPr>
        <p:spPr bwMode="auto">
          <a:xfrm>
            <a:off x="320502" y="5896335"/>
            <a:ext cx="239523" cy="72267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57F2716-6076-ADDE-8A0A-2CB6AFCBE89A}"/>
              </a:ext>
            </a:extLst>
          </p:cNvPr>
          <p:cNvSpPr/>
          <p:nvPr/>
        </p:nvSpPr>
        <p:spPr bwMode="auto">
          <a:xfrm>
            <a:off x="320501" y="5771577"/>
            <a:ext cx="239523" cy="7195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>
              <a:latin typeface="Arial"/>
              <a:cs typeface="Arial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C3DB03C-DEC1-2D69-C3EC-08B435832905}"/>
              </a:ext>
            </a:extLst>
          </p:cNvPr>
          <p:cNvSpPr/>
          <p:nvPr/>
        </p:nvSpPr>
        <p:spPr bwMode="auto">
          <a:xfrm>
            <a:off x="320501" y="6034964"/>
            <a:ext cx="239523" cy="70300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>
              <a:cs typeface="Arial"/>
            </a:endParaRP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E15E4A9A-ABB8-E005-A734-BFD7BA8C1104}"/>
              </a:ext>
            </a:extLst>
          </p:cNvPr>
          <p:cNvCxnSpPr/>
          <p:nvPr/>
        </p:nvCxnSpPr>
        <p:spPr bwMode="auto">
          <a:xfrm>
            <a:off x="7861755" y="4965714"/>
            <a:ext cx="3736179" cy="3571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307162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42E8A-9592-1B42-41E7-01395070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E882D87-939C-DF7C-5DBD-739D88DB4A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09FA03-6DFB-2E9A-6CF9-C71C0D6C5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de-DE"/>
          </a:p>
        </p:txBody>
      </p: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8ACD795F-4A14-D735-AD80-2ED95A19D21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7CD714-8341-4FF2-AA85-E345444355E9}" type="datetime1">
              <a:rPr lang="de-DE" smtClean="0"/>
              <a:t>21.02.2026</a:t>
            </a:fld>
            <a:endParaRPr lang="de-DE"/>
          </a:p>
        </p:txBody>
      </p:sp>
      <p:sp>
        <p:nvSpPr>
          <p:cNvPr id="7" name="Titel 2">
            <a:extLst>
              <a:ext uri="{FF2B5EF4-FFF2-40B4-BE49-F238E27FC236}">
                <a16:creationId xmlns:a16="http://schemas.microsoft.com/office/drawing/2014/main" id="{C1B42801-0C15-90E5-8333-092D7ABF8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AD38665-E0D3-BD96-83B8-E0CCB5A68FF4}"/>
              </a:ext>
            </a:extLst>
          </p:cNvPr>
          <p:cNvSpPr txBox="1"/>
          <p:nvPr/>
        </p:nvSpPr>
        <p:spPr bwMode="auto">
          <a:xfrm>
            <a:off x="7478258" y="4140127"/>
            <a:ext cx="61010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1200">
                <a:solidFill>
                  <a:schemeClr val="bg1"/>
                </a:solidFill>
              </a:rPr>
              <a:t>[3] </a:t>
            </a:r>
            <a:endParaRPr lang="en-GB" sz="1200">
              <a:solidFill>
                <a:schemeClr val="bg1"/>
              </a:solidFill>
            </a:endParaRPr>
          </a:p>
        </p:txBody>
      </p:sp>
      <p:graphicFrame>
        <p:nvGraphicFramePr>
          <p:cNvPr id="30" name="Table 24">
            <a:extLst>
              <a:ext uri="{FF2B5EF4-FFF2-40B4-BE49-F238E27FC236}">
                <a16:creationId xmlns:a16="http://schemas.microsoft.com/office/drawing/2014/main" id="{41BB1900-8E6B-E025-1AE7-0108B5FE9C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5285577"/>
              </p:ext>
            </p:extLst>
          </p:nvPr>
        </p:nvGraphicFramePr>
        <p:xfrm>
          <a:off x="5454000" y="1200000"/>
          <a:ext cx="6037677" cy="5035218"/>
        </p:xfrm>
        <a:graphic>
          <a:graphicData uri="http://schemas.openxmlformats.org/drawingml/2006/table">
            <a:tbl>
              <a:tblPr firstRow="1" bandRow="1"/>
              <a:tblGrid>
                <a:gridCol w="694983">
                  <a:extLst>
                    <a:ext uri="{9D8B030D-6E8A-4147-A177-3AD203B41FA5}">
                      <a16:colId xmlns:a16="http://schemas.microsoft.com/office/drawing/2014/main" val="1857791330"/>
                    </a:ext>
                  </a:extLst>
                </a:gridCol>
                <a:gridCol w="4684978">
                  <a:extLst>
                    <a:ext uri="{9D8B030D-6E8A-4147-A177-3AD203B41FA5}">
                      <a16:colId xmlns:a16="http://schemas.microsoft.com/office/drawing/2014/main" val="620299569"/>
                    </a:ext>
                  </a:extLst>
                </a:gridCol>
                <a:gridCol w="657716">
                  <a:extLst>
                    <a:ext uri="{9D8B030D-6E8A-4147-A177-3AD203B41FA5}">
                      <a16:colId xmlns:a16="http://schemas.microsoft.com/office/drawing/2014/main" val="1172101712"/>
                    </a:ext>
                  </a:extLst>
                </a:gridCol>
              </a:tblGrid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Start </a:t>
                      </a:r>
                      <a:r>
                        <a:rPr lang="en-US" sz="1600" b="1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mit</a:t>
                      </a:r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1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Experimentieren</a:t>
                      </a:r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:</a:t>
                      </a:r>
                      <a:endParaRPr lang="de-DE" b="1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Erkenntnisse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anhand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eines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Custom CNN 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16587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Problematik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Imbalanced Datasets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955894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tx1"/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1: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Augmentation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045840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 2: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Class Weights</a:t>
                      </a:r>
                      <a:endParaRPr lang="de-DE" b="1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83214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Modell-Tuning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550306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06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Confusion matrix 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100306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07</a:t>
                      </a:r>
                      <a:endParaRPr lang="de-DE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A: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Classifier Ensemble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072433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08</a:t>
                      </a:r>
                      <a:endParaRPr lang="de-DE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B: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2-Head-Classifier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0074"/>
                  </a:ext>
                </a:extLst>
              </a:tr>
              <a:tr h="523573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Pretrained Models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Vergleich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3-Head-Classifier vs 3 </a:t>
                      </a: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Einzelmodelle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927458"/>
                  </a:ext>
                </a:extLst>
              </a:tr>
            </a:tbl>
          </a:graphicData>
        </a:graphic>
      </p:graphicFrame>
      <p:pic>
        <p:nvPicPr>
          <p:cNvPr id="3" name="Grafik 2" descr="Ein Bild, das Im Haus, Computer, Tisch, Computertastatur enthält.&#10;&#10;KI-generierte Inhalte können fehlerhaft sein.">
            <a:extLst>
              <a:ext uri="{FF2B5EF4-FFF2-40B4-BE49-F238E27FC236}">
                <a16:creationId xmlns:a16="http://schemas.microsoft.com/office/drawing/2014/main" id="{72F4278C-7869-5953-4AFF-0D2B9E334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9" y="1245703"/>
            <a:ext cx="4239558" cy="430695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DF88949-FF88-9756-B810-A1C8CFE1AC93}"/>
              </a:ext>
            </a:extLst>
          </p:cNvPr>
          <p:cNvSpPr txBox="1"/>
          <p:nvPr/>
        </p:nvSpPr>
        <p:spPr bwMode="auto">
          <a:xfrm>
            <a:off x="775251" y="5552660"/>
            <a:ext cx="1961321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050" kern="0">
                <a:solidFill>
                  <a:srgbClr val="7F7F7F"/>
                </a:solidFill>
                <a:latin typeface="Arial"/>
                <a:cs typeface="Arial"/>
              </a:rPr>
              <a:t>Generiert mit Nano </a:t>
            </a:r>
            <a:r>
              <a:rPr lang="de-DE" sz="1050" kern="0" err="1">
                <a:solidFill>
                  <a:srgbClr val="7F7F7F"/>
                </a:solidFill>
                <a:latin typeface="Arial"/>
                <a:cs typeface="Arial"/>
              </a:rPr>
              <a:t>Banana</a:t>
            </a:r>
            <a:endParaRPr lang="de-DE" sz="1050" kern="0" err="1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382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D942-867A-3024-457C-B0ED98E44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26FC67-D23B-359F-C4FB-49AC6A92E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381C66-054D-9EFA-649F-4A150B7B5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de-DE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C918C96D-5C2B-F0AD-88C9-D33FDE3F8BD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13DE5C1-F4A3-44AC-9D1F-B119038B09F5}" type="datetime1">
              <a:rPr lang="de-DE" smtClean="0"/>
              <a:t>21.02.2026</a:t>
            </a:fld>
            <a:endParaRPr lang="de-DE"/>
          </a:p>
        </p:txBody>
      </p:sp>
      <p:sp>
        <p:nvSpPr>
          <p:cNvPr id="10" name="Titel 2">
            <a:extLst>
              <a:ext uri="{FF2B5EF4-FFF2-40B4-BE49-F238E27FC236}">
                <a16:creationId xmlns:a16="http://schemas.microsoft.com/office/drawing/2014/main" id="{F4A61B98-83C6-5727-CAA6-1B21AC80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291858"/>
            <a:ext cx="11305256" cy="576064"/>
          </a:xfrm>
        </p:spPr>
        <p:txBody>
          <a:bodyPr wrap="square" lIns="0" tIns="45720" rIns="91440" bIns="45720" anchor="t">
            <a:noAutofit/>
          </a:bodyPr>
          <a:lstStyle/>
          <a:p>
            <a:r>
              <a:rPr lang="en-US" sz="2200">
                <a:cs typeface="Arial"/>
              </a:rPr>
              <a:t>03 Data Augmentation</a:t>
            </a:r>
            <a:br>
              <a:rPr lang="en-US" sz="2200">
                <a:cs typeface="Arial"/>
              </a:rPr>
            </a:br>
            <a:r>
              <a:rPr lang="en-US" sz="2200" err="1">
                <a:cs typeface="Arial"/>
              </a:rPr>
              <a:t>Erweiterung</a:t>
            </a:r>
            <a:r>
              <a:rPr lang="en-US" sz="2200">
                <a:cs typeface="Arial"/>
              </a:rPr>
              <a:t> der </a:t>
            </a:r>
            <a:r>
              <a:rPr lang="en-US" sz="2200" err="1">
                <a:cs typeface="Arial"/>
              </a:rPr>
              <a:t>unterrepräsentierten</a:t>
            </a:r>
            <a:r>
              <a:rPr lang="en-US" sz="2200">
                <a:cs typeface="Arial"/>
              </a:rPr>
              <a:t> Klasse </a:t>
            </a:r>
            <a:r>
              <a:rPr lang="en-US" sz="2200" err="1">
                <a:cs typeface="Arial"/>
              </a:rPr>
              <a:t>durch</a:t>
            </a:r>
            <a:r>
              <a:rPr lang="en-US" sz="2200">
                <a:cs typeface="Arial"/>
              </a:rPr>
              <a:t> </a:t>
            </a:r>
            <a:r>
              <a:rPr lang="en-US" sz="2200" err="1">
                <a:cs typeface="Arial"/>
              </a:rPr>
              <a:t>zusätzliche</a:t>
            </a:r>
            <a:r>
              <a:rPr lang="en-US" sz="2200">
                <a:cs typeface="Arial"/>
              </a:rPr>
              <a:t>, </a:t>
            </a:r>
            <a:r>
              <a:rPr lang="en-US" sz="2200" err="1">
                <a:cs typeface="Arial"/>
              </a:rPr>
              <a:t>modifizierte</a:t>
            </a:r>
            <a:r>
              <a:rPr lang="en-US" sz="2200">
                <a:cs typeface="Arial"/>
              </a:rPr>
              <a:t> Bilder</a:t>
            </a:r>
          </a:p>
        </p:txBody>
      </p:sp>
      <p:pic>
        <p:nvPicPr>
          <p:cNvPr id="17" name="Grafik 16" descr="Ein Bild, das Objektiv, Kameras und Optik, Kreis, optisches Instrument enthält.&#10;&#10;KI-generierte Inhalte können fehlerhaft sein.">
            <a:extLst>
              <a:ext uri="{FF2B5EF4-FFF2-40B4-BE49-F238E27FC236}">
                <a16:creationId xmlns:a16="http://schemas.microsoft.com/office/drawing/2014/main" id="{90D3CCA7-530B-813B-A961-40E7A3E95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297" y="1950252"/>
            <a:ext cx="924210" cy="921808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893839E8-3D14-A9A1-7102-6943E5B82FD5}"/>
              </a:ext>
            </a:extLst>
          </p:cNvPr>
          <p:cNvSpPr/>
          <p:nvPr/>
        </p:nvSpPr>
        <p:spPr bwMode="auto">
          <a:xfrm>
            <a:off x="4316412" y="1851040"/>
            <a:ext cx="594095" cy="1009264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9" name="Grafik 18" descr="Ein Bild, das Objektiv, Kameras und Optik, Kreis, optisches Instrument enthält.&#10;&#10;KI-generierte Inhalte können fehlerhaft sein.">
            <a:extLst>
              <a:ext uri="{FF2B5EF4-FFF2-40B4-BE49-F238E27FC236}">
                <a16:creationId xmlns:a16="http://schemas.microsoft.com/office/drawing/2014/main" id="{79E1FDC4-FD4A-F023-D1B8-78DC31CFA8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" r="-25"/>
          <a:stretch>
            <a:fillRect/>
          </a:stretch>
        </p:blipFill>
        <p:spPr>
          <a:xfrm flipH="1">
            <a:off x="5014417" y="1958129"/>
            <a:ext cx="885550" cy="915811"/>
          </a:xfrm>
          <a:prstGeom prst="rect">
            <a:avLst/>
          </a:prstGeom>
        </p:spPr>
      </p:pic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6E1BA00D-CB12-2FAD-7068-A49FD649D966}"/>
              </a:ext>
            </a:extLst>
          </p:cNvPr>
          <p:cNvCxnSpPr/>
          <p:nvPr/>
        </p:nvCxnSpPr>
        <p:spPr bwMode="auto">
          <a:xfrm>
            <a:off x="4977262" y="1952543"/>
            <a:ext cx="2578" cy="931408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Grafik 21" descr="Ein Bild, das Objektiv, Kameras und Optik, Kreis, optisches Instrument enthält.&#10;&#10;KI-generierte Inhalte können fehlerhaft sein.">
            <a:extLst>
              <a:ext uri="{FF2B5EF4-FFF2-40B4-BE49-F238E27FC236}">
                <a16:creationId xmlns:a16="http://schemas.microsoft.com/office/drawing/2014/main" id="{F4833C53-7E7F-3DAE-A194-6FF283983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6105129" y="1982734"/>
            <a:ext cx="944920" cy="912453"/>
          </a:xfrm>
          <a:prstGeom prst="rect">
            <a:avLst/>
          </a:prstGeom>
        </p:spPr>
      </p:pic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64829C41-EF59-0533-F17F-4E173F8AAC4C}"/>
              </a:ext>
            </a:extLst>
          </p:cNvPr>
          <p:cNvCxnSpPr>
            <a:cxnSpLocks/>
          </p:cNvCxnSpPr>
          <p:nvPr/>
        </p:nvCxnSpPr>
        <p:spPr bwMode="auto">
          <a:xfrm flipV="1">
            <a:off x="6168092" y="1992515"/>
            <a:ext cx="914050" cy="7402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C5D4F200-F8DF-2ED2-60EA-B73D09BD9A3E}"/>
              </a:ext>
            </a:extLst>
          </p:cNvPr>
          <p:cNvSpPr/>
          <p:nvPr/>
        </p:nvSpPr>
        <p:spPr bwMode="auto">
          <a:xfrm>
            <a:off x="4939363" y="1428913"/>
            <a:ext cx="996670" cy="455050"/>
          </a:xfrm>
          <a:prstGeom prst="rect">
            <a:avLst/>
          </a:prstGeom>
          <a:solidFill>
            <a:srgbClr val="CCE1F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800" b="1">
                <a:latin typeface="Arial"/>
                <a:cs typeface="Arial"/>
              </a:rPr>
              <a:t>Spiegelung</a:t>
            </a:r>
            <a:endParaRPr lang="de-DE" sz="800" b="1">
              <a:cs typeface="Arial"/>
            </a:endParaRPr>
          </a:p>
          <a:p>
            <a:pPr marL="180975" indent="-180975" algn="ctr"/>
            <a:r>
              <a:rPr lang="de-DE" sz="800" b="1">
                <a:latin typeface="Arial"/>
                <a:cs typeface="Arial"/>
              </a:rPr>
              <a:t>um y-Achse </a:t>
            </a:r>
            <a:endParaRPr lang="de-DE" sz="800" b="1" i="0" u="none" strike="noStrike" cap="none" normalizeH="0" baseline="0">
              <a:ln>
                <a:noFill/>
              </a:ln>
              <a:effectLst/>
              <a:latin typeface="Arial" charset="0"/>
              <a:cs typeface="Arial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CFF4A959-1AA1-E52C-497C-0CC6B284C2D5}"/>
              </a:ext>
            </a:extLst>
          </p:cNvPr>
          <p:cNvSpPr/>
          <p:nvPr/>
        </p:nvSpPr>
        <p:spPr bwMode="auto">
          <a:xfrm>
            <a:off x="6113113" y="1422287"/>
            <a:ext cx="924670" cy="455050"/>
          </a:xfrm>
          <a:prstGeom prst="rect">
            <a:avLst/>
          </a:prstGeom>
          <a:solidFill>
            <a:srgbClr val="CCE1F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800" b="1">
                <a:latin typeface="Arial"/>
                <a:cs typeface="Arial"/>
              </a:rPr>
              <a:t>Spiegelung</a:t>
            </a:r>
            <a:endParaRPr lang="de-DE" sz="800" b="1">
              <a:cs typeface="Arial"/>
            </a:endParaRPr>
          </a:p>
          <a:p>
            <a:pPr marL="180975" indent="-180975" algn="ctr"/>
            <a:r>
              <a:rPr lang="de-DE" sz="800" b="1">
                <a:latin typeface="Arial"/>
                <a:cs typeface="Arial"/>
              </a:rPr>
              <a:t>um x-Achse </a:t>
            </a:r>
            <a:endParaRPr lang="de-DE" sz="800" b="1" i="0" u="none" strike="noStrike" cap="none" normalizeH="0" baseline="0">
              <a:ln>
                <a:noFill/>
              </a:ln>
              <a:effectLst/>
              <a:latin typeface="Arial" charset="0"/>
              <a:cs typeface="Arial"/>
            </a:endParaRPr>
          </a:p>
        </p:txBody>
      </p:sp>
      <p:pic>
        <p:nvPicPr>
          <p:cNvPr id="26" name="Grafik 25" descr="Ein Bild, das Objektiv, Kameras und Optik, Kreis, optisches Instrument enthält.&#10;&#10;KI-generierte Inhalte können fehlerhaft sein.">
            <a:extLst>
              <a:ext uri="{FF2B5EF4-FFF2-40B4-BE49-F238E27FC236}">
                <a16:creationId xmlns:a16="http://schemas.microsoft.com/office/drawing/2014/main" id="{C3F39A8E-8AFF-8EED-0D85-CA5C4016C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420000">
            <a:off x="7238348" y="1950487"/>
            <a:ext cx="968400" cy="91440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B6F82702-BEDA-EFF6-F4BD-69B4E9A12E16}"/>
              </a:ext>
            </a:extLst>
          </p:cNvPr>
          <p:cNvCxnSpPr>
            <a:cxnSpLocks/>
          </p:cNvCxnSpPr>
          <p:nvPr/>
        </p:nvCxnSpPr>
        <p:spPr bwMode="auto">
          <a:xfrm flipV="1">
            <a:off x="7295570" y="2403217"/>
            <a:ext cx="912850" cy="7402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23EC7F2-1981-7AF9-7E39-46BFD418528D}"/>
              </a:ext>
            </a:extLst>
          </p:cNvPr>
          <p:cNvCxnSpPr>
            <a:cxnSpLocks/>
          </p:cNvCxnSpPr>
          <p:nvPr/>
        </p:nvCxnSpPr>
        <p:spPr bwMode="auto">
          <a:xfrm>
            <a:off x="7714922" y="1971592"/>
            <a:ext cx="14578" cy="909808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hteck 29">
            <a:extLst>
              <a:ext uri="{FF2B5EF4-FFF2-40B4-BE49-F238E27FC236}">
                <a16:creationId xmlns:a16="http://schemas.microsoft.com/office/drawing/2014/main" id="{40A33D0A-F0D1-0B9E-7516-16B2C44D70B0}"/>
              </a:ext>
            </a:extLst>
          </p:cNvPr>
          <p:cNvSpPr/>
          <p:nvPr/>
        </p:nvSpPr>
        <p:spPr bwMode="auto">
          <a:xfrm>
            <a:off x="7183834" y="1422287"/>
            <a:ext cx="1124021" cy="455050"/>
          </a:xfrm>
          <a:prstGeom prst="rect">
            <a:avLst/>
          </a:prstGeom>
          <a:solidFill>
            <a:srgbClr val="CCE1F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700" b="1">
                <a:latin typeface="Arial"/>
                <a:cs typeface="Arial"/>
              </a:rPr>
              <a:t>Beliebige Rotation</a:t>
            </a:r>
            <a:endParaRPr lang="de-DE" sz="700" b="1">
              <a:cs typeface="Arial"/>
            </a:endParaRPr>
          </a:p>
          <a:p>
            <a:pPr marL="180975" indent="-180975" algn="ctr"/>
            <a:r>
              <a:rPr lang="de-DE" sz="700" b="1">
                <a:latin typeface="Arial"/>
                <a:cs typeface="Arial"/>
              </a:rPr>
              <a:t> um Bildmittelpunkt </a:t>
            </a:r>
            <a:endParaRPr lang="de-DE" sz="700" b="1" i="0" u="none" strike="noStrike" cap="none" normalizeH="0" baseline="0">
              <a:ln>
                <a:noFill/>
              </a:ln>
              <a:effectLst/>
              <a:latin typeface="Arial" charset="0"/>
              <a:cs typeface="Arial"/>
            </a:endParaRPr>
          </a:p>
        </p:txBody>
      </p:sp>
      <p:pic>
        <p:nvPicPr>
          <p:cNvPr id="32" name="Grafik 31" descr="Ein Bild, das Essen, Nachspeise, Pflanze, Blau enthält.&#10;&#10;KI-generierte Inhalte können fehlerhaft sein.">
            <a:extLst>
              <a:ext uri="{FF2B5EF4-FFF2-40B4-BE49-F238E27FC236}">
                <a16:creationId xmlns:a16="http://schemas.microsoft.com/office/drawing/2014/main" id="{BA06CD18-4BA6-1E48-B360-ADDF763F2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316" y="3258399"/>
            <a:ext cx="920318" cy="919397"/>
          </a:xfrm>
          <a:prstGeom prst="rect">
            <a:avLst/>
          </a:prstGeom>
        </p:spPr>
      </p:pic>
      <p:pic>
        <p:nvPicPr>
          <p:cNvPr id="33" name="Grafik 32" descr="Ein Bild, das Essen, Nachspeise, Pflanze, Blau enthält.&#10;&#10;KI-generierte Inhalte können fehlerhaft sein.">
            <a:extLst>
              <a:ext uri="{FF2B5EF4-FFF2-40B4-BE49-F238E27FC236}">
                <a16:creationId xmlns:a16="http://schemas.microsoft.com/office/drawing/2014/main" id="{E868CB27-1E8E-2F9C-8C34-F0973F8CE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998356" y="3278277"/>
            <a:ext cx="916041" cy="919397"/>
          </a:xfrm>
          <a:prstGeom prst="rect">
            <a:avLst/>
          </a:prstGeom>
        </p:spPr>
      </p:pic>
      <p:pic>
        <p:nvPicPr>
          <p:cNvPr id="34" name="Grafik 33" descr="Ein Bild, das Essen, Nachspeise, Pflanze, Blau enthält.&#10;&#10;KI-generierte Inhalte können fehlerhaft sein.">
            <a:extLst>
              <a:ext uri="{FF2B5EF4-FFF2-40B4-BE49-F238E27FC236}">
                <a16:creationId xmlns:a16="http://schemas.microsoft.com/office/drawing/2014/main" id="{6DB32C69-015B-0B20-DFF6-486F9B3E6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088966" y="3289654"/>
            <a:ext cx="950318" cy="913392"/>
          </a:xfrm>
          <a:prstGeom prst="rect">
            <a:avLst/>
          </a:prstGeom>
        </p:spPr>
      </p:pic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1DD0EA06-6FCA-F633-B86E-AEC1269D7EE5}"/>
              </a:ext>
            </a:extLst>
          </p:cNvPr>
          <p:cNvCxnSpPr>
            <a:cxnSpLocks/>
          </p:cNvCxnSpPr>
          <p:nvPr/>
        </p:nvCxnSpPr>
        <p:spPr bwMode="auto">
          <a:xfrm>
            <a:off x="6071281" y="3293322"/>
            <a:ext cx="989650" cy="10598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5" name="Grafik 44" descr="Ein Bild, das Essen, Nachspeise, Pflanze, Blau enthält.&#10;&#10;KI-generierte Inhalte können fehlerhaft sein.">
            <a:extLst>
              <a:ext uri="{FF2B5EF4-FFF2-40B4-BE49-F238E27FC236}">
                <a16:creationId xmlns:a16="http://schemas.microsoft.com/office/drawing/2014/main" id="{B7035D2B-FD7C-CA24-CB22-96EA0EF6F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80000">
            <a:off x="7253940" y="3273772"/>
            <a:ext cx="944400" cy="914399"/>
          </a:xfrm>
          <a:prstGeom prst="rect">
            <a:avLst/>
          </a:prstGeom>
        </p:spPr>
      </p:pic>
      <p:sp>
        <p:nvSpPr>
          <p:cNvPr id="49" name="Rechteck 48">
            <a:extLst>
              <a:ext uri="{FF2B5EF4-FFF2-40B4-BE49-F238E27FC236}">
                <a16:creationId xmlns:a16="http://schemas.microsoft.com/office/drawing/2014/main" id="{7E715A05-AE24-60CB-20BB-92D9A9C318B9}"/>
              </a:ext>
            </a:extLst>
          </p:cNvPr>
          <p:cNvSpPr/>
          <p:nvPr/>
        </p:nvSpPr>
        <p:spPr bwMode="auto">
          <a:xfrm>
            <a:off x="3302596" y="1409035"/>
            <a:ext cx="924670" cy="44905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800" b="1">
                <a:latin typeface="Arial"/>
                <a:cs typeface="Arial"/>
              </a:rPr>
              <a:t>Ausgangs-</a:t>
            </a:r>
            <a:endParaRPr lang="de-DE" sz="800" b="1">
              <a:cs typeface="Arial" charset="0"/>
            </a:endParaRPr>
          </a:p>
          <a:p>
            <a:pPr marL="180975" indent="-180975" algn="ctr"/>
            <a:r>
              <a:rPr lang="de-DE" sz="800" b="1">
                <a:latin typeface="Arial"/>
                <a:cs typeface="Arial"/>
              </a:rPr>
              <a:t>Bild ("</a:t>
            </a:r>
            <a:r>
              <a:rPr lang="de-DE" sz="800" b="1" err="1">
                <a:latin typeface="Arial"/>
                <a:cs typeface="Arial"/>
              </a:rPr>
              <a:t>defect</a:t>
            </a:r>
            <a:r>
              <a:rPr lang="de-DE" sz="800" b="1">
                <a:latin typeface="Arial"/>
                <a:cs typeface="Arial"/>
              </a:rPr>
              <a:t>")</a:t>
            </a:r>
            <a:endParaRPr lang="de-DE" sz="900" b="1" err="1">
              <a:cs typeface="Arial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F6A964D-3865-C0B6-0698-46EC4EE84C5C}"/>
              </a:ext>
            </a:extLst>
          </p:cNvPr>
          <p:cNvSpPr/>
          <p:nvPr/>
        </p:nvSpPr>
        <p:spPr bwMode="auto">
          <a:xfrm>
            <a:off x="7251003" y="1965398"/>
            <a:ext cx="950400" cy="90840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/>
            </a:endParaRPr>
          </a:p>
        </p:txBody>
      </p:sp>
      <p:pic>
        <p:nvPicPr>
          <p:cNvPr id="3" name="Grafik 2" descr="Ein Bild, das Kreis, Objektiv enthält.&#10;&#10;KI-generierte Inhalte können fehlerhaft sein.">
            <a:extLst>
              <a:ext uri="{FF2B5EF4-FFF2-40B4-BE49-F238E27FC236}">
                <a16:creationId xmlns:a16="http://schemas.microsoft.com/office/drawing/2014/main" id="{A5B6ACDB-A18C-692A-6A3B-5E7A35A2A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298" y="1922224"/>
            <a:ext cx="914400" cy="9120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25CB9F9-27D2-945F-DD8B-DC5C58849B24}"/>
              </a:ext>
            </a:extLst>
          </p:cNvPr>
          <p:cNvSpPr/>
          <p:nvPr/>
        </p:nvSpPr>
        <p:spPr bwMode="auto">
          <a:xfrm>
            <a:off x="4996367" y="4318446"/>
            <a:ext cx="914588" cy="361555"/>
          </a:xfrm>
          <a:prstGeom prst="rect">
            <a:avLst/>
          </a:prstGeom>
          <a:solidFill>
            <a:srgbClr val="CCE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600">
                <a:highlight>
                  <a:srgbClr val="FFFF00"/>
                </a:highlight>
                <a:latin typeface="Arial"/>
                <a:cs typeface="Arial"/>
              </a:rPr>
              <a:t>führt zu vertauschten Leiterfarben</a:t>
            </a:r>
          </a:p>
        </p:txBody>
      </p:sp>
      <p:sp>
        <p:nvSpPr>
          <p:cNvPr id="41" name="Gewitterblitz 40">
            <a:extLst>
              <a:ext uri="{FF2B5EF4-FFF2-40B4-BE49-F238E27FC236}">
                <a16:creationId xmlns:a16="http://schemas.microsoft.com/office/drawing/2014/main" id="{1F240F6D-A5D2-AC72-C5A9-7597F59C0F14}"/>
              </a:ext>
            </a:extLst>
          </p:cNvPr>
          <p:cNvSpPr/>
          <p:nvPr/>
        </p:nvSpPr>
        <p:spPr bwMode="auto">
          <a:xfrm>
            <a:off x="4996967" y="3093811"/>
            <a:ext cx="296400" cy="368400"/>
          </a:xfrm>
          <a:prstGeom prst="lightningBol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EBC2B15-3808-36F0-A57E-3BF0F1964950}"/>
              </a:ext>
            </a:extLst>
          </p:cNvPr>
          <p:cNvSpPr/>
          <p:nvPr/>
        </p:nvSpPr>
        <p:spPr bwMode="auto">
          <a:xfrm>
            <a:off x="6093444" y="5875410"/>
            <a:ext cx="902588" cy="343555"/>
          </a:xfrm>
          <a:prstGeom prst="rect">
            <a:avLst/>
          </a:prstGeom>
          <a:solidFill>
            <a:srgbClr val="CCE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indent="-180975"/>
            <a:r>
              <a:rPr lang="de-DE" sz="600">
                <a:highlight>
                  <a:srgbClr val="FFFF00"/>
                </a:highlight>
                <a:latin typeface="Arial"/>
                <a:cs typeface="Arial"/>
              </a:rPr>
              <a:t>führt zu vertauschter Kontaktposition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94A87E4-D92C-E7B7-2BA3-B4C2DC953BCD}"/>
              </a:ext>
            </a:extLst>
          </p:cNvPr>
          <p:cNvCxnSpPr/>
          <p:nvPr/>
        </p:nvCxnSpPr>
        <p:spPr bwMode="auto">
          <a:xfrm flipH="1" flipV="1">
            <a:off x="3536139" y="3901073"/>
            <a:ext cx="329165" cy="407634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85AAFEE-5D47-A2B9-2373-3FBBA8436AD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826799" y="3733125"/>
            <a:ext cx="17635" cy="565460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7EF45F2-D7D5-629E-A243-B1A8AC345087}"/>
              </a:ext>
            </a:extLst>
          </p:cNvPr>
          <p:cNvCxnSpPr>
            <a:cxnSpLocks/>
          </p:cNvCxnSpPr>
          <p:nvPr/>
        </p:nvCxnSpPr>
        <p:spPr bwMode="auto">
          <a:xfrm flipV="1">
            <a:off x="3855443" y="3957211"/>
            <a:ext cx="107634" cy="340122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A0E2AA49-AA33-0ED4-16D4-ED58F6A5C34D}"/>
              </a:ext>
            </a:extLst>
          </p:cNvPr>
          <p:cNvSpPr txBox="1"/>
          <p:nvPr/>
        </p:nvSpPr>
        <p:spPr bwMode="auto">
          <a:xfrm>
            <a:off x="3372551" y="4325929"/>
            <a:ext cx="9825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600" kern="0">
                <a:latin typeface="Arial"/>
                <a:cs typeface="Arial"/>
              </a:rPr>
              <a:t>Außen-, Neutral- und Schutzleiter im Datenset (</a:t>
            </a:r>
            <a:r>
              <a:rPr lang="de-DE" sz="600" kern="0" err="1">
                <a:latin typeface="Arial"/>
                <a:cs typeface="Arial"/>
              </a:rPr>
              <a:t>good</a:t>
            </a:r>
            <a:r>
              <a:rPr lang="de-DE" sz="600" kern="0">
                <a:latin typeface="Arial"/>
                <a:cs typeface="Arial"/>
              </a:rPr>
              <a:t>) immer an gleicher Position</a:t>
            </a:r>
            <a:endParaRPr lang="de-DE" sz="600" kern="0">
              <a:cs typeface="Arial"/>
            </a:endParaRP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90B783B9-63B4-43FC-87D9-4351985B4547}"/>
              </a:ext>
            </a:extLst>
          </p:cNvPr>
          <p:cNvCxnSpPr>
            <a:cxnSpLocks/>
          </p:cNvCxnSpPr>
          <p:nvPr/>
        </p:nvCxnSpPr>
        <p:spPr bwMode="auto">
          <a:xfrm>
            <a:off x="4983262" y="3278543"/>
            <a:ext cx="2578" cy="931408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7FDCB388-8619-72D2-B1A1-BF976B36214C}"/>
              </a:ext>
            </a:extLst>
          </p:cNvPr>
          <p:cNvSpPr/>
          <p:nvPr/>
        </p:nvSpPr>
        <p:spPr bwMode="auto">
          <a:xfrm>
            <a:off x="6090818" y="4323819"/>
            <a:ext cx="974588" cy="373555"/>
          </a:xfrm>
          <a:prstGeom prst="rect">
            <a:avLst/>
          </a:prstGeom>
          <a:solidFill>
            <a:srgbClr val="CCE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600">
                <a:highlight>
                  <a:srgbClr val="FFFF00"/>
                </a:highlight>
                <a:latin typeface="Arial"/>
                <a:cs typeface="Arial"/>
              </a:rPr>
              <a:t> führt zu vertauschten Leiterfarben</a:t>
            </a:r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9F854E79-7FB4-79F7-2FBD-CB13B618BFBD}"/>
              </a:ext>
            </a:extLst>
          </p:cNvPr>
          <p:cNvCxnSpPr>
            <a:cxnSpLocks/>
          </p:cNvCxnSpPr>
          <p:nvPr/>
        </p:nvCxnSpPr>
        <p:spPr bwMode="auto">
          <a:xfrm flipV="1">
            <a:off x="7295569" y="3735216"/>
            <a:ext cx="912850" cy="7402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CE7BC9F3-2008-708C-092A-36F259DA4996}"/>
              </a:ext>
            </a:extLst>
          </p:cNvPr>
          <p:cNvCxnSpPr>
            <a:cxnSpLocks/>
          </p:cNvCxnSpPr>
          <p:nvPr/>
        </p:nvCxnSpPr>
        <p:spPr bwMode="auto">
          <a:xfrm>
            <a:off x="7714921" y="3303591"/>
            <a:ext cx="14578" cy="909808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Rechteck 34">
            <a:extLst>
              <a:ext uri="{FF2B5EF4-FFF2-40B4-BE49-F238E27FC236}">
                <a16:creationId xmlns:a16="http://schemas.microsoft.com/office/drawing/2014/main" id="{C5D89314-3A19-09E1-C165-F095DDEC91D5}"/>
              </a:ext>
            </a:extLst>
          </p:cNvPr>
          <p:cNvSpPr/>
          <p:nvPr/>
        </p:nvSpPr>
        <p:spPr bwMode="auto">
          <a:xfrm>
            <a:off x="7257002" y="3297398"/>
            <a:ext cx="950400" cy="90840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/>
            </a:endParaRPr>
          </a:p>
        </p:txBody>
      </p:sp>
      <p:sp>
        <p:nvSpPr>
          <p:cNvPr id="46" name="Pfeil: nach links gekrümmt 45">
            <a:extLst>
              <a:ext uri="{FF2B5EF4-FFF2-40B4-BE49-F238E27FC236}">
                <a16:creationId xmlns:a16="http://schemas.microsoft.com/office/drawing/2014/main" id="{CD730092-36B4-9319-E6F7-A58D390281AC}"/>
              </a:ext>
            </a:extLst>
          </p:cNvPr>
          <p:cNvSpPr/>
          <p:nvPr/>
        </p:nvSpPr>
        <p:spPr bwMode="auto">
          <a:xfrm rot="1200000">
            <a:off x="7771599" y="3395463"/>
            <a:ext cx="539304" cy="941558"/>
          </a:xfrm>
          <a:prstGeom prst="curvedLeftArrow">
            <a:avLst/>
          </a:prstGeom>
          <a:solidFill>
            <a:srgbClr val="CCE1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23BCE04D-FC57-A977-D3DB-DD56994208D9}"/>
              </a:ext>
            </a:extLst>
          </p:cNvPr>
          <p:cNvSpPr/>
          <p:nvPr/>
        </p:nvSpPr>
        <p:spPr bwMode="auto">
          <a:xfrm>
            <a:off x="7297834" y="4338390"/>
            <a:ext cx="914021" cy="365050"/>
          </a:xfrm>
          <a:prstGeom prst="rect">
            <a:avLst/>
          </a:prstGeom>
          <a:solidFill>
            <a:srgbClr val="CCE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600">
                <a:highlight>
                  <a:srgbClr val="FFFF00"/>
                </a:highlight>
                <a:latin typeface="Arial"/>
                <a:cs typeface="Arial"/>
              </a:rPr>
              <a:t>führt zu Interpolation / Padding</a:t>
            </a:r>
            <a:endParaRPr lang="de-DE" sz="600" b="0" i="0" u="none" strike="noStrike" cap="none" normalizeH="0" baseline="0">
              <a:ln>
                <a:noFill/>
              </a:ln>
              <a:effectLst/>
              <a:highlight>
                <a:srgbClr val="FFFF00"/>
              </a:highlight>
              <a:latin typeface="Arial" charset="0"/>
              <a:cs typeface="Arial"/>
            </a:endParaRPr>
          </a:p>
        </p:txBody>
      </p:sp>
      <p:sp>
        <p:nvSpPr>
          <p:cNvPr id="52" name="Pfeil: nach rechts 51">
            <a:extLst>
              <a:ext uri="{FF2B5EF4-FFF2-40B4-BE49-F238E27FC236}">
                <a16:creationId xmlns:a16="http://schemas.microsoft.com/office/drawing/2014/main" id="{4058E80C-591D-66A5-FEF1-704DFEF31CB9}"/>
              </a:ext>
            </a:extLst>
          </p:cNvPr>
          <p:cNvSpPr/>
          <p:nvPr/>
        </p:nvSpPr>
        <p:spPr bwMode="auto">
          <a:xfrm>
            <a:off x="4322410" y="3213040"/>
            <a:ext cx="594095" cy="1009264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6" name="Pfeil: nach rechts 55">
            <a:extLst>
              <a:ext uri="{FF2B5EF4-FFF2-40B4-BE49-F238E27FC236}">
                <a16:creationId xmlns:a16="http://schemas.microsoft.com/office/drawing/2014/main" id="{2E63F0DD-34F9-AE2E-8E0A-158295AF6FAA}"/>
              </a:ext>
            </a:extLst>
          </p:cNvPr>
          <p:cNvSpPr/>
          <p:nvPr/>
        </p:nvSpPr>
        <p:spPr bwMode="auto">
          <a:xfrm>
            <a:off x="4322410" y="4908536"/>
            <a:ext cx="594095" cy="1009264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58" name="Grafik 57" descr="Ein Bild, das Gebäude, Röhre enthält.&#10;&#10;KI-generierte Inhalte können fehlerhaft sein.">
            <a:extLst>
              <a:ext uri="{FF2B5EF4-FFF2-40B4-BE49-F238E27FC236}">
                <a16:creationId xmlns:a16="http://schemas.microsoft.com/office/drawing/2014/main" id="{6FB5EC7F-3101-4C1B-1252-8A38E10B1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00000">
            <a:off x="7274559" y="4928280"/>
            <a:ext cx="914400" cy="900000"/>
          </a:xfrm>
          <a:prstGeom prst="rect">
            <a:avLst/>
          </a:prstGeom>
        </p:spPr>
      </p:pic>
      <p:sp>
        <p:nvSpPr>
          <p:cNvPr id="72" name="Rechteck 71">
            <a:extLst>
              <a:ext uri="{FF2B5EF4-FFF2-40B4-BE49-F238E27FC236}">
                <a16:creationId xmlns:a16="http://schemas.microsoft.com/office/drawing/2014/main" id="{B673F9C7-614E-9123-A6B6-80D0D895DD98}"/>
              </a:ext>
            </a:extLst>
          </p:cNvPr>
          <p:cNvSpPr/>
          <p:nvPr/>
        </p:nvSpPr>
        <p:spPr bwMode="auto">
          <a:xfrm>
            <a:off x="2787578" y="7702793"/>
            <a:ext cx="1662670" cy="221050"/>
          </a:xfrm>
          <a:prstGeom prst="rect">
            <a:avLst/>
          </a:prstGeom>
          <a:solidFill>
            <a:srgbClr val="CCE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900">
                <a:latin typeface="Arial"/>
                <a:cs typeface="Arial"/>
              </a:rPr>
              <a:t>Spiegelung um y-Achse </a:t>
            </a:r>
            <a:endParaRPr lang="de-DE" sz="900" b="0" i="0" u="none" strike="noStrike" cap="none" normalizeH="0" baseline="0">
              <a:ln>
                <a:noFill/>
              </a:ln>
              <a:effectLst/>
              <a:latin typeface="Arial" charset="0"/>
              <a:cs typeface="Arial"/>
            </a:endParaRP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0FE29BFE-AF62-4618-4C57-180DA9054E4D}"/>
              </a:ext>
            </a:extLst>
          </p:cNvPr>
          <p:cNvSpPr/>
          <p:nvPr/>
        </p:nvSpPr>
        <p:spPr bwMode="auto">
          <a:xfrm>
            <a:off x="4702875" y="7702793"/>
            <a:ext cx="1662670" cy="221050"/>
          </a:xfrm>
          <a:prstGeom prst="rect">
            <a:avLst/>
          </a:prstGeom>
          <a:solidFill>
            <a:srgbClr val="CCE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900">
                <a:latin typeface="Arial"/>
                <a:cs typeface="Arial"/>
              </a:rPr>
              <a:t>Spiegelung um x-Achse </a:t>
            </a:r>
            <a:endParaRPr lang="de-DE" sz="900" b="0" i="0" u="none" strike="noStrike" cap="none" normalizeH="0" baseline="0">
              <a:ln>
                <a:noFill/>
              </a:ln>
              <a:effectLst/>
              <a:latin typeface="Arial" charset="0"/>
              <a:cs typeface="Arial"/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28EC0708-3EF1-7D39-FFC9-4BECC2A2BC11}"/>
              </a:ext>
            </a:extLst>
          </p:cNvPr>
          <p:cNvSpPr/>
          <p:nvPr/>
        </p:nvSpPr>
        <p:spPr bwMode="auto">
          <a:xfrm>
            <a:off x="6645632" y="7702793"/>
            <a:ext cx="2102021" cy="221050"/>
          </a:xfrm>
          <a:prstGeom prst="rect">
            <a:avLst/>
          </a:prstGeom>
          <a:solidFill>
            <a:srgbClr val="CCE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900">
                <a:latin typeface="Arial"/>
                <a:cs typeface="Arial"/>
              </a:rPr>
              <a:t>Beliebige Rotation um Bildmittelpunkt </a:t>
            </a:r>
            <a:endParaRPr lang="de-DE" sz="900" b="0" i="0" u="none" strike="noStrike" cap="none" normalizeH="0" baseline="0">
              <a:ln>
                <a:noFill/>
              </a:ln>
              <a:effectLst/>
              <a:latin typeface="Arial" charset="0"/>
              <a:cs typeface="Arial"/>
            </a:endParaRPr>
          </a:p>
        </p:txBody>
      </p:sp>
      <p:pic>
        <p:nvPicPr>
          <p:cNvPr id="78" name="Grafik 77" descr="Ein Bild, das Gebäude, Röhre enthält.&#10;&#10;KI-generierte Inhalte können fehlerhaft sein.">
            <a:extLst>
              <a:ext uri="{FF2B5EF4-FFF2-40B4-BE49-F238E27FC236}">
                <a16:creationId xmlns:a16="http://schemas.microsoft.com/office/drawing/2014/main" id="{DBA23A33-C840-15FF-E33A-D3E200DC6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586" y="4923842"/>
            <a:ext cx="926399" cy="914400"/>
          </a:xfrm>
          <a:prstGeom prst="rect">
            <a:avLst/>
          </a:prstGeom>
        </p:spPr>
      </p:pic>
      <p:pic>
        <p:nvPicPr>
          <p:cNvPr id="80" name="Grafik 79" descr="Ein Bild, das Gebäude, Röhre enthält.&#10;&#10;KI-generierte Inhalte können fehlerhaft sein.">
            <a:extLst>
              <a:ext uri="{FF2B5EF4-FFF2-40B4-BE49-F238E27FC236}">
                <a16:creationId xmlns:a16="http://schemas.microsoft.com/office/drawing/2014/main" id="{3548F105-799D-0066-EAA5-A7DD6F6592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4981631" y="4919720"/>
            <a:ext cx="914400" cy="937201"/>
          </a:xfrm>
          <a:prstGeom prst="rect">
            <a:avLst/>
          </a:prstGeom>
        </p:spPr>
      </p:pic>
      <p:pic>
        <p:nvPicPr>
          <p:cNvPr id="82" name="Grafik 81" descr="Ein Bild, das Gebäude, Röhre enthält.&#10;&#10;KI-generierte Inhalte können fehlerhaft sein.">
            <a:extLst>
              <a:ext uri="{FF2B5EF4-FFF2-40B4-BE49-F238E27FC236}">
                <a16:creationId xmlns:a16="http://schemas.microsoft.com/office/drawing/2014/main" id="{4D9A361B-C6AE-96F7-0597-3BC7CD326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6111238" y="4913094"/>
            <a:ext cx="902400" cy="914400"/>
          </a:xfrm>
          <a:prstGeom prst="rect">
            <a:avLst/>
          </a:prstGeom>
        </p:spPr>
      </p:pic>
      <p:cxnSp>
        <p:nvCxnSpPr>
          <p:cNvPr id="85" name="Gerade Verbindung mit Pfeil 84">
            <a:extLst>
              <a:ext uri="{FF2B5EF4-FFF2-40B4-BE49-F238E27FC236}">
                <a16:creationId xmlns:a16="http://schemas.microsoft.com/office/drawing/2014/main" id="{7885DB0C-DA5A-48D6-0BDF-69F4BB827161}"/>
              </a:ext>
            </a:extLst>
          </p:cNvPr>
          <p:cNvCxnSpPr>
            <a:cxnSpLocks/>
          </p:cNvCxnSpPr>
          <p:nvPr/>
        </p:nvCxnSpPr>
        <p:spPr bwMode="auto">
          <a:xfrm>
            <a:off x="4983262" y="4920039"/>
            <a:ext cx="2578" cy="931408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Gewitterblitz 85">
            <a:extLst>
              <a:ext uri="{FF2B5EF4-FFF2-40B4-BE49-F238E27FC236}">
                <a16:creationId xmlns:a16="http://schemas.microsoft.com/office/drawing/2014/main" id="{6FD054FF-A829-D04C-909D-9A8D3D84DA33}"/>
              </a:ext>
            </a:extLst>
          </p:cNvPr>
          <p:cNvSpPr/>
          <p:nvPr/>
        </p:nvSpPr>
        <p:spPr bwMode="auto">
          <a:xfrm>
            <a:off x="7145383" y="3147185"/>
            <a:ext cx="296400" cy="368400"/>
          </a:xfrm>
          <a:prstGeom prst="lightningBol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7" name="Gewitterblitz 86">
            <a:extLst>
              <a:ext uri="{FF2B5EF4-FFF2-40B4-BE49-F238E27FC236}">
                <a16:creationId xmlns:a16="http://schemas.microsoft.com/office/drawing/2014/main" id="{12583D3D-AB32-223F-51F1-26E09E41E22D}"/>
              </a:ext>
            </a:extLst>
          </p:cNvPr>
          <p:cNvSpPr/>
          <p:nvPr/>
        </p:nvSpPr>
        <p:spPr bwMode="auto">
          <a:xfrm>
            <a:off x="7157383" y="1803185"/>
            <a:ext cx="296400" cy="368400"/>
          </a:xfrm>
          <a:prstGeom prst="lightningBol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29DFA9B3-2FA0-E187-A797-DA7CB5690670}"/>
              </a:ext>
            </a:extLst>
          </p:cNvPr>
          <p:cNvCxnSpPr>
            <a:cxnSpLocks/>
          </p:cNvCxnSpPr>
          <p:nvPr/>
        </p:nvCxnSpPr>
        <p:spPr bwMode="auto">
          <a:xfrm>
            <a:off x="6089281" y="4898818"/>
            <a:ext cx="989650" cy="10598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90815501-78F1-62E8-075D-A6E8BBF44F52}"/>
              </a:ext>
            </a:extLst>
          </p:cNvPr>
          <p:cNvCxnSpPr/>
          <p:nvPr/>
        </p:nvCxnSpPr>
        <p:spPr bwMode="auto">
          <a:xfrm flipV="1">
            <a:off x="3311821" y="3096164"/>
            <a:ext cx="9141496" cy="104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23C13165-7F13-1EA3-129D-B2B20E0CD6B3}"/>
              </a:ext>
            </a:extLst>
          </p:cNvPr>
          <p:cNvCxnSpPr>
            <a:cxnSpLocks/>
          </p:cNvCxnSpPr>
          <p:nvPr/>
        </p:nvCxnSpPr>
        <p:spPr bwMode="auto">
          <a:xfrm flipV="1">
            <a:off x="3311455" y="4776530"/>
            <a:ext cx="9141496" cy="102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1" name="Gewitterblitz 90">
            <a:extLst>
              <a:ext uri="{FF2B5EF4-FFF2-40B4-BE49-F238E27FC236}">
                <a16:creationId xmlns:a16="http://schemas.microsoft.com/office/drawing/2014/main" id="{EE9B89B4-455B-669F-3649-FE9B4C2768B2}"/>
              </a:ext>
            </a:extLst>
          </p:cNvPr>
          <p:cNvSpPr/>
          <p:nvPr/>
        </p:nvSpPr>
        <p:spPr bwMode="auto">
          <a:xfrm>
            <a:off x="5965418" y="3117185"/>
            <a:ext cx="296400" cy="368400"/>
          </a:xfrm>
          <a:prstGeom prst="lightningBol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533344DB-1D74-AEF1-3996-8386BD645DE4}"/>
              </a:ext>
            </a:extLst>
          </p:cNvPr>
          <p:cNvSpPr/>
          <p:nvPr/>
        </p:nvSpPr>
        <p:spPr bwMode="auto">
          <a:xfrm>
            <a:off x="7263001" y="4920894"/>
            <a:ext cx="950400" cy="90840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/>
            </a:endParaRPr>
          </a:p>
        </p:txBody>
      </p: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CC993E63-0C7B-D43C-525B-38FC7DCAB02A}"/>
              </a:ext>
            </a:extLst>
          </p:cNvPr>
          <p:cNvCxnSpPr>
            <a:cxnSpLocks/>
          </p:cNvCxnSpPr>
          <p:nvPr/>
        </p:nvCxnSpPr>
        <p:spPr bwMode="auto">
          <a:xfrm flipV="1">
            <a:off x="7313569" y="5376712"/>
            <a:ext cx="912850" cy="7402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C909AB14-7D88-8084-5B67-36F1809063F7}"/>
              </a:ext>
            </a:extLst>
          </p:cNvPr>
          <p:cNvCxnSpPr>
            <a:cxnSpLocks/>
          </p:cNvCxnSpPr>
          <p:nvPr/>
        </p:nvCxnSpPr>
        <p:spPr bwMode="auto">
          <a:xfrm>
            <a:off x="7732922" y="4945087"/>
            <a:ext cx="14578" cy="909808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5" name="Pfeil: nach links gekrümmt 94">
            <a:extLst>
              <a:ext uri="{FF2B5EF4-FFF2-40B4-BE49-F238E27FC236}">
                <a16:creationId xmlns:a16="http://schemas.microsoft.com/office/drawing/2014/main" id="{E4A830ED-8A90-ED6D-7830-28BFE8F34B91}"/>
              </a:ext>
            </a:extLst>
          </p:cNvPr>
          <p:cNvSpPr/>
          <p:nvPr/>
        </p:nvSpPr>
        <p:spPr bwMode="auto">
          <a:xfrm rot="1200000">
            <a:off x="7693598" y="5036959"/>
            <a:ext cx="539304" cy="941558"/>
          </a:xfrm>
          <a:prstGeom prst="curvedLeftArrow">
            <a:avLst/>
          </a:prstGeom>
          <a:solidFill>
            <a:srgbClr val="CCE1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129DB4C4-699D-45F3-793F-29775E104C4C}"/>
              </a:ext>
            </a:extLst>
          </p:cNvPr>
          <p:cNvSpPr/>
          <p:nvPr/>
        </p:nvSpPr>
        <p:spPr bwMode="auto">
          <a:xfrm>
            <a:off x="7273408" y="5875409"/>
            <a:ext cx="902588" cy="343555"/>
          </a:xfrm>
          <a:prstGeom prst="rect">
            <a:avLst/>
          </a:prstGeom>
          <a:solidFill>
            <a:srgbClr val="CCE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indent="-180975"/>
            <a:r>
              <a:rPr lang="de-DE" sz="600">
                <a:highlight>
                  <a:srgbClr val="FFFF00"/>
                </a:highlight>
                <a:latin typeface="Arial"/>
                <a:cs typeface="Arial"/>
              </a:rPr>
              <a:t>führt zu verdrehtem Hintergrund + Interpolation</a:t>
            </a:r>
          </a:p>
        </p:txBody>
      </p:sp>
      <p:graphicFrame>
        <p:nvGraphicFramePr>
          <p:cNvPr id="98" name="Tabelle 97">
            <a:extLst>
              <a:ext uri="{FF2B5EF4-FFF2-40B4-BE49-F238E27FC236}">
                <a16:creationId xmlns:a16="http://schemas.microsoft.com/office/drawing/2014/main" id="{0AD09C4F-B8E4-D88A-C38F-DA8542D6E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620083"/>
              </p:ext>
            </p:extLst>
          </p:nvPr>
        </p:nvGraphicFramePr>
        <p:xfrm>
          <a:off x="12270000" y="2766000"/>
          <a:ext cx="4947133" cy="3566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06734">
                  <a:extLst>
                    <a:ext uri="{9D8B030D-6E8A-4147-A177-3AD203B41FA5}">
                      <a16:colId xmlns:a16="http://schemas.microsoft.com/office/drawing/2014/main" val="437223175"/>
                    </a:ext>
                  </a:extLst>
                </a:gridCol>
                <a:gridCol w="706734">
                  <a:extLst>
                    <a:ext uri="{9D8B030D-6E8A-4147-A177-3AD203B41FA5}">
                      <a16:colId xmlns:a16="http://schemas.microsoft.com/office/drawing/2014/main" val="4288515915"/>
                    </a:ext>
                  </a:extLst>
                </a:gridCol>
                <a:gridCol w="706734">
                  <a:extLst>
                    <a:ext uri="{9D8B030D-6E8A-4147-A177-3AD203B41FA5}">
                      <a16:colId xmlns:a16="http://schemas.microsoft.com/office/drawing/2014/main" val="2055778284"/>
                    </a:ext>
                  </a:extLst>
                </a:gridCol>
                <a:gridCol w="706734">
                  <a:extLst>
                    <a:ext uri="{9D8B030D-6E8A-4147-A177-3AD203B41FA5}">
                      <a16:colId xmlns:a16="http://schemas.microsoft.com/office/drawing/2014/main" val="1809180432"/>
                    </a:ext>
                  </a:extLst>
                </a:gridCol>
                <a:gridCol w="502311">
                  <a:extLst>
                    <a:ext uri="{9D8B030D-6E8A-4147-A177-3AD203B41FA5}">
                      <a16:colId xmlns:a16="http://schemas.microsoft.com/office/drawing/2014/main" val="3259815540"/>
                    </a:ext>
                  </a:extLst>
                </a:gridCol>
                <a:gridCol w="747628">
                  <a:extLst>
                    <a:ext uri="{9D8B030D-6E8A-4147-A177-3AD203B41FA5}">
                      <a16:colId xmlns:a16="http://schemas.microsoft.com/office/drawing/2014/main" val="229630597"/>
                    </a:ext>
                  </a:extLst>
                </a:gridCol>
                <a:gridCol w="870258">
                  <a:extLst>
                    <a:ext uri="{9D8B030D-6E8A-4147-A177-3AD203B41FA5}">
                      <a16:colId xmlns:a16="http://schemas.microsoft.com/office/drawing/2014/main" val="3455107665"/>
                    </a:ext>
                  </a:extLst>
                </a:gridCol>
              </a:tblGrid>
              <a:tr h="139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>
                          <a:effectLst/>
                        </a:rPr>
                        <a:t>Produkt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>
                          <a:effectLst/>
                        </a:rPr>
                        <a:t>Horizontal Flip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Vertical</a:t>
                      </a:r>
                      <a:r>
                        <a:rPr lang="de-DE" sz="600" b="1">
                          <a:effectLst/>
                        </a:rPr>
                        <a:t> Flip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Rotate</a:t>
                      </a:r>
                      <a:r>
                        <a:rPr lang="de-DE" sz="600" b="1">
                          <a:effectLst/>
                        </a:rPr>
                        <a:t> (</a:t>
                      </a:r>
                      <a:r>
                        <a:rPr lang="de-DE" sz="600" b="1" err="1">
                          <a:effectLst/>
                        </a:rPr>
                        <a:t>small</a:t>
                      </a:r>
                      <a:r>
                        <a:rPr lang="de-DE" sz="600" b="1">
                          <a:effectLst/>
                        </a:rPr>
                        <a:t> </a:t>
                      </a:r>
                      <a:r>
                        <a:rPr lang="de-DE" sz="600" b="1" err="1">
                          <a:effectLst/>
                        </a:rPr>
                        <a:t>range</a:t>
                      </a:r>
                      <a:r>
                        <a:rPr lang="de-DE" sz="600" b="1">
                          <a:effectLst/>
                        </a:rPr>
                        <a:t>)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Rotate</a:t>
                      </a:r>
                      <a:r>
                        <a:rPr lang="de-DE" sz="600" b="1">
                          <a:effectLst/>
                        </a:rPr>
                        <a:t> (90°)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Brightness</a:t>
                      </a:r>
                      <a:r>
                        <a:rPr lang="de-DE" sz="600" b="1">
                          <a:effectLst/>
                        </a:rPr>
                        <a:t>/</a:t>
                      </a:r>
                      <a:r>
                        <a:rPr lang="de-DE" sz="600" b="1" err="1">
                          <a:effectLst/>
                        </a:rPr>
                        <a:t>Contrast</a:t>
                      </a:r>
                      <a:r>
                        <a:rPr lang="de-DE" sz="600" b="1">
                          <a:effectLst/>
                        </a:rPr>
                        <a:t> (</a:t>
                      </a:r>
                      <a:r>
                        <a:rPr lang="de-DE" sz="600" b="1" err="1">
                          <a:effectLst/>
                        </a:rPr>
                        <a:t>Jitter</a:t>
                      </a:r>
                      <a:r>
                        <a:rPr lang="de-DE" sz="600" b="1">
                          <a:effectLst/>
                        </a:rPr>
                        <a:t>)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>
                          <a:effectLst/>
                        </a:rPr>
                        <a:t>HSV Shift (Color)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1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600" b="1" err="1">
                          <a:effectLst/>
                        </a:rPr>
                        <a:t>bottle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  <a:endParaRPr lang="de-DE"/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  <a:endParaRPr lang="de-DE"/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600">
                          <a:effectLst/>
                        </a:rPr>
                        <a:t>(-10, +10)</a:t>
                      </a:r>
                      <a:endParaRPr lang="de-DE"/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  <a:endParaRPr lang="de-DE"/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  <a:endParaRPr lang="de-DE"/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  <a:endParaRPr lang="de-DE"/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939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600" b="1" err="1">
                          <a:effectLst/>
                        </a:rPr>
                        <a:t>cable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  <a:endParaRPr lang="de-DE"/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  <a:endParaRPr lang="de-DE"/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600">
                          <a:effectLst/>
                          <a:highlight>
                            <a:srgbClr val="00FF00"/>
                          </a:highlight>
                        </a:rPr>
                        <a:t>(-10, +10)</a:t>
                      </a:r>
                      <a:endParaRPr lang="de-DE"/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  <a:endParaRPr lang="de-DE"/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  <a:endParaRPr lang="de-DE"/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  <a:endParaRPr lang="de-DE"/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148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carpet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  <a:highlight>
                            <a:srgbClr val="00FF00"/>
                          </a:highlight>
                        </a:rPr>
                        <a:t>Ja</a:t>
                      </a:r>
                      <a:r>
                        <a:rPr lang="de-DE" sz="600">
                          <a:effectLst/>
                        </a:rPr>
                        <a:t> (</a:t>
                      </a:r>
                      <a:r>
                        <a:rPr lang="de-DE" sz="600" err="1">
                          <a:effectLst/>
                        </a:rPr>
                        <a:t>one</a:t>
                      </a:r>
                      <a:r>
                        <a:rPr lang="de-DE" sz="600">
                          <a:effectLst/>
                        </a:rPr>
                        <a:t> </a:t>
                      </a:r>
                      <a:r>
                        <a:rPr lang="de-DE" sz="600" err="1">
                          <a:effectLst/>
                        </a:rPr>
                        <a:t>of</a:t>
                      </a:r>
                      <a:r>
                        <a:rPr lang="de-DE" sz="600"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  <a:highlight>
                            <a:srgbClr val="00FF00"/>
                          </a:highlight>
                        </a:rPr>
                        <a:t>Ja</a:t>
                      </a:r>
                      <a:r>
                        <a:rPr lang="de-DE" sz="600">
                          <a:effectLst/>
                        </a:rPr>
                        <a:t> (</a:t>
                      </a:r>
                      <a:r>
                        <a:rPr lang="de-DE" sz="600" err="1">
                          <a:effectLst/>
                        </a:rPr>
                        <a:t>one</a:t>
                      </a:r>
                      <a:r>
                        <a:rPr lang="de-DE" sz="600">
                          <a:effectLst/>
                        </a:rPr>
                        <a:t> </a:t>
                      </a:r>
                      <a:r>
                        <a:rPr lang="de-DE" sz="600" err="1">
                          <a:effectLst/>
                        </a:rPr>
                        <a:t>of</a:t>
                      </a:r>
                      <a:r>
                        <a:rPr lang="de-DE" sz="600"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358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tile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600" b="0" i="0" u="none" strike="noStrike" noProof="0">
                          <a:effectLst/>
                          <a:highlight>
                            <a:srgbClr val="00FF00"/>
                          </a:highlight>
                          <a:latin typeface="Arial"/>
                        </a:rPr>
                        <a:t>Ja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600" b="0" i="0" u="none" strike="noStrike" noProof="0">
                          <a:effectLst/>
                          <a:latin typeface="Arial"/>
                        </a:rPr>
                        <a:t>(</a:t>
                      </a:r>
                      <a:r>
                        <a:rPr lang="de-DE" sz="600" b="0" i="0" u="none" strike="noStrike" noProof="0" err="1">
                          <a:effectLst/>
                          <a:latin typeface="Arial"/>
                        </a:rPr>
                        <a:t>one</a:t>
                      </a:r>
                      <a:r>
                        <a:rPr lang="de-DE" sz="600" b="0" i="0" u="none" strike="noStrike" noProof="0">
                          <a:effectLst/>
                          <a:latin typeface="Arial"/>
                        </a:rPr>
                        <a:t> </a:t>
                      </a:r>
                      <a:r>
                        <a:rPr lang="de-DE" sz="600" b="0" i="0" u="none" strike="noStrike" noProof="0" err="1">
                          <a:effectLst/>
                          <a:latin typeface="Arial"/>
                        </a:rPr>
                        <a:t>of</a:t>
                      </a:r>
                      <a:r>
                        <a:rPr lang="de-DE" sz="600" b="0" i="0" u="none" strike="noStrike" noProof="0">
                          <a:effectLst/>
                          <a:latin typeface="Arial"/>
                        </a:rPr>
                        <a:t>)</a:t>
                      </a:r>
                      <a:endParaRPr lang="de-DE" sz="1000"/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584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leather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600" b="0" i="0" u="none" strike="noStrike" noProof="0">
                          <a:effectLst/>
                          <a:highlight>
                            <a:srgbClr val="00FF00"/>
                          </a:highlight>
                          <a:latin typeface="Arial"/>
                        </a:rPr>
                        <a:t>Ja</a:t>
                      </a:r>
                      <a:endParaRPr lang="de-DE" sz="1000">
                        <a:highlight>
                          <a:srgbClr val="00FF00"/>
                        </a:highlight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600" b="0" i="0" u="none" strike="noStrike" noProof="0">
                          <a:effectLst/>
                          <a:latin typeface="Arial"/>
                        </a:rPr>
                        <a:t>(</a:t>
                      </a:r>
                      <a:r>
                        <a:rPr lang="de-DE" sz="600" b="0" i="0" u="none" strike="noStrike" noProof="0" err="1">
                          <a:effectLst/>
                          <a:latin typeface="Arial"/>
                        </a:rPr>
                        <a:t>one</a:t>
                      </a:r>
                      <a:r>
                        <a:rPr lang="de-DE" sz="600" b="0" i="0" u="none" strike="noStrike" noProof="0">
                          <a:effectLst/>
                          <a:latin typeface="Arial"/>
                        </a:rPr>
                        <a:t> </a:t>
                      </a:r>
                      <a:r>
                        <a:rPr lang="de-DE" sz="600" b="0" i="0" u="none" strike="noStrike" noProof="0" err="1">
                          <a:effectLst/>
                          <a:latin typeface="Arial"/>
                        </a:rPr>
                        <a:t>of</a:t>
                      </a:r>
                      <a:r>
                        <a:rPr lang="de-DE" sz="600" b="0" i="0" u="none" strike="noStrike" noProof="0">
                          <a:effectLst/>
                          <a:latin typeface="Arial"/>
                        </a:rPr>
                        <a:t>)</a:t>
                      </a:r>
                      <a:endParaRPr lang="de-DE" sz="1000"/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87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grid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  <a:highlight>
                            <a:srgbClr val="00FF00"/>
                          </a:highlight>
                        </a:rPr>
                        <a:t>Ja </a:t>
                      </a:r>
                      <a:r>
                        <a:rPr lang="de-DE" sz="600">
                          <a:effectLst/>
                        </a:rPr>
                        <a:t>(</a:t>
                      </a:r>
                      <a:r>
                        <a:rPr lang="de-DE" sz="600" err="1">
                          <a:effectLst/>
                        </a:rPr>
                        <a:t>one</a:t>
                      </a:r>
                      <a:r>
                        <a:rPr lang="de-DE" sz="600">
                          <a:effectLst/>
                        </a:rPr>
                        <a:t> </a:t>
                      </a:r>
                      <a:r>
                        <a:rPr lang="de-DE" sz="600" err="1">
                          <a:effectLst/>
                        </a:rPr>
                        <a:t>of</a:t>
                      </a:r>
                      <a:r>
                        <a:rPr lang="de-DE" sz="600"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  <a:highlight>
                            <a:srgbClr val="00FF00"/>
                          </a:highlight>
                        </a:rPr>
                        <a:t>Ja </a:t>
                      </a:r>
                      <a:r>
                        <a:rPr lang="de-DE" sz="600">
                          <a:effectLst/>
                        </a:rPr>
                        <a:t>(</a:t>
                      </a:r>
                      <a:r>
                        <a:rPr lang="de-DE" sz="600" err="1">
                          <a:effectLst/>
                        </a:rPr>
                        <a:t>one</a:t>
                      </a:r>
                      <a:r>
                        <a:rPr lang="de-DE" sz="600">
                          <a:effectLst/>
                        </a:rPr>
                        <a:t> </a:t>
                      </a:r>
                      <a:r>
                        <a:rPr lang="de-DE" sz="600" err="1">
                          <a:effectLst/>
                        </a:rPr>
                        <a:t>of</a:t>
                      </a:r>
                      <a:r>
                        <a:rPr lang="de-DE" sz="600"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376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wood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  <a:highlight>
                            <a:srgbClr val="00FF00"/>
                          </a:highlight>
                        </a:rPr>
                        <a:t>Ja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102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capsule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  <a:highlight>
                            <a:srgbClr val="00FF00"/>
                          </a:highlight>
                        </a:rPr>
                        <a:t>±0.08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Hue: 5, Sat: 8, Val: 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663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cable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  <a:highlight>
                            <a:srgbClr val="00FF00"/>
                          </a:highlight>
                        </a:rPr>
                        <a:t>(-10, +10)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64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pill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  <a:highlight>
                            <a:srgbClr val="00FF00"/>
                          </a:highlight>
                        </a:rPr>
                        <a:t>±0.08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Hue: 5, Sat: 10, Val: 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033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transistor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  <a:highlight>
                            <a:srgbClr val="00FF00"/>
                          </a:highlight>
                        </a:rPr>
                        <a:t>Ja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798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metal</a:t>
                      </a:r>
                      <a:r>
                        <a:rPr lang="de-DE" sz="600" b="1">
                          <a:effectLst/>
                        </a:rPr>
                        <a:t> </a:t>
                      </a:r>
                      <a:r>
                        <a:rPr lang="de-DE" sz="600" b="1" err="1">
                          <a:effectLst/>
                        </a:rPr>
                        <a:t>nut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  <a:highlight>
                            <a:srgbClr val="00FF00"/>
                          </a:highlight>
                        </a:rPr>
                        <a:t>Ja</a:t>
                      </a:r>
                      <a:r>
                        <a:rPr lang="de-DE" sz="600">
                          <a:effectLst/>
                        </a:rPr>
                        <a:t> (</a:t>
                      </a:r>
                      <a:r>
                        <a:rPr lang="de-DE" sz="600" err="1">
                          <a:effectLst/>
                        </a:rPr>
                        <a:t>one</a:t>
                      </a:r>
                      <a:r>
                        <a:rPr lang="de-DE" sz="600">
                          <a:effectLst/>
                        </a:rPr>
                        <a:t> </a:t>
                      </a:r>
                      <a:r>
                        <a:rPr lang="de-DE" sz="600" err="1">
                          <a:effectLst/>
                        </a:rPr>
                        <a:t>of</a:t>
                      </a:r>
                      <a:r>
                        <a:rPr lang="de-DE" sz="600"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  <a:highlight>
                            <a:srgbClr val="00FF00"/>
                          </a:highlight>
                        </a:rPr>
                        <a:t>Ja</a:t>
                      </a:r>
                      <a:r>
                        <a:rPr lang="de-DE" sz="600">
                          <a:effectLst/>
                        </a:rPr>
                        <a:t> (</a:t>
                      </a:r>
                      <a:r>
                        <a:rPr lang="de-DE" sz="600" err="1">
                          <a:effectLst/>
                        </a:rPr>
                        <a:t>one</a:t>
                      </a:r>
                      <a:r>
                        <a:rPr lang="de-DE" sz="600">
                          <a:effectLst/>
                        </a:rPr>
                        <a:t> </a:t>
                      </a:r>
                      <a:r>
                        <a:rPr lang="de-DE" sz="600" err="1">
                          <a:effectLst/>
                        </a:rPr>
                        <a:t>of</a:t>
                      </a:r>
                      <a:r>
                        <a:rPr lang="de-DE" sz="600"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100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toothbrush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  <a:highlight>
                            <a:srgbClr val="00FF00"/>
                          </a:highlight>
                        </a:rPr>
                        <a:t>Ja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803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screw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  <a:highlight>
                            <a:srgbClr val="00FF00"/>
                          </a:highlight>
                        </a:rPr>
                        <a:t>(-10, +10)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  <a:highlight>
                            <a:srgbClr val="00FF00"/>
                          </a:highlight>
                        </a:rPr>
                        <a:t>±0.05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37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hazelnut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err="1">
                          <a:effectLst/>
                        </a:rPr>
                        <a:t>yes</a:t>
                      </a:r>
                      <a:r>
                        <a:rPr lang="de-DE" sz="600">
                          <a:effectLst/>
                        </a:rPr>
                        <a:t> (</a:t>
                      </a:r>
                      <a:r>
                        <a:rPr lang="de-DE" sz="600" err="1">
                          <a:effectLst/>
                        </a:rPr>
                        <a:t>one</a:t>
                      </a:r>
                      <a:r>
                        <a:rPr lang="de-DE" sz="600">
                          <a:effectLst/>
                        </a:rPr>
                        <a:t> </a:t>
                      </a:r>
                      <a:r>
                        <a:rPr lang="de-DE" sz="600" err="1">
                          <a:effectLst/>
                        </a:rPr>
                        <a:t>of</a:t>
                      </a:r>
                      <a:r>
                        <a:rPr lang="de-DE" sz="600"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err="1">
                          <a:effectLst/>
                        </a:rPr>
                        <a:t>yes</a:t>
                      </a:r>
                      <a:r>
                        <a:rPr lang="de-DE" sz="600">
                          <a:effectLst/>
                        </a:rPr>
                        <a:t> (</a:t>
                      </a:r>
                      <a:r>
                        <a:rPr lang="de-DE" sz="600" err="1">
                          <a:effectLst/>
                        </a:rPr>
                        <a:t>one</a:t>
                      </a:r>
                      <a:r>
                        <a:rPr lang="de-DE" sz="600">
                          <a:effectLst/>
                        </a:rPr>
                        <a:t> </a:t>
                      </a:r>
                      <a:r>
                        <a:rPr lang="de-DE" sz="600" err="1">
                          <a:effectLst/>
                        </a:rPr>
                        <a:t>of</a:t>
                      </a:r>
                      <a:r>
                        <a:rPr lang="de-DE" sz="600"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324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b="1" err="1">
                          <a:effectLst/>
                        </a:rPr>
                        <a:t>zipper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 err="1">
                          <a:effectLst/>
                        </a:rPr>
                        <a:t>yes</a:t>
                      </a:r>
                      <a:endParaRPr lang="de-DE" sz="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60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933625"/>
                  </a:ext>
                </a:extLst>
              </a:tr>
            </a:tbl>
          </a:graphicData>
        </a:graphic>
      </p:graphicFrame>
      <p:sp>
        <p:nvSpPr>
          <p:cNvPr id="99" name="Textfeld 98">
            <a:extLst>
              <a:ext uri="{FF2B5EF4-FFF2-40B4-BE49-F238E27FC236}">
                <a16:creationId xmlns:a16="http://schemas.microsoft.com/office/drawing/2014/main" id="{DECC35FD-4DC8-9EFB-8A1C-959934A8701F}"/>
              </a:ext>
            </a:extLst>
          </p:cNvPr>
          <p:cNvSpPr txBox="1"/>
          <p:nvPr/>
        </p:nvSpPr>
        <p:spPr bwMode="auto">
          <a:xfrm>
            <a:off x="5729350" y="2677388"/>
            <a:ext cx="214643" cy="221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400" kern="0">
                <a:highlight>
                  <a:srgbClr val="00FF00"/>
                </a:highlight>
                <a:latin typeface="Arial"/>
                <a:cs typeface="Arial"/>
              </a:rPr>
              <a:t>ja</a:t>
            </a:r>
            <a:endParaRPr lang="de-DE" sz="1400" kern="0">
              <a:highlight>
                <a:srgbClr val="00FF00"/>
              </a:highlight>
              <a:cs typeface="Arial"/>
            </a:endParaRP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1612082A-6659-9B8C-2CBA-CB94919528A3}"/>
              </a:ext>
            </a:extLst>
          </p:cNvPr>
          <p:cNvSpPr txBox="1"/>
          <p:nvPr/>
        </p:nvSpPr>
        <p:spPr bwMode="auto">
          <a:xfrm>
            <a:off x="6871802" y="2670762"/>
            <a:ext cx="214643" cy="221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400" kern="0">
                <a:highlight>
                  <a:srgbClr val="00FF00"/>
                </a:highlight>
                <a:latin typeface="Arial"/>
                <a:cs typeface="Arial"/>
              </a:rPr>
              <a:t>ja</a:t>
            </a:r>
            <a:endParaRPr lang="de-DE" sz="1400" kern="0">
              <a:highlight>
                <a:srgbClr val="00FF00"/>
              </a:highlight>
              <a:cs typeface="Arial"/>
            </a:endParaRP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6497F0A0-6A5B-F1E1-0818-AC3576B93C31}"/>
              </a:ext>
            </a:extLst>
          </p:cNvPr>
          <p:cNvSpPr txBox="1"/>
          <p:nvPr/>
        </p:nvSpPr>
        <p:spPr bwMode="auto">
          <a:xfrm>
            <a:off x="5735350" y="5644884"/>
            <a:ext cx="214643" cy="221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400" kern="0">
                <a:highlight>
                  <a:srgbClr val="00FF00"/>
                </a:highlight>
                <a:latin typeface="Arial"/>
                <a:cs typeface="Arial"/>
              </a:rPr>
              <a:t>ja</a:t>
            </a:r>
            <a:endParaRPr lang="de-DE" sz="1400" kern="0">
              <a:highlight>
                <a:srgbClr val="00FF00"/>
              </a:highlight>
              <a:cs typeface="Arial"/>
            </a:endParaRPr>
          </a:p>
        </p:txBody>
      </p:sp>
      <p:sp>
        <p:nvSpPr>
          <p:cNvPr id="103" name="Rechteck 102">
            <a:extLst>
              <a:ext uri="{FF2B5EF4-FFF2-40B4-BE49-F238E27FC236}">
                <a16:creationId xmlns:a16="http://schemas.microsoft.com/office/drawing/2014/main" id="{C5915944-B1EF-BD08-F261-AD4853748E8E}"/>
              </a:ext>
            </a:extLst>
          </p:cNvPr>
          <p:cNvSpPr/>
          <p:nvPr/>
        </p:nvSpPr>
        <p:spPr bwMode="auto">
          <a:xfrm>
            <a:off x="9727625" y="1402408"/>
            <a:ext cx="926021" cy="449050"/>
          </a:xfrm>
          <a:prstGeom prst="rect">
            <a:avLst/>
          </a:prstGeom>
          <a:solidFill>
            <a:srgbClr val="CCE1F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700" b="1">
                <a:latin typeface="Arial"/>
                <a:cs typeface="Arial"/>
              </a:rPr>
              <a:t>kleine Rotation</a:t>
            </a:r>
            <a:endParaRPr lang="de-DE" sz="700" b="1">
              <a:cs typeface="Arial"/>
            </a:endParaRPr>
          </a:p>
          <a:p>
            <a:pPr marL="180975" indent="-180975" algn="ctr"/>
            <a:r>
              <a:rPr lang="de-DE" sz="700" b="1">
                <a:latin typeface="Arial"/>
                <a:cs typeface="Arial"/>
              </a:rPr>
              <a:t> um</a:t>
            </a:r>
            <a:endParaRPr lang="de-DE" sz="700" b="1">
              <a:cs typeface="Arial"/>
            </a:endParaRPr>
          </a:p>
          <a:p>
            <a:pPr marL="180975" indent="-180975" algn="ctr"/>
            <a:r>
              <a:rPr lang="de-DE" sz="700" b="1">
                <a:latin typeface="Arial"/>
                <a:cs typeface="Arial"/>
              </a:rPr>
              <a:t>Mittelpunkt </a:t>
            </a:r>
            <a:endParaRPr lang="de-DE" sz="700" b="1" i="0" u="none" strike="noStrike" cap="none" normalizeH="0" baseline="0">
              <a:ln>
                <a:noFill/>
              </a:ln>
              <a:effectLst/>
              <a:latin typeface="Arial" charset="0"/>
              <a:cs typeface="Arial"/>
            </a:endParaRPr>
          </a:p>
        </p:txBody>
      </p:sp>
      <p:pic>
        <p:nvPicPr>
          <p:cNvPr id="104" name="Grafik 103" descr="Ein Bild, das Essen, Nachspeise, Pflanze, Blau enthält.&#10;&#10;KI-generierte Inhalte können fehlerhaft sein.">
            <a:extLst>
              <a:ext uri="{FF2B5EF4-FFF2-40B4-BE49-F238E27FC236}">
                <a16:creationId xmlns:a16="http://schemas.microsoft.com/office/drawing/2014/main" id="{8CA5CD53-2F10-448C-2170-DBFC6FA53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723" y="3251772"/>
            <a:ext cx="920318" cy="919397"/>
          </a:xfrm>
          <a:prstGeom prst="rect">
            <a:avLst/>
          </a:prstGeom>
        </p:spPr>
      </p:pic>
      <p:sp>
        <p:nvSpPr>
          <p:cNvPr id="109" name="Textfeld 108">
            <a:extLst>
              <a:ext uri="{FF2B5EF4-FFF2-40B4-BE49-F238E27FC236}">
                <a16:creationId xmlns:a16="http://schemas.microsoft.com/office/drawing/2014/main" id="{D48F6D65-C2EA-8916-EB30-AC1AB26BC681}"/>
              </a:ext>
            </a:extLst>
          </p:cNvPr>
          <p:cNvSpPr txBox="1"/>
          <p:nvPr/>
        </p:nvSpPr>
        <p:spPr bwMode="auto">
          <a:xfrm>
            <a:off x="10481558" y="2584884"/>
            <a:ext cx="214643" cy="221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400" kern="0">
                <a:highlight>
                  <a:srgbClr val="00FF00"/>
                </a:highlight>
                <a:latin typeface="Arial"/>
                <a:cs typeface="Arial"/>
              </a:rPr>
              <a:t>ja</a:t>
            </a:r>
            <a:endParaRPr lang="de-DE" sz="1400" kern="0">
              <a:highlight>
                <a:srgbClr val="00FF00"/>
              </a:highlight>
              <a:cs typeface="Arial"/>
            </a:endParaRPr>
          </a:p>
        </p:txBody>
      </p:sp>
      <p:pic>
        <p:nvPicPr>
          <p:cNvPr id="107" name="Grafik 106" descr="Ein Bild, das Objektiv, Kameras und Optik, Kreis, optisches Instrument enthält.&#10;&#10;KI-generierte Inhalte können fehlerhaft sein.">
            <a:extLst>
              <a:ext uri="{FF2B5EF4-FFF2-40B4-BE49-F238E27FC236}">
                <a16:creationId xmlns:a16="http://schemas.microsoft.com/office/drawing/2014/main" id="{CB194456-E0C1-6EC8-1648-90F968F60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705" y="1925625"/>
            <a:ext cx="924210" cy="921808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10" name="Textfeld 109">
            <a:extLst>
              <a:ext uri="{FF2B5EF4-FFF2-40B4-BE49-F238E27FC236}">
                <a16:creationId xmlns:a16="http://schemas.microsoft.com/office/drawing/2014/main" id="{F8F1BA89-8BDA-FA1F-765F-258EE2C99517}"/>
              </a:ext>
            </a:extLst>
          </p:cNvPr>
          <p:cNvSpPr txBox="1"/>
          <p:nvPr/>
        </p:nvSpPr>
        <p:spPr bwMode="auto">
          <a:xfrm>
            <a:off x="10541558" y="3988884"/>
            <a:ext cx="214643" cy="221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400" kern="0">
                <a:highlight>
                  <a:srgbClr val="00FF00"/>
                </a:highlight>
                <a:latin typeface="Arial"/>
                <a:cs typeface="Arial"/>
              </a:rPr>
              <a:t>ja</a:t>
            </a:r>
            <a:endParaRPr lang="de-DE" sz="1400" kern="0">
              <a:highlight>
                <a:srgbClr val="00FF00"/>
              </a:highlight>
              <a:cs typeface="Arial"/>
            </a:endParaRP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1B9D3CF2-AACC-B847-1743-B93744261A8A}"/>
              </a:ext>
            </a:extLst>
          </p:cNvPr>
          <p:cNvSpPr txBox="1"/>
          <p:nvPr/>
        </p:nvSpPr>
        <p:spPr bwMode="auto">
          <a:xfrm>
            <a:off x="8433733" y="1566555"/>
            <a:ext cx="129406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800" i="1" baseline="0">
                <a:solidFill>
                  <a:srgbClr val="FFFFFF"/>
                </a:solidFill>
                <a:highlight>
                  <a:srgbClr val="FF0000"/>
                </a:highlight>
                <a:latin typeface="Arial"/>
              </a:rPr>
              <a:t>Zu starke Rotation führt zu "auffüllen" (Interpolation / Padding) der Ecken</a:t>
            </a:r>
            <a:endParaRPr lang="de-DE" i="1" kern="0" err="1"/>
          </a:p>
        </p:txBody>
      </p:sp>
      <p:pic>
        <p:nvPicPr>
          <p:cNvPr id="113" name="Grafik 112" descr="Ein Bild, das Gebäude, Röhre enthält.&#10;&#10;KI-generierte Inhalte können fehlerhaft sein.">
            <a:extLst>
              <a:ext uri="{FF2B5EF4-FFF2-40B4-BE49-F238E27FC236}">
                <a16:creationId xmlns:a16="http://schemas.microsoft.com/office/drawing/2014/main" id="{557B634D-C8E3-49A2-20E6-58D73CFE9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00000">
            <a:off x="9768993" y="4881216"/>
            <a:ext cx="926399" cy="914400"/>
          </a:xfrm>
          <a:prstGeom prst="rect">
            <a:avLst/>
          </a:prstGeom>
        </p:spPr>
      </p:pic>
      <p:sp>
        <p:nvSpPr>
          <p:cNvPr id="115" name="Gewitterblitz 114">
            <a:extLst>
              <a:ext uri="{FF2B5EF4-FFF2-40B4-BE49-F238E27FC236}">
                <a16:creationId xmlns:a16="http://schemas.microsoft.com/office/drawing/2014/main" id="{D6504505-1092-FA42-E80F-0E9EA9F59F94}"/>
              </a:ext>
            </a:extLst>
          </p:cNvPr>
          <p:cNvSpPr/>
          <p:nvPr/>
        </p:nvSpPr>
        <p:spPr bwMode="auto">
          <a:xfrm>
            <a:off x="9725174" y="4732803"/>
            <a:ext cx="296400" cy="368400"/>
          </a:xfrm>
          <a:prstGeom prst="lightningBol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15F37BE1-D122-6B52-542A-ECB43EE8FA2B}"/>
              </a:ext>
            </a:extLst>
          </p:cNvPr>
          <p:cNvSpPr/>
          <p:nvPr/>
        </p:nvSpPr>
        <p:spPr bwMode="auto">
          <a:xfrm>
            <a:off x="9775199" y="5855530"/>
            <a:ext cx="902588" cy="343555"/>
          </a:xfrm>
          <a:prstGeom prst="rect">
            <a:avLst/>
          </a:prstGeom>
          <a:solidFill>
            <a:srgbClr val="CCE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600">
                <a:highlight>
                  <a:srgbClr val="FFFF00"/>
                </a:highlight>
                <a:latin typeface="Arial"/>
                <a:cs typeface="Arial"/>
              </a:rPr>
              <a:t>führt zu verdrehtem Hintergrund </a:t>
            </a:r>
          </a:p>
        </p:txBody>
      </p:sp>
      <p:sp>
        <p:nvSpPr>
          <p:cNvPr id="117" name="Rechteck 116">
            <a:extLst>
              <a:ext uri="{FF2B5EF4-FFF2-40B4-BE49-F238E27FC236}">
                <a16:creationId xmlns:a16="http://schemas.microsoft.com/office/drawing/2014/main" id="{2FBE4E8D-263E-35F1-D0C8-B0BC9059DB3C}"/>
              </a:ext>
            </a:extLst>
          </p:cNvPr>
          <p:cNvSpPr/>
          <p:nvPr/>
        </p:nvSpPr>
        <p:spPr bwMode="auto">
          <a:xfrm>
            <a:off x="10865225" y="1402408"/>
            <a:ext cx="926021" cy="449050"/>
          </a:xfrm>
          <a:prstGeom prst="rect">
            <a:avLst/>
          </a:prstGeom>
          <a:solidFill>
            <a:srgbClr val="CCE1F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700" b="1">
                <a:latin typeface="Arial"/>
                <a:cs typeface="Arial"/>
              </a:rPr>
              <a:t>Veränderung von</a:t>
            </a:r>
          </a:p>
          <a:p>
            <a:pPr marL="180975" indent="-180975" algn="ctr"/>
            <a:r>
              <a:rPr lang="de-DE" sz="700" b="1">
                <a:latin typeface="Arial"/>
                <a:cs typeface="Arial"/>
              </a:rPr>
              <a:t>Farbe / Helligkeit</a:t>
            </a:r>
          </a:p>
        </p:txBody>
      </p:sp>
      <p:pic>
        <p:nvPicPr>
          <p:cNvPr id="118" name="Grafik 117" descr="Ein Bild, das Objektiv, Kameras und Optik, Kreis, optisches Instrument enthält.&#10;&#10;KI-generierte Inhalte können fehlerhaft sein.">
            <a:extLst>
              <a:ext uri="{FF2B5EF4-FFF2-40B4-BE49-F238E27FC236}">
                <a16:creationId xmlns:a16="http://schemas.microsoft.com/office/drawing/2014/main" id="{7B373E5A-6834-36A6-A265-D7A4C73E5B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112000"/>
                    </a14:imgEffect>
                    <a14:imgEffect>
                      <a14:brightnessContrast bright="-4000" contrast="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90305" y="1937625"/>
            <a:ext cx="924210" cy="921808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119" name="Grafik 118" descr="Ein Bild, das Essen, Nachspeise, Pflanze, Blau enthält.&#10;&#10;KI-generierte Inhalte können fehlerhaft sein.">
            <a:extLst>
              <a:ext uri="{FF2B5EF4-FFF2-40B4-BE49-F238E27FC236}">
                <a16:creationId xmlns:a16="http://schemas.microsoft.com/office/drawing/2014/main" id="{F6349B2F-A00A-773F-67E5-016A7AE812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158000"/>
                    </a14:imgEffect>
                    <a14:imgEffect>
                      <a14:brightnessContrast bright="-25000" contrast="1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98323" y="3245772"/>
            <a:ext cx="920318" cy="919397"/>
          </a:xfrm>
          <a:prstGeom prst="rect">
            <a:avLst/>
          </a:prstGeom>
        </p:spPr>
      </p:pic>
      <p:pic>
        <p:nvPicPr>
          <p:cNvPr id="120" name="Grafik 119" descr="Ein Bild, das Gebäude, Röhre enthält.&#10;&#10;KI-generierte Inhalte können fehlerhaft sein.">
            <a:extLst>
              <a:ext uri="{FF2B5EF4-FFF2-40B4-BE49-F238E27FC236}">
                <a16:creationId xmlns:a16="http://schemas.microsoft.com/office/drawing/2014/main" id="{A8CB7EEA-7F26-619F-545D-1107ADC51A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4593" y="4911216"/>
            <a:ext cx="926399" cy="9144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9D601A9F-9779-B535-F4B1-189E6CF33FCA}"/>
              </a:ext>
            </a:extLst>
          </p:cNvPr>
          <p:cNvSpPr txBox="1"/>
          <p:nvPr/>
        </p:nvSpPr>
        <p:spPr bwMode="auto">
          <a:xfrm>
            <a:off x="10517558" y="2632884"/>
            <a:ext cx="214643" cy="221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400" kern="0">
                <a:highlight>
                  <a:srgbClr val="00FF00"/>
                </a:highlight>
                <a:latin typeface="Arial"/>
                <a:cs typeface="Arial"/>
              </a:rPr>
              <a:t>ja</a:t>
            </a:r>
            <a:endParaRPr lang="de-DE" sz="1400" kern="0">
              <a:highlight>
                <a:srgbClr val="00FF00"/>
              </a:highlight>
              <a:cs typeface="Arial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437E617-3515-9E87-5D07-FD4AE61F8B7B}"/>
              </a:ext>
            </a:extLst>
          </p:cNvPr>
          <p:cNvSpPr txBox="1"/>
          <p:nvPr/>
        </p:nvSpPr>
        <p:spPr bwMode="auto">
          <a:xfrm>
            <a:off x="11679158" y="3946884"/>
            <a:ext cx="214643" cy="221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400" kern="0">
                <a:highlight>
                  <a:srgbClr val="00FF00"/>
                </a:highlight>
                <a:latin typeface="Arial"/>
                <a:cs typeface="Arial"/>
              </a:rPr>
              <a:t>ja</a:t>
            </a:r>
            <a:endParaRPr lang="de-DE" sz="1400" kern="0">
              <a:highlight>
                <a:srgbClr val="00FF00"/>
              </a:highlight>
              <a:cs typeface="Arial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9A3D82C-C77E-071B-63B0-585FDCF4755B}"/>
              </a:ext>
            </a:extLst>
          </p:cNvPr>
          <p:cNvSpPr txBox="1"/>
          <p:nvPr/>
        </p:nvSpPr>
        <p:spPr bwMode="auto">
          <a:xfrm>
            <a:off x="11679158" y="2650884"/>
            <a:ext cx="214643" cy="221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400" kern="0">
                <a:highlight>
                  <a:srgbClr val="00FF00"/>
                </a:highlight>
                <a:latin typeface="Arial"/>
                <a:cs typeface="Arial"/>
              </a:rPr>
              <a:t>ja</a:t>
            </a:r>
            <a:endParaRPr lang="de-DE" sz="1400" kern="0">
              <a:highlight>
                <a:srgbClr val="00FF00"/>
              </a:highlight>
              <a:cs typeface="Arial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C9F7E03-04B3-20EB-8265-968676F48D63}"/>
              </a:ext>
            </a:extLst>
          </p:cNvPr>
          <p:cNvSpPr txBox="1"/>
          <p:nvPr/>
        </p:nvSpPr>
        <p:spPr bwMode="auto">
          <a:xfrm>
            <a:off x="11679158" y="5618380"/>
            <a:ext cx="214643" cy="221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400" kern="0">
                <a:highlight>
                  <a:srgbClr val="00FF00"/>
                </a:highlight>
                <a:latin typeface="Arial"/>
                <a:cs typeface="Arial"/>
              </a:rPr>
              <a:t>ja</a:t>
            </a:r>
            <a:endParaRPr lang="de-DE" sz="1400" kern="0">
              <a:highlight>
                <a:srgbClr val="00FF00"/>
              </a:highlight>
              <a:cs typeface="Arial"/>
            </a:endParaRPr>
          </a:p>
        </p:txBody>
      </p:sp>
      <p:sp>
        <p:nvSpPr>
          <p:cNvPr id="37" name="Gewitterblitz 36">
            <a:extLst>
              <a:ext uri="{FF2B5EF4-FFF2-40B4-BE49-F238E27FC236}">
                <a16:creationId xmlns:a16="http://schemas.microsoft.com/office/drawing/2014/main" id="{F715AAAC-2C1B-DE7B-9B50-AC2F32515026}"/>
              </a:ext>
            </a:extLst>
          </p:cNvPr>
          <p:cNvSpPr/>
          <p:nvPr/>
        </p:nvSpPr>
        <p:spPr bwMode="auto">
          <a:xfrm>
            <a:off x="7163383" y="4776681"/>
            <a:ext cx="296400" cy="368400"/>
          </a:xfrm>
          <a:prstGeom prst="lightningBol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Gewitterblitz 37">
            <a:extLst>
              <a:ext uri="{FF2B5EF4-FFF2-40B4-BE49-F238E27FC236}">
                <a16:creationId xmlns:a16="http://schemas.microsoft.com/office/drawing/2014/main" id="{6E51A431-DBF8-3F03-0B80-5F3CE4265AE0}"/>
              </a:ext>
            </a:extLst>
          </p:cNvPr>
          <p:cNvSpPr/>
          <p:nvPr/>
        </p:nvSpPr>
        <p:spPr bwMode="auto">
          <a:xfrm>
            <a:off x="6019418" y="4788681"/>
            <a:ext cx="296400" cy="368400"/>
          </a:xfrm>
          <a:prstGeom prst="lightningBol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7EC8D745-C857-7F8B-FBF7-9F0265E491F6}"/>
              </a:ext>
            </a:extLst>
          </p:cNvPr>
          <p:cNvSpPr txBox="1"/>
          <p:nvPr/>
        </p:nvSpPr>
        <p:spPr bwMode="auto">
          <a:xfrm>
            <a:off x="415034" y="1861027"/>
            <a:ext cx="2635914" cy="2769989"/>
          </a:xfrm>
          <a:prstGeom prst="rect">
            <a:avLst/>
          </a:prstGeom>
          <a:solidFill>
            <a:srgbClr val="CCE1F0"/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200" b="1">
              <a:latin typeface="Arial"/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sz="1200" b="1">
              <a:latin typeface="Arial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200" b="1" dirty="0" err="1">
                <a:latin typeface="Arial"/>
                <a:cs typeface="Arial"/>
              </a:rPr>
              <a:t>Konzept</a:t>
            </a:r>
            <a:r>
              <a:rPr lang="en-US" sz="1200" b="1" dirty="0">
                <a:latin typeface="Arial"/>
                <a:cs typeface="Arial"/>
              </a:rPr>
              <a:t>:</a:t>
            </a:r>
            <a:r>
              <a:rPr lang="en-US" sz="1200" dirty="0">
                <a:latin typeface="Arial"/>
                <a:cs typeface="Arial"/>
              </a:rPr>
              <a:t> Durch </a:t>
            </a:r>
            <a:r>
              <a:rPr lang="en-US" sz="1200" dirty="0" err="1">
                <a:latin typeface="Arial"/>
                <a:cs typeface="Arial"/>
              </a:rPr>
              <a:t>Kopie</a:t>
            </a:r>
            <a:r>
              <a:rPr lang="en-US" sz="1200" dirty="0">
                <a:latin typeface="Arial"/>
                <a:cs typeface="Arial"/>
              </a:rPr>
              <a:t> und Manipulation </a:t>
            </a:r>
            <a:r>
              <a:rPr lang="en-US" sz="1200" dirty="0" err="1">
                <a:latin typeface="Arial"/>
                <a:cs typeface="Arial"/>
              </a:rPr>
              <a:t>werden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zusätzliche</a:t>
            </a:r>
            <a:r>
              <a:rPr lang="en-US" sz="1200" dirty="0">
                <a:latin typeface="Arial"/>
                <a:cs typeface="Arial"/>
              </a:rPr>
              <a:t> Bilder der </a:t>
            </a:r>
            <a:r>
              <a:rPr lang="en-US" sz="1200" dirty="0" err="1">
                <a:latin typeface="Arial"/>
                <a:cs typeface="Arial"/>
              </a:rPr>
              <a:t>unterrepräsentierten</a:t>
            </a:r>
            <a:r>
              <a:rPr lang="en-US" sz="1200" dirty="0">
                <a:latin typeface="Arial"/>
                <a:cs typeface="Arial"/>
              </a:rPr>
              <a:t> Klasse (</a:t>
            </a:r>
            <a:r>
              <a:rPr lang="en-US" sz="1200" dirty="0" err="1">
                <a:latin typeface="Arial"/>
                <a:cs typeface="Arial"/>
              </a:rPr>
              <a:t>defekt</a:t>
            </a:r>
            <a:r>
              <a:rPr lang="en-US" sz="1200" dirty="0">
                <a:latin typeface="Arial"/>
                <a:cs typeface="Arial"/>
              </a:rPr>
              <a:t>) </a:t>
            </a:r>
            <a:r>
              <a:rPr lang="en-US" sz="1200" dirty="0" err="1">
                <a:latin typeface="Arial"/>
                <a:cs typeface="Arial"/>
              </a:rPr>
              <a:t>erzeugt</a:t>
            </a:r>
            <a:r>
              <a:rPr lang="en-US" sz="1200" dirty="0">
                <a:latin typeface="Arial"/>
                <a:cs typeface="Arial"/>
              </a:rPr>
              <a:t> und für Training </a:t>
            </a:r>
            <a:r>
              <a:rPr lang="en-US" sz="1200" dirty="0" err="1">
                <a:latin typeface="Arial"/>
                <a:cs typeface="Arial"/>
              </a:rPr>
              <a:t>verwendet</a:t>
            </a:r>
            <a:endParaRPr lang="en-US" sz="1600" dirty="0"/>
          </a:p>
          <a:p>
            <a:pPr marL="228600" indent="-228600">
              <a:buFont typeface=""/>
              <a:buChar char="•"/>
            </a:pPr>
            <a:endParaRPr lang="en-US" sz="1200">
              <a:latin typeface="Arial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200" b="1" dirty="0" err="1">
                <a:latin typeface="Arial"/>
                <a:cs typeface="Arial"/>
              </a:rPr>
              <a:t>Vorgehensweise</a:t>
            </a:r>
            <a:r>
              <a:rPr lang="en-US" sz="1200" b="1" dirty="0">
                <a:latin typeface="Arial"/>
                <a:cs typeface="Arial"/>
              </a:rPr>
              <a:t>:</a:t>
            </a:r>
            <a:r>
              <a:rPr lang="en-US" sz="1200" dirty="0">
                <a:latin typeface="Arial"/>
                <a:cs typeface="Arial"/>
              </a:rPr>
              <a:t> Bilder </a:t>
            </a:r>
            <a:r>
              <a:rPr lang="en-US" sz="1200" dirty="0" err="1">
                <a:latin typeface="Arial"/>
                <a:cs typeface="Arial"/>
              </a:rPr>
              <a:t>wurden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spezifisch</a:t>
            </a:r>
            <a:r>
              <a:rPr lang="en-US" sz="1200" dirty="0">
                <a:latin typeface="Arial"/>
                <a:cs typeface="Arial"/>
              </a:rPr>
              <a:t> für </a:t>
            </a:r>
            <a:r>
              <a:rPr lang="en-US" sz="1200" dirty="0" err="1">
                <a:latin typeface="Arial"/>
                <a:cs typeface="Arial"/>
              </a:rPr>
              <a:t>jede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Produktart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beurteilt</a:t>
            </a:r>
            <a:r>
              <a:rPr lang="en-US" sz="1200" dirty="0">
                <a:latin typeface="Arial"/>
                <a:cs typeface="Arial"/>
              </a:rPr>
              <a:t>, </a:t>
            </a:r>
            <a:r>
              <a:rPr lang="en-US" sz="1200" dirty="0" err="1">
                <a:latin typeface="Arial"/>
                <a:cs typeface="Arial"/>
              </a:rPr>
              <a:t>welche</a:t>
            </a:r>
            <a:r>
              <a:rPr lang="en-US" sz="1200" dirty="0">
                <a:latin typeface="Arial"/>
                <a:cs typeface="Arial"/>
              </a:rPr>
              <a:t> Manipulation </a:t>
            </a:r>
            <a:r>
              <a:rPr lang="en-US" sz="1200" dirty="0" err="1">
                <a:latin typeface="Arial"/>
                <a:cs typeface="Arial"/>
              </a:rPr>
              <a:t>möglich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ist</a:t>
            </a:r>
            <a:r>
              <a:rPr lang="en-US" sz="1200" dirty="0">
                <a:latin typeface="Arial"/>
                <a:cs typeface="Arial"/>
              </a:rPr>
              <a:t>, um </a:t>
            </a:r>
            <a:r>
              <a:rPr lang="en-US" sz="1200" dirty="0" err="1">
                <a:latin typeface="Arial"/>
                <a:cs typeface="Arial"/>
              </a:rPr>
              <a:t>ein</a:t>
            </a:r>
            <a:r>
              <a:rPr lang="en-US" sz="1200" dirty="0">
                <a:latin typeface="Arial"/>
                <a:cs typeface="Arial"/>
              </a:rPr>
              <a:t> </a:t>
            </a:r>
            <a:r>
              <a:rPr lang="en-US" sz="1200" dirty="0" err="1">
                <a:latin typeface="Arial"/>
                <a:cs typeface="Arial"/>
              </a:rPr>
              <a:t>realistisches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Augmentat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zu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erhalten</a:t>
            </a:r>
            <a:r>
              <a:rPr lang="en-US" sz="1200" dirty="0">
                <a:latin typeface="Arial"/>
                <a:cs typeface="Arial"/>
              </a:rPr>
              <a:t>. </a:t>
            </a:r>
            <a:endParaRPr lang="de-DE" sz="1200" kern="0" dirty="0">
              <a:cs typeface="Arial" charset="0"/>
            </a:endParaRPr>
          </a:p>
          <a:p>
            <a:pPr algn="ctr"/>
            <a:endParaRPr lang="de-DE" sz="1200" kern="0">
              <a:cs typeface="Arial" charset="0"/>
            </a:endParaRPr>
          </a:p>
          <a:p>
            <a:pPr algn="ctr"/>
            <a:endParaRPr lang="de-DE" sz="1200" kern="0">
              <a:cs typeface="Arial" charset="0"/>
            </a:endParaRPr>
          </a:p>
        </p:txBody>
      </p:sp>
      <p:sp>
        <p:nvSpPr>
          <p:cNvPr id="31" name="Pfeil: nach links gekrümmt 30">
            <a:extLst>
              <a:ext uri="{FF2B5EF4-FFF2-40B4-BE49-F238E27FC236}">
                <a16:creationId xmlns:a16="http://schemas.microsoft.com/office/drawing/2014/main" id="{CE6B3691-0E25-8D02-EDAE-D86A4062E644}"/>
              </a:ext>
            </a:extLst>
          </p:cNvPr>
          <p:cNvSpPr/>
          <p:nvPr/>
        </p:nvSpPr>
        <p:spPr bwMode="auto">
          <a:xfrm rot="1860000">
            <a:off x="7813550" y="2198608"/>
            <a:ext cx="461304" cy="947558"/>
          </a:xfrm>
          <a:prstGeom prst="curvedLeftArrow">
            <a:avLst/>
          </a:prstGeom>
          <a:solidFill>
            <a:srgbClr val="CCE1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631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1577528-EAB1-019D-D977-D69A8242D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1F94B1-E215-6A53-906B-AAE005267F7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AA3F74B-EA65-4038-B0F6-090727FE6ACF}" type="datetime1">
              <a:rPr lang="de-DE" smtClean="0"/>
              <a:t>21.02.2026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9A8A153-DF3F-6280-4395-7AA1C1BEF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0F72C5-1ECF-4452-AAF8-681E9670A308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D26EBAA-89FA-DA16-E210-A4942B737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45720" rIns="91440" bIns="45720" anchor="t">
            <a:noAutofit/>
          </a:bodyPr>
          <a:lstStyle/>
          <a:p>
            <a:r>
              <a:rPr lang="en-US" sz="2200">
                <a:cs typeface="Arial"/>
              </a:rPr>
              <a:t>03 Data Augmentation</a:t>
            </a:r>
            <a:br>
              <a:rPr lang="en-US" sz="2200">
                <a:cs typeface="Arial"/>
              </a:rPr>
            </a:br>
            <a:r>
              <a:rPr lang="en-US" sz="2200">
                <a:cs typeface="Arial"/>
              </a:rPr>
              <a:t>F1 Secore </a:t>
            </a:r>
            <a:r>
              <a:rPr lang="en-US" sz="2200" err="1">
                <a:cs typeface="Arial"/>
              </a:rPr>
              <a:t>erhöht</a:t>
            </a:r>
            <a:r>
              <a:rPr lang="en-US" sz="2200">
                <a:cs typeface="Arial"/>
              </a:rPr>
              <a:t> </a:t>
            </a:r>
            <a:r>
              <a:rPr lang="en-US" sz="2200" err="1">
                <a:cs typeface="Arial"/>
              </a:rPr>
              <a:t>sich</a:t>
            </a:r>
            <a:r>
              <a:rPr lang="en-US" sz="2200">
                <a:cs typeface="Arial"/>
              </a:rPr>
              <a:t> </a:t>
            </a:r>
            <a:r>
              <a:rPr lang="en-US" sz="2200" err="1">
                <a:cs typeface="Arial"/>
              </a:rPr>
              <a:t>durch</a:t>
            </a:r>
            <a:r>
              <a:rPr lang="en-US" sz="2200">
                <a:cs typeface="Arial"/>
              </a:rPr>
              <a:t> Augmentation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85C5651-26B8-422B-2BF1-708F4A34478B}"/>
              </a:ext>
            </a:extLst>
          </p:cNvPr>
          <p:cNvSpPr txBox="1"/>
          <p:nvPr/>
        </p:nvSpPr>
        <p:spPr bwMode="auto">
          <a:xfrm>
            <a:off x="415034" y="1861027"/>
            <a:ext cx="2635914" cy="3139321"/>
          </a:xfrm>
          <a:prstGeom prst="rect">
            <a:avLst/>
          </a:prstGeom>
          <a:solidFill>
            <a:srgbClr val="CCE1F0"/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Arial"/>
              <a:buChar char="•"/>
            </a:pPr>
            <a:endParaRPr lang="de-DE" sz="1200" b="1">
              <a:latin typeface="Arial"/>
              <a:cs typeface="Arial"/>
            </a:endParaRPr>
          </a:p>
          <a:p>
            <a:pPr marL="228600" indent="-228600">
              <a:buFont typeface="Arial"/>
              <a:buChar char="•"/>
            </a:pPr>
            <a:r>
              <a:rPr lang="de-DE" sz="1200" b="1" noProof="0" dirty="0">
                <a:latin typeface="Arial"/>
                <a:cs typeface="Arial"/>
              </a:rPr>
              <a:t>Konzept:</a:t>
            </a:r>
            <a:r>
              <a:rPr lang="de-DE" sz="1200" noProof="0" dirty="0">
                <a:latin typeface="Arial"/>
                <a:cs typeface="Arial"/>
              </a:rPr>
              <a:t> Durch Kopie und Manipulation werden zusätzliche Bilder der unterrepräsentierten Klasse (</a:t>
            </a:r>
            <a:r>
              <a:rPr lang="de-DE" sz="1200" dirty="0">
                <a:latin typeface="Arial"/>
                <a:cs typeface="Arial"/>
              </a:rPr>
              <a:t>Defekt</a:t>
            </a:r>
            <a:r>
              <a:rPr lang="de-DE" sz="1200" noProof="0" dirty="0">
                <a:latin typeface="Arial"/>
                <a:cs typeface="Arial"/>
              </a:rPr>
              <a:t>) erzeugt und für </a:t>
            </a:r>
            <a:r>
              <a:rPr lang="de-DE" sz="1200" dirty="0">
                <a:latin typeface="Arial"/>
                <a:cs typeface="Arial"/>
              </a:rPr>
              <a:t>das </a:t>
            </a:r>
            <a:r>
              <a:rPr lang="de-DE" sz="1200" noProof="0" dirty="0">
                <a:latin typeface="Arial"/>
                <a:cs typeface="Arial"/>
              </a:rPr>
              <a:t>Training verwendet.</a:t>
            </a:r>
            <a:endParaRPr lang="de-DE" sz="1200" noProof="0" dirty="0">
              <a:cs typeface="Arial"/>
            </a:endParaRPr>
          </a:p>
          <a:p>
            <a:pPr marL="228600" indent="-228600">
              <a:buFont typeface="Arial"/>
              <a:buChar char="•"/>
            </a:pPr>
            <a:endParaRPr lang="de-DE" sz="1200" noProof="0">
              <a:latin typeface="Arial"/>
              <a:cs typeface="Arial"/>
            </a:endParaRPr>
          </a:p>
          <a:p>
            <a:pPr marL="228600" indent="-228600">
              <a:buFont typeface="Arial"/>
              <a:buChar char="•"/>
            </a:pPr>
            <a:r>
              <a:rPr lang="de-DE" sz="1200" b="1" noProof="0" dirty="0">
                <a:latin typeface="Arial"/>
                <a:cs typeface="Arial"/>
              </a:rPr>
              <a:t>Vorgehensweise:</a:t>
            </a:r>
            <a:r>
              <a:rPr lang="de-DE" sz="1200" noProof="0" dirty="0">
                <a:latin typeface="Arial"/>
                <a:cs typeface="Arial"/>
              </a:rPr>
              <a:t> Bilder wurden spezifisch für jede Produktart beurteilt, welche Manipulation möglich ist, um ein realistisches </a:t>
            </a:r>
            <a:r>
              <a:rPr lang="de-DE" sz="1200" dirty="0" err="1">
                <a:latin typeface="Arial"/>
                <a:cs typeface="Arial"/>
              </a:rPr>
              <a:t>Augmentat</a:t>
            </a:r>
            <a:r>
              <a:rPr lang="de-DE" sz="1200" noProof="0" dirty="0">
                <a:latin typeface="Arial"/>
                <a:cs typeface="Arial"/>
              </a:rPr>
              <a:t> zu erhalten. Danach wurden so viele </a:t>
            </a:r>
            <a:r>
              <a:rPr lang="de-DE" sz="1200" dirty="0" err="1">
                <a:latin typeface="Arial"/>
                <a:cs typeface="Arial"/>
              </a:rPr>
              <a:t>Augmentate</a:t>
            </a:r>
            <a:r>
              <a:rPr lang="de-DE" sz="1200" noProof="0" dirty="0">
                <a:latin typeface="Arial"/>
                <a:cs typeface="Arial"/>
              </a:rPr>
              <a:t> der Klasse </a:t>
            </a:r>
            <a:r>
              <a:rPr lang="de-DE" sz="1200" dirty="0">
                <a:latin typeface="Arial"/>
                <a:cs typeface="Arial"/>
              </a:rPr>
              <a:t>(Defekt)</a:t>
            </a:r>
            <a:r>
              <a:rPr lang="de-DE" sz="1200" noProof="0" dirty="0">
                <a:latin typeface="Arial"/>
                <a:cs typeface="Arial"/>
              </a:rPr>
              <a:t> erzeugt bis Gleichgewicht vor dem Training herrscht</a:t>
            </a:r>
            <a:r>
              <a:rPr lang="de-DE" sz="1200" dirty="0">
                <a:latin typeface="Arial"/>
                <a:cs typeface="Arial"/>
              </a:rPr>
              <a:t>.</a:t>
            </a:r>
            <a:endParaRPr lang="de-DE" sz="1200" noProof="0" dirty="0">
              <a:latin typeface="Arial"/>
              <a:cs typeface="Arial"/>
            </a:endParaRPr>
          </a:p>
          <a:p>
            <a:pPr marL="228600" indent="-228600">
              <a:buFont typeface="Arial"/>
              <a:buChar char="•"/>
            </a:pPr>
            <a:endParaRPr lang="de-DE" sz="1200">
              <a:latin typeface="Arial"/>
              <a:cs typeface="Arial"/>
            </a:endParaRPr>
          </a:p>
        </p:txBody>
      </p:sp>
      <p:pic>
        <p:nvPicPr>
          <p:cNvPr id="11" name="Grafik 10" descr="Ein Bild, das Text, Karte Menü, Screenshot, Dokument enthält.&#10;&#10;KI-generierte Inhalte können fehlerhaft sein.">
            <a:extLst>
              <a:ext uri="{FF2B5EF4-FFF2-40B4-BE49-F238E27FC236}">
                <a16:creationId xmlns:a16="http://schemas.microsoft.com/office/drawing/2014/main" id="{C53DACA4-6705-72C3-3078-7CF215943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363" y="1223550"/>
            <a:ext cx="3457275" cy="52689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ADABCC92-684C-3840-CDE7-02D34EE98A6E}"/>
              </a:ext>
            </a:extLst>
          </p:cNvPr>
          <p:cNvSpPr txBox="1"/>
          <p:nvPr/>
        </p:nvSpPr>
        <p:spPr bwMode="auto">
          <a:xfrm>
            <a:off x="8412985" y="2442514"/>
            <a:ext cx="362446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400" kern="0" dirty="0">
                <a:latin typeface="Arial"/>
                <a:cs typeface="Arial"/>
              </a:rPr>
              <a:t>Defekte (NIO) werden nun häufiger und annähernd der Verteilung im Datenset vorhergesagt </a:t>
            </a:r>
            <a:endParaRPr lang="de-DE" sz="1400" kern="0" dirty="0">
              <a:cs typeface="Arial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FA1B162-F160-FAD9-5040-390239E71C91}"/>
              </a:ext>
            </a:extLst>
          </p:cNvPr>
          <p:cNvSpPr/>
          <p:nvPr/>
        </p:nvSpPr>
        <p:spPr bwMode="auto">
          <a:xfrm>
            <a:off x="4884821" y="2326837"/>
            <a:ext cx="193200" cy="56457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E86983D-B0BB-3385-E570-6C4BE640A92F}"/>
              </a:ext>
            </a:extLst>
          </p:cNvPr>
          <p:cNvSpPr/>
          <p:nvPr/>
        </p:nvSpPr>
        <p:spPr bwMode="auto">
          <a:xfrm>
            <a:off x="4915300" y="5535621"/>
            <a:ext cx="148070" cy="46972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2C68D09-6237-D696-B6EA-7DD5E34F8BB3}"/>
              </a:ext>
            </a:extLst>
          </p:cNvPr>
          <p:cNvSpPr/>
          <p:nvPr/>
        </p:nvSpPr>
        <p:spPr bwMode="auto">
          <a:xfrm>
            <a:off x="5935197" y="3373758"/>
            <a:ext cx="153444" cy="13507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D731E7E-BB7B-A600-13C0-B9AA32D3A9AE}"/>
              </a:ext>
            </a:extLst>
          </p:cNvPr>
          <p:cNvSpPr/>
          <p:nvPr/>
        </p:nvSpPr>
        <p:spPr bwMode="auto">
          <a:xfrm>
            <a:off x="5931037" y="5523375"/>
            <a:ext cx="148070" cy="47034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D4538704-4642-9C5A-F102-1FF9C8F249F3}"/>
              </a:ext>
            </a:extLst>
          </p:cNvPr>
          <p:cNvCxnSpPr/>
          <p:nvPr/>
        </p:nvCxnSpPr>
        <p:spPr bwMode="auto">
          <a:xfrm flipH="1">
            <a:off x="5124104" y="2796340"/>
            <a:ext cx="3140713" cy="992086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A9EC4319-8B7A-A7FD-7704-FD794CDE1A23}"/>
              </a:ext>
            </a:extLst>
          </p:cNvPr>
          <p:cNvCxnSpPr>
            <a:cxnSpLocks/>
          </p:cNvCxnSpPr>
          <p:nvPr/>
        </p:nvCxnSpPr>
        <p:spPr bwMode="auto">
          <a:xfrm flipH="1">
            <a:off x="6113999" y="2796340"/>
            <a:ext cx="2227200" cy="892695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Rechteck 34">
            <a:extLst>
              <a:ext uri="{FF2B5EF4-FFF2-40B4-BE49-F238E27FC236}">
                <a16:creationId xmlns:a16="http://schemas.microsoft.com/office/drawing/2014/main" id="{4938FAC7-F8E4-9EF2-31B8-FAF2F653D177}"/>
              </a:ext>
            </a:extLst>
          </p:cNvPr>
          <p:cNvSpPr/>
          <p:nvPr/>
        </p:nvSpPr>
        <p:spPr bwMode="auto">
          <a:xfrm>
            <a:off x="4577370" y="1207692"/>
            <a:ext cx="531130" cy="12062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721A6DB5-1061-BF7D-9846-1883F2BD4200}"/>
              </a:ext>
            </a:extLst>
          </p:cNvPr>
          <p:cNvSpPr/>
          <p:nvPr/>
        </p:nvSpPr>
        <p:spPr bwMode="auto">
          <a:xfrm>
            <a:off x="5566169" y="1219691"/>
            <a:ext cx="527739" cy="12062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Pfeil: gebogen 38">
            <a:extLst>
              <a:ext uri="{FF2B5EF4-FFF2-40B4-BE49-F238E27FC236}">
                <a16:creationId xmlns:a16="http://schemas.microsoft.com/office/drawing/2014/main" id="{160D8C27-DF44-C9D9-F052-25BAB1906E5D}"/>
              </a:ext>
            </a:extLst>
          </p:cNvPr>
          <p:cNvSpPr/>
          <p:nvPr/>
        </p:nvSpPr>
        <p:spPr bwMode="auto">
          <a:xfrm rot="-1200000">
            <a:off x="2814704" y="1126833"/>
            <a:ext cx="1674145" cy="1395851"/>
          </a:xfrm>
          <a:prstGeom prst="circularArrow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FB60488-FF87-9B12-B449-56685983461C}"/>
              </a:ext>
            </a:extLst>
          </p:cNvPr>
          <p:cNvSpPr txBox="1"/>
          <p:nvPr/>
        </p:nvSpPr>
        <p:spPr bwMode="auto">
          <a:xfrm>
            <a:off x="8326484" y="5135163"/>
            <a:ext cx="3535199" cy="1286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de-DE" sz="1400" kern="0">
              <a:cs typeface="Arial"/>
            </a:endParaRPr>
          </a:p>
          <a:p>
            <a:r>
              <a:rPr lang="de-DE" sz="1400" kern="0">
                <a:latin typeface="Arial"/>
                <a:cs typeface="Arial"/>
              </a:rPr>
              <a:t>Der </a:t>
            </a:r>
            <a:r>
              <a:rPr lang="de-DE" sz="1400" b="1" kern="0">
                <a:latin typeface="Arial"/>
                <a:cs typeface="Arial"/>
              </a:rPr>
              <a:t>F1-Score </a:t>
            </a:r>
            <a:r>
              <a:rPr lang="de-DE" sz="1400" kern="0">
                <a:latin typeface="Arial"/>
                <a:cs typeface="Arial"/>
              </a:rPr>
              <a:t>hat sich von 0.52 auf 0.77</a:t>
            </a:r>
            <a:r>
              <a:rPr lang="de-DE" sz="1400" b="1" kern="0">
                <a:latin typeface="Arial"/>
                <a:cs typeface="Arial"/>
              </a:rPr>
              <a:t> stark verbessert</a:t>
            </a:r>
            <a:endParaRPr lang="de-DE" sz="1400" kern="0">
              <a:cs typeface="Arial"/>
            </a:endParaRPr>
          </a:p>
          <a:p>
            <a:endParaRPr lang="de-DE" sz="1400" b="1" kern="0">
              <a:latin typeface="Arial"/>
              <a:cs typeface="Arial"/>
            </a:endParaRPr>
          </a:p>
          <a:p>
            <a:endParaRPr lang="de-DE" sz="1400" b="1" kern="0">
              <a:latin typeface="Arial"/>
              <a:cs typeface="Arial"/>
            </a:endParaRPr>
          </a:p>
          <a:p>
            <a:r>
              <a:rPr lang="de-DE" sz="1400" kern="0">
                <a:latin typeface="Arial"/>
                <a:cs typeface="Arial"/>
              </a:rPr>
              <a:t>Die </a:t>
            </a:r>
            <a:r>
              <a:rPr lang="de-DE" sz="1400" b="1" kern="0" err="1">
                <a:latin typeface="Arial"/>
                <a:cs typeface="Arial"/>
              </a:rPr>
              <a:t>Accurac</a:t>
            </a:r>
            <a:r>
              <a:rPr lang="de-DE" sz="1400" kern="0" err="1">
                <a:latin typeface="Arial"/>
                <a:cs typeface="Arial"/>
              </a:rPr>
              <a:t>y</a:t>
            </a:r>
            <a:r>
              <a:rPr lang="de-DE" sz="1400" b="1" kern="0">
                <a:latin typeface="Arial"/>
                <a:cs typeface="Arial"/>
              </a:rPr>
              <a:t> bleibt bei 0.78</a:t>
            </a:r>
            <a:endParaRPr lang="de-DE" b="1">
              <a:latin typeface="Arial"/>
            </a:endParaRP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09B932D9-4ED6-C6DC-0034-2ED6E1D2429A}"/>
              </a:ext>
            </a:extLst>
          </p:cNvPr>
          <p:cNvCxnSpPr>
            <a:cxnSpLocks/>
          </p:cNvCxnSpPr>
          <p:nvPr/>
        </p:nvCxnSpPr>
        <p:spPr bwMode="auto">
          <a:xfrm flipH="1">
            <a:off x="7777146" y="6300391"/>
            <a:ext cx="537549" cy="90939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74451B7C-7904-C2FA-1D75-799E4E3718CC}"/>
              </a:ext>
            </a:extLst>
          </p:cNvPr>
          <p:cNvCxnSpPr>
            <a:cxnSpLocks/>
          </p:cNvCxnSpPr>
          <p:nvPr/>
        </p:nvCxnSpPr>
        <p:spPr bwMode="auto">
          <a:xfrm flipH="1">
            <a:off x="7266937" y="5472130"/>
            <a:ext cx="1008001" cy="859565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Rechteck 46">
            <a:extLst>
              <a:ext uri="{FF2B5EF4-FFF2-40B4-BE49-F238E27FC236}">
                <a16:creationId xmlns:a16="http://schemas.microsoft.com/office/drawing/2014/main" id="{D3CFEA67-1608-2BCA-BCDD-4FE79FA662C9}"/>
              </a:ext>
            </a:extLst>
          </p:cNvPr>
          <p:cNvSpPr/>
          <p:nvPr/>
        </p:nvSpPr>
        <p:spPr bwMode="auto">
          <a:xfrm>
            <a:off x="6944480" y="6352419"/>
            <a:ext cx="352798" cy="162711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F7C1B4F3-4B35-FEE2-F823-BA502A1B3BA4}"/>
              </a:ext>
            </a:extLst>
          </p:cNvPr>
          <p:cNvSpPr/>
          <p:nvPr/>
        </p:nvSpPr>
        <p:spPr bwMode="auto">
          <a:xfrm>
            <a:off x="7086580" y="1214938"/>
            <a:ext cx="685343" cy="125197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C62BECB-BE0F-2D6B-8620-8D3C152203DD}"/>
              </a:ext>
            </a:extLst>
          </p:cNvPr>
          <p:cNvSpPr/>
          <p:nvPr/>
        </p:nvSpPr>
        <p:spPr bwMode="auto">
          <a:xfrm>
            <a:off x="4884820" y="1859918"/>
            <a:ext cx="193200" cy="33266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EBF4E89-1E45-0E0E-7B77-DD13D4692771}"/>
              </a:ext>
            </a:extLst>
          </p:cNvPr>
          <p:cNvSpPr/>
          <p:nvPr/>
        </p:nvSpPr>
        <p:spPr bwMode="auto">
          <a:xfrm>
            <a:off x="4895607" y="3376001"/>
            <a:ext cx="173321" cy="13194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744CA90-99DE-AB04-2B6A-0038CF801B7C}"/>
              </a:ext>
            </a:extLst>
          </p:cNvPr>
          <p:cNvSpPr/>
          <p:nvPr/>
        </p:nvSpPr>
        <p:spPr bwMode="auto">
          <a:xfrm>
            <a:off x="5921503" y="2323757"/>
            <a:ext cx="153444" cy="56384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C7E4999-673A-7E4A-1D36-0F118D9C204D}"/>
              </a:ext>
            </a:extLst>
          </p:cNvPr>
          <p:cNvSpPr/>
          <p:nvPr/>
        </p:nvSpPr>
        <p:spPr bwMode="auto">
          <a:xfrm>
            <a:off x="5931036" y="1859917"/>
            <a:ext cx="147444" cy="33307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7B7EB0E-C37D-5F9F-5027-70E439E93FFA}"/>
              </a:ext>
            </a:extLst>
          </p:cNvPr>
          <p:cNvSpPr/>
          <p:nvPr/>
        </p:nvSpPr>
        <p:spPr bwMode="auto">
          <a:xfrm>
            <a:off x="4905140" y="4703461"/>
            <a:ext cx="154070" cy="31972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1D2ECA9-C64B-798B-C915-7E8405EE3F0B}"/>
              </a:ext>
            </a:extLst>
          </p:cNvPr>
          <p:cNvSpPr/>
          <p:nvPr/>
        </p:nvSpPr>
        <p:spPr bwMode="auto">
          <a:xfrm>
            <a:off x="5935300" y="4703461"/>
            <a:ext cx="154070" cy="31972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0348D33-A432-6508-DA4B-E5FD242F0A7D}"/>
              </a:ext>
            </a:extLst>
          </p:cNvPr>
          <p:cNvSpPr/>
          <p:nvPr/>
        </p:nvSpPr>
        <p:spPr bwMode="auto">
          <a:xfrm>
            <a:off x="4915300" y="4347621"/>
            <a:ext cx="154070" cy="14733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5EFBAFD-A992-A145-617E-3EE3E8ED6314}"/>
              </a:ext>
            </a:extLst>
          </p:cNvPr>
          <p:cNvSpPr/>
          <p:nvPr/>
        </p:nvSpPr>
        <p:spPr bwMode="auto">
          <a:xfrm>
            <a:off x="5930514" y="4347621"/>
            <a:ext cx="160696" cy="14733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DC7F8F3-039C-3F2A-E46C-40D324FF6297}"/>
              </a:ext>
            </a:extLst>
          </p:cNvPr>
          <p:cNvSpPr/>
          <p:nvPr/>
        </p:nvSpPr>
        <p:spPr bwMode="auto">
          <a:xfrm>
            <a:off x="4914674" y="1361917"/>
            <a:ext cx="192208" cy="16466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7A36623-5236-7FC9-D736-AD01F0B249F3}"/>
              </a:ext>
            </a:extLst>
          </p:cNvPr>
          <p:cNvSpPr/>
          <p:nvPr/>
        </p:nvSpPr>
        <p:spPr bwMode="auto">
          <a:xfrm>
            <a:off x="5880413" y="1361917"/>
            <a:ext cx="218712" cy="16466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EABF752-C678-3225-A226-85D5F02E4510}"/>
              </a:ext>
            </a:extLst>
          </p:cNvPr>
          <p:cNvSpPr/>
          <p:nvPr/>
        </p:nvSpPr>
        <p:spPr bwMode="auto">
          <a:xfrm>
            <a:off x="5917196" y="3691757"/>
            <a:ext cx="153444" cy="13507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61BAF0D-B59B-AC93-69FC-B6801EC27CFC}"/>
              </a:ext>
            </a:extLst>
          </p:cNvPr>
          <p:cNvSpPr/>
          <p:nvPr/>
        </p:nvSpPr>
        <p:spPr bwMode="auto">
          <a:xfrm>
            <a:off x="4907644" y="3694000"/>
            <a:ext cx="173321" cy="13194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E1DD98C4-534E-B237-275B-08BA8090E928}"/>
              </a:ext>
            </a:extLst>
          </p:cNvPr>
          <p:cNvSpPr/>
          <p:nvPr/>
        </p:nvSpPr>
        <p:spPr bwMode="auto">
          <a:xfrm>
            <a:off x="4921300" y="6177621"/>
            <a:ext cx="142070" cy="17572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7EF5C15-2D10-3E86-F24F-162382D69BE1}"/>
              </a:ext>
            </a:extLst>
          </p:cNvPr>
          <p:cNvSpPr/>
          <p:nvPr/>
        </p:nvSpPr>
        <p:spPr bwMode="auto">
          <a:xfrm>
            <a:off x="5947197" y="6175534"/>
            <a:ext cx="142070" cy="17634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37CE0ED-AF52-5C1C-33A3-7ACFA1498C42}"/>
              </a:ext>
            </a:extLst>
          </p:cNvPr>
          <p:cNvSpPr/>
          <p:nvPr/>
        </p:nvSpPr>
        <p:spPr bwMode="auto">
          <a:xfrm>
            <a:off x="7354786" y="6336396"/>
            <a:ext cx="423137" cy="174434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165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E0BF5-A1BC-6A88-3B03-D5A4614F5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6946F7-8DAF-3083-938C-FAF52EFF6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2F31ED-FD64-6E89-E4BF-38B50D960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de-DE"/>
          </a:p>
        </p:txBody>
      </p: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E6A0A9D6-572E-1D60-583D-5B2ED1A8336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7CD714-8341-4FF2-AA85-E345444355E9}" type="datetime1">
              <a:rPr lang="de-DE" smtClean="0"/>
              <a:t>21.02.2026</a:t>
            </a:fld>
            <a:endParaRPr lang="de-DE"/>
          </a:p>
        </p:txBody>
      </p:sp>
      <p:sp>
        <p:nvSpPr>
          <p:cNvPr id="7" name="Titel 2">
            <a:extLst>
              <a:ext uri="{FF2B5EF4-FFF2-40B4-BE49-F238E27FC236}">
                <a16:creationId xmlns:a16="http://schemas.microsoft.com/office/drawing/2014/main" id="{DE62DF98-526A-40D6-7815-7CECAD8E3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A1E6571-3C50-34B8-D3EB-DEA42FD916FF}"/>
              </a:ext>
            </a:extLst>
          </p:cNvPr>
          <p:cNvSpPr txBox="1"/>
          <p:nvPr/>
        </p:nvSpPr>
        <p:spPr bwMode="auto">
          <a:xfrm>
            <a:off x="7478258" y="4140127"/>
            <a:ext cx="61010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1200">
                <a:solidFill>
                  <a:schemeClr val="bg1"/>
                </a:solidFill>
              </a:rPr>
              <a:t>[3] </a:t>
            </a:r>
            <a:endParaRPr lang="en-GB" sz="1200">
              <a:solidFill>
                <a:schemeClr val="bg1"/>
              </a:solidFill>
            </a:endParaRPr>
          </a:p>
        </p:txBody>
      </p:sp>
      <p:graphicFrame>
        <p:nvGraphicFramePr>
          <p:cNvPr id="30" name="Table 24">
            <a:extLst>
              <a:ext uri="{FF2B5EF4-FFF2-40B4-BE49-F238E27FC236}">
                <a16:creationId xmlns:a16="http://schemas.microsoft.com/office/drawing/2014/main" id="{DA5566A7-F740-B063-4D1B-E4E0D4CFDD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0623627"/>
              </p:ext>
            </p:extLst>
          </p:nvPr>
        </p:nvGraphicFramePr>
        <p:xfrm>
          <a:off x="5454000" y="1200000"/>
          <a:ext cx="6037677" cy="5035218"/>
        </p:xfrm>
        <a:graphic>
          <a:graphicData uri="http://schemas.openxmlformats.org/drawingml/2006/table">
            <a:tbl>
              <a:tblPr firstRow="1" bandRow="1"/>
              <a:tblGrid>
                <a:gridCol w="694983">
                  <a:extLst>
                    <a:ext uri="{9D8B030D-6E8A-4147-A177-3AD203B41FA5}">
                      <a16:colId xmlns:a16="http://schemas.microsoft.com/office/drawing/2014/main" val="1857791330"/>
                    </a:ext>
                  </a:extLst>
                </a:gridCol>
                <a:gridCol w="4684978">
                  <a:extLst>
                    <a:ext uri="{9D8B030D-6E8A-4147-A177-3AD203B41FA5}">
                      <a16:colId xmlns:a16="http://schemas.microsoft.com/office/drawing/2014/main" val="620299569"/>
                    </a:ext>
                  </a:extLst>
                </a:gridCol>
                <a:gridCol w="657716">
                  <a:extLst>
                    <a:ext uri="{9D8B030D-6E8A-4147-A177-3AD203B41FA5}">
                      <a16:colId xmlns:a16="http://schemas.microsoft.com/office/drawing/2014/main" val="1172101712"/>
                    </a:ext>
                  </a:extLst>
                </a:gridCol>
              </a:tblGrid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Start </a:t>
                      </a:r>
                      <a:r>
                        <a:rPr lang="en-US" sz="1600" b="1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mit</a:t>
                      </a:r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1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Experimentieren</a:t>
                      </a:r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:</a:t>
                      </a:r>
                      <a:endParaRPr lang="de-DE" b="1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Erkenntnisse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anhand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eines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Custom CNN 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16587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Problematik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Imbalanced Datasets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955894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1: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Augmentation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045840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tx1"/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</a:rPr>
                        <a:t> 2: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</a:rPr>
                        <a:t>Class Weights</a:t>
                      </a:r>
                      <a:endParaRPr lang="de-DE" b="1"/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83214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Modell-Tuning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550306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06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Confusion matrix 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100306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07</a:t>
                      </a:r>
                      <a:endParaRPr lang="de-DE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A: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Classifier Ensemble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072433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08</a:t>
                      </a:r>
                      <a:endParaRPr lang="de-DE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B: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2-Head-Classifier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0074"/>
                  </a:ext>
                </a:extLst>
              </a:tr>
              <a:tr h="523573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Pretrained Models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Vergleich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3-Head-Classifier vs 3 </a:t>
                      </a: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Einzelmodelle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927458"/>
                  </a:ext>
                </a:extLst>
              </a:tr>
            </a:tbl>
          </a:graphicData>
        </a:graphic>
      </p:graphicFrame>
      <p:pic>
        <p:nvPicPr>
          <p:cNvPr id="3" name="Grafik 2" descr="Ein Bild, das Im Haus, Computer, Tisch, Computertastatur enthält.&#10;&#10;KI-generierte Inhalte können fehlerhaft sein.">
            <a:extLst>
              <a:ext uri="{FF2B5EF4-FFF2-40B4-BE49-F238E27FC236}">
                <a16:creationId xmlns:a16="http://schemas.microsoft.com/office/drawing/2014/main" id="{4ABCD235-DB83-9AA6-4263-BE4409802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9" y="1245703"/>
            <a:ext cx="4239558" cy="430695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28B2B8F-B429-FB84-83BB-9540E19751D5}"/>
              </a:ext>
            </a:extLst>
          </p:cNvPr>
          <p:cNvSpPr txBox="1"/>
          <p:nvPr/>
        </p:nvSpPr>
        <p:spPr bwMode="auto">
          <a:xfrm>
            <a:off x="775251" y="5552660"/>
            <a:ext cx="1961321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050" kern="0">
                <a:solidFill>
                  <a:srgbClr val="7F7F7F"/>
                </a:solidFill>
                <a:latin typeface="Arial"/>
                <a:cs typeface="Arial"/>
              </a:rPr>
              <a:t>Generiert mit Nano </a:t>
            </a:r>
            <a:r>
              <a:rPr lang="de-DE" sz="1050" kern="0" err="1">
                <a:solidFill>
                  <a:srgbClr val="7F7F7F"/>
                </a:solidFill>
                <a:latin typeface="Arial"/>
                <a:cs typeface="Arial"/>
              </a:rPr>
              <a:t>Banana</a:t>
            </a:r>
            <a:endParaRPr lang="de-DE" sz="1050" kern="0" err="1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251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fik 27" descr="Ein Bild, das Text, Karte Menü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85E4CBA9-23AD-5AF9-2BCF-1F3E8E7FA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683" y="1225413"/>
            <a:ext cx="3537504" cy="536133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47E3083-2A80-3742-1275-758DC3EEE8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569FC04-B9B3-E20B-9380-F83261CB74D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AA3F74B-EA65-4038-B0F6-090727FE6ACF}" type="datetime1">
              <a:rPr lang="de-DE" smtClean="0"/>
              <a:t>21.02.2026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CA1037-DB2A-732A-E1B7-54B23E991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0F72C5-1ECF-4452-AAF8-681E9670A308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95C85AA-D581-41E1-026B-BBECEE24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643186" cy="768219"/>
          </a:xfrm>
        </p:spPr>
        <p:txBody>
          <a:bodyPr wrap="square" lIns="0" tIns="45720" rIns="91440" bIns="45720" anchor="t">
            <a:noAutofit/>
          </a:bodyPr>
          <a:lstStyle/>
          <a:p>
            <a:r>
              <a:rPr lang="en-US" sz="2200">
                <a:cs typeface="Arial"/>
              </a:rPr>
              <a:t>04 Class Weights</a:t>
            </a:r>
            <a:br>
              <a:rPr lang="en-US" sz="2200">
                <a:cs typeface="Arial"/>
              </a:rPr>
            </a:br>
            <a:r>
              <a:rPr lang="en-US" sz="2200">
                <a:cs typeface="Arial"/>
              </a:rPr>
              <a:t>Duch </a:t>
            </a:r>
            <a:r>
              <a:rPr lang="en-US" sz="2200" err="1">
                <a:cs typeface="Arial"/>
              </a:rPr>
              <a:t>Klassengewichte</a:t>
            </a:r>
            <a:r>
              <a:rPr lang="en-US" sz="2200">
                <a:cs typeface="Arial"/>
              </a:rPr>
              <a:t> </a:t>
            </a:r>
            <a:r>
              <a:rPr lang="en-US" sz="2200" err="1">
                <a:cs typeface="Arial"/>
              </a:rPr>
              <a:t>wird</a:t>
            </a:r>
            <a:r>
              <a:rPr lang="en-US" sz="2200">
                <a:cs typeface="Arial"/>
              </a:rPr>
              <a:t> </a:t>
            </a:r>
            <a:r>
              <a:rPr lang="en-US" sz="2200" err="1">
                <a:cs typeface="Arial"/>
              </a:rPr>
              <a:t>beim</a:t>
            </a:r>
            <a:r>
              <a:rPr lang="en-US" sz="2200">
                <a:cs typeface="Arial"/>
              </a:rPr>
              <a:t> Training </a:t>
            </a:r>
            <a:r>
              <a:rPr lang="en-US" sz="2200" err="1">
                <a:cs typeface="Arial"/>
              </a:rPr>
              <a:t>ein</a:t>
            </a:r>
            <a:r>
              <a:rPr lang="en-US" sz="2200">
                <a:cs typeface="Arial"/>
              </a:rPr>
              <a:t> Ausgleich für die Imbalance </a:t>
            </a:r>
            <a:r>
              <a:rPr lang="en-US" sz="2200" err="1">
                <a:cs typeface="Arial"/>
              </a:rPr>
              <a:t>geschaffen</a:t>
            </a:r>
            <a:r>
              <a:rPr lang="en-US" sz="2200">
                <a:cs typeface="Arial"/>
              </a:rPr>
              <a:t>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5DFCD1F-750E-177C-A4DB-B53E8F4BCD08}"/>
              </a:ext>
            </a:extLst>
          </p:cNvPr>
          <p:cNvSpPr txBox="1"/>
          <p:nvPr/>
        </p:nvSpPr>
        <p:spPr bwMode="auto">
          <a:xfrm>
            <a:off x="554182" y="1567079"/>
            <a:ext cx="3040104" cy="301621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de-DE" sz="1400" b="1" noProof="0">
              <a:latin typeface="Arial"/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de-DE" sz="1200" b="1" noProof="0" dirty="0">
                <a:latin typeface="Arial"/>
                <a:cs typeface="Arial"/>
              </a:rPr>
              <a:t>Konzept:</a:t>
            </a:r>
            <a:r>
              <a:rPr lang="de-DE" sz="1200" noProof="0" dirty="0">
                <a:latin typeface="Arial"/>
                <a:cs typeface="Arial"/>
              </a:rPr>
              <a:t> Anpassung der Loss-Funktion während des Trainings.</a:t>
            </a:r>
            <a:endParaRPr lang="de-DE" sz="1200" noProof="0" dirty="0">
              <a:cs typeface="Arial"/>
            </a:endParaRPr>
          </a:p>
          <a:p>
            <a:pPr marL="171450" indent="-171450">
              <a:buFont typeface="Arial"/>
              <a:buChar char="•"/>
            </a:pPr>
            <a:endParaRPr lang="de-DE" sz="1200" noProof="0">
              <a:latin typeface="Arial"/>
              <a:cs typeface="Arial"/>
            </a:endParaRPr>
          </a:p>
          <a:p>
            <a:pPr marL="171450" indent="-171450">
              <a:buFont typeface="Arial"/>
              <a:buChar char="•"/>
            </a:pPr>
            <a:endParaRPr lang="de-DE" sz="1200" noProof="0">
              <a:latin typeface="Arial"/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de-DE" sz="1200" b="1" noProof="0" dirty="0">
                <a:latin typeface="Arial"/>
                <a:cs typeface="Arial"/>
              </a:rPr>
              <a:t>Funktionsweise:</a:t>
            </a:r>
            <a:r>
              <a:rPr lang="de-DE" sz="1200" noProof="0" dirty="0">
                <a:latin typeface="Arial"/>
                <a:cs typeface="Arial"/>
              </a:rPr>
              <a:t> Die Klassenhäufigkeit wird spezifisch für jede Klasse im Trainingsdatensatz ermittelt und im Training übergeben. Unterrepräsentierte Klasse (</a:t>
            </a:r>
            <a:r>
              <a:rPr lang="de-DE" sz="1200" dirty="0">
                <a:latin typeface="Arial"/>
                <a:cs typeface="Arial"/>
              </a:rPr>
              <a:t>Defekt</a:t>
            </a:r>
            <a:r>
              <a:rPr lang="de-DE" sz="1200" noProof="0" dirty="0">
                <a:latin typeface="Arial"/>
                <a:cs typeface="Arial"/>
              </a:rPr>
              <a:t>)  </a:t>
            </a:r>
            <a:r>
              <a:rPr lang="de-DE" sz="1200" dirty="0">
                <a:latin typeface="Arial"/>
                <a:cs typeface="Arial"/>
              </a:rPr>
              <a:t>erhalten ein</a:t>
            </a:r>
            <a:r>
              <a:rPr lang="de-DE" sz="1200" noProof="0" dirty="0">
                <a:latin typeface="Arial"/>
                <a:cs typeface="Arial"/>
              </a:rPr>
              <a:t> höheres Gewicht </a:t>
            </a:r>
            <a:r>
              <a:rPr lang="de-DE" sz="1200" dirty="0">
                <a:latin typeface="Arial"/>
                <a:cs typeface="Arial"/>
              </a:rPr>
              <a:t>durch die Fehlerfunktion</a:t>
            </a:r>
            <a:endParaRPr lang="de-DE" noProof="0" dirty="0">
              <a:cs typeface="Arial" charset="0"/>
            </a:endParaRPr>
          </a:p>
          <a:p>
            <a:pPr marL="171450" indent="-171450">
              <a:buFont typeface="Arial"/>
              <a:buChar char="•"/>
            </a:pPr>
            <a:endParaRPr lang="de-DE" sz="1200" dirty="0">
              <a:latin typeface="Arial"/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de-DE" sz="1200" b="1" noProof="0" dirty="0">
                <a:latin typeface="Arial"/>
                <a:cs typeface="Arial"/>
              </a:rPr>
              <a:t>Vorteil:</a:t>
            </a:r>
            <a:r>
              <a:rPr lang="de-DE" sz="1200" noProof="0" dirty="0">
                <a:latin typeface="Arial"/>
                <a:cs typeface="Arial"/>
              </a:rPr>
              <a:t> Keine physische Kopie von Daten wie bei Augmentation nötig, mathematische Balance.</a:t>
            </a:r>
            <a:endParaRPr lang="de-DE" sz="1400" noProof="0" dirty="0">
              <a:cs typeface="Arial" charset="0"/>
            </a:endParaRPr>
          </a:p>
          <a:p>
            <a:pPr algn="ctr"/>
            <a:endParaRPr lang="de-DE" sz="1400" kern="0" noProof="0">
              <a:cs typeface="Arial" charset="0"/>
            </a:endParaRPr>
          </a:p>
        </p:txBody>
      </p:sp>
      <p:sp>
        <p:nvSpPr>
          <p:cNvPr id="12" name="Pfeil: gebogen 11">
            <a:extLst>
              <a:ext uri="{FF2B5EF4-FFF2-40B4-BE49-F238E27FC236}">
                <a16:creationId xmlns:a16="http://schemas.microsoft.com/office/drawing/2014/main" id="{639E7BCC-ED4E-7A7C-6812-FAA296647DB0}"/>
              </a:ext>
            </a:extLst>
          </p:cNvPr>
          <p:cNvSpPr/>
          <p:nvPr/>
        </p:nvSpPr>
        <p:spPr bwMode="auto">
          <a:xfrm>
            <a:off x="3483469" y="1070122"/>
            <a:ext cx="1223573" cy="978408"/>
          </a:xfrm>
          <a:prstGeom prst="circularArrow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43010C4-7372-40C3-4830-7AA3BBB18EDD}"/>
              </a:ext>
            </a:extLst>
          </p:cNvPr>
          <p:cNvSpPr txBox="1"/>
          <p:nvPr/>
        </p:nvSpPr>
        <p:spPr bwMode="auto">
          <a:xfrm>
            <a:off x="8313338" y="2800068"/>
            <a:ext cx="362446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400" kern="0" dirty="0">
                <a:latin typeface="Arial"/>
                <a:cs typeface="Arial"/>
              </a:rPr>
              <a:t>Defekte (NIO) werden nun häufiger und annähernd der Verteilung im Datenset vorhergesagt </a:t>
            </a:r>
            <a:endParaRPr lang="de-DE" sz="1400" kern="0" dirty="0">
              <a:cs typeface="Arial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11DB9D1-D9BC-3E49-3E89-CF564E19774F}"/>
              </a:ext>
            </a:extLst>
          </p:cNvPr>
          <p:cNvSpPr/>
          <p:nvPr/>
        </p:nvSpPr>
        <p:spPr bwMode="auto">
          <a:xfrm>
            <a:off x="4915301" y="3721850"/>
            <a:ext cx="193200" cy="163137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E4B6183-1400-00D7-17BA-91EE7DEDE807}"/>
              </a:ext>
            </a:extLst>
          </p:cNvPr>
          <p:cNvSpPr/>
          <p:nvPr/>
        </p:nvSpPr>
        <p:spPr bwMode="auto">
          <a:xfrm>
            <a:off x="4915300" y="5535621"/>
            <a:ext cx="160070" cy="82372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24D3E39-8B35-F27C-BC99-A1F47CEB149E}"/>
              </a:ext>
            </a:extLst>
          </p:cNvPr>
          <p:cNvSpPr/>
          <p:nvPr/>
        </p:nvSpPr>
        <p:spPr bwMode="auto">
          <a:xfrm>
            <a:off x="5941197" y="3721849"/>
            <a:ext cx="160070" cy="163137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0EA85F3-F5AE-E468-05AD-05DAE0788529}"/>
              </a:ext>
            </a:extLst>
          </p:cNvPr>
          <p:cNvSpPr/>
          <p:nvPr/>
        </p:nvSpPr>
        <p:spPr bwMode="auto">
          <a:xfrm>
            <a:off x="5941197" y="5533535"/>
            <a:ext cx="160070" cy="83034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EE27E143-705F-2163-F6A4-FAC1A9995D04}"/>
              </a:ext>
            </a:extLst>
          </p:cNvPr>
          <p:cNvCxnSpPr/>
          <p:nvPr/>
        </p:nvCxnSpPr>
        <p:spPr bwMode="auto">
          <a:xfrm flipH="1">
            <a:off x="5124104" y="2934340"/>
            <a:ext cx="3140713" cy="992086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434E7F28-B629-769E-8BC7-62F3E23D6FD9}"/>
              </a:ext>
            </a:extLst>
          </p:cNvPr>
          <p:cNvCxnSpPr>
            <a:cxnSpLocks/>
          </p:cNvCxnSpPr>
          <p:nvPr/>
        </p:nvCxnSpPr>
        <p:spPr bwMode="auto">
          <a:xfrm flipH="1">
            <a:off x="6107373" y="2934340"/>
            <a:ext cx="2154313" cy="892695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Rechteck 32">
            <a:extLst>
              <a:ext uri="{FF2B5EF4-FFF2-40B4-BE49-F238E27FC236}">
                <a16:creationId xmlns:a16="http://schemas.microsoft.com/office/drawing/2014/main" id="{0AAF083D-D9E3-884E-A1AD-0AB1ACC972BB}"/>
              </a:ext>
            </a:extLst>
          </p:cNvPr>
          <p:cNvSpPr/>
          <p:nvPr/>
        </p:nvSpPr>
        <p:spPr bwMode="auto">
          <a:xfrm>
            <a:off x="6950341" y="6364142"/>
            <a:ext cx="370384" cy="186157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0AC3FCC1-D80D-B443-6566-584A54F4BBA7}"/>
              </a:ext>
            </a:extLst>
          </p:cNvPr>
          <p:cNvSpPr txBox="1"/>
          <p:nvPr/>
        </p:nvSpPr>
        <p:spPr bwMode="auto">
          <a:xfrm>
            <a:off x="8350484" y="5135163"/>
            <a:ext cx="3691199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de-DE" sz="1400" kern="0">
              <a:cs typeface="Arial"/>
            </a:endParaRPr>
          </a:p>
          <a:p>
            <a:r>
              <a:rPr lang="de-DE" sz="1400" kern="0">
                <a:latin typeface="Arial"/>
                <a:cs typeface="Arial"/>
              </a:rPr>
              <a:t>Der </a:t>
            </a:r>
            <a:r>
              <a:rPr lang="de-DE" sz="1400" b="1" kern="0">
                <a:latin typeface="Arial"/>
                <a:cs typeface="Arial"/>
              </a:rPr>
              <a:t>F1-Score </a:t>
            </a:r>
            <a:r>
              <a:rPr lang="de-DE" sz="1400" kern="0">
                <a:latin typeface="Arial"/>
                <a:cs typeface="Arial"/>
              </a:rPr>
              <a:t>hat sich von 0.52 auf 0.72</a:t>
            </a:r>
            <a:r>
              <a:rPr lang="de-DE" sz="1400" b="1" kern="0">
                <a:latin typeface="Arial"/>
                <a:cs typeface="Arial"/>
              </a:rPr>
              <a:t> auch deutlich verbessert</a:t>
            </a:r>
            <a:r>
              <a:rPr lang="de-DE" sz="1400" kern="0">
                <a:latin typeface="Arial"/>
                <a:cs typeface="Arial"/>
              </a:rPr>
              <a:t>, jedoch nicht ganz so stark wie bei </a:t>
            </a:r>
            <a:r>
              <a:rPr lang="de-DE" sz="1400" kern="0" err="1">
                <a:latin typeface="Arial"/>
                <a:cs typeface="Arial"/>
              </a:rPr>
              <a:t>Augmentierung</a:t>
            </a:r>
            <a:r>
              <a:rPr lang="de-DE" sz="1400" kern="0">
                <a:latin typeface="Arial"/>
                <a:cs typeface="Arial"/>
              </a:rPr>
              <a:t> (0.78)</a:t>
            </a:r>
            <a:endParaRPr lang="de-DE" sz="1400" kern="0">
              <a:cs typeface="Arial"/>
            </a:endParaRPr>
          </a:p>
          <a:p>
            <a:endParaRPr lang="de-DE" sz="1400" kern="0">
              <a:cs typeface="Arial"/>
            </a:endParaRPr>
          </a:p>
          <a:p>
            <a:r>
              <a:rPr lang="de-DE" sz="1400" kern="0">
                <a:latin typeface="Arial"/>
                <a:cs typeface="Arial"/>
              </a:rPr>
              <a:t>Die </a:t>
            </a:r>
            <a:r>
              <a:rPr lang="de-DE" sz="1400" b="1" kern="0" err="1">
                <a:latin typeface="Arial"/>
                <a:cs typeface="Arial"/>
              </a:rPr>
              <a:t>Accurac</a:t>
            </a:r>
            <a:r>
              <a:rPr lang="de-DE" sz="1400" kern="0" err="1">
                <a:latin typeface="Arial"/>
                <a:cs typeface="Arial"/>
              </a:rPr>
              <a:t>y</a:t>
            </a:r>
            <a:r>
              <a:rPr lang="de-DE" sz="1400" b="1" kern="0">
                <a:latin typeface="Arial"/>
                <a:cs typeface="Arial"/>
              </a:rPr>
              <a:t> bleibt bei 0.78</a:t>
            </a:r>
            <a:endParaRPr lang="de-DE" b="1">
              <a:latin typeface="Arial"/>
              <a:cs typeface="Arial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AC5B025-4668-9549-30C3-D6EFC7742FFE}"/>
              </a:ext>
            </a:extLst>
          </p:cNvPr>
          <p:cNvSpPr/>
          <p:nvPr/>
        </p:nvSpPr>
        <p:spPr bwMode="auto">
          <a:xfrm>
            <a:off x="6950340" y="1222298"/>
            <a:ext cx="827583" cy="186157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54E4AF67-BE86-3780-6EA3-A1714D7F3EFA}"/>
              </a:ext>
            </a:extLst>
          </p:cNvPr>
          <p:cNvSpPr/>
          <p:nvPr/>
        </p:nvSpPr>
        <p:spPr bwMode="auto">
          <a:xfrm>
            <a:off x="4577370" y="1243692"/>
            <a:ext cx="531130" cy="12062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BDEE075E-CB37-F0A8-0A9D-B033A9DBA9B7}"/>
              </a:ext>
            </a:extLst>
          </p:cNvPr>
          <p:cNvSpPr/>
          <p:nvPr/>
        </p:nvSpPr>
        <p:spPr bwMode="auto">
          <a:xfrm>
            <a:off x="5590591" y="1225832"/>
            <a:ext cx="503176" cy="13848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B4C869E5-6816-9526-DB6C-F96E2BCF60F0}"/>
              </a:ext>
            </a:extLst>
          </p:cNvPr>
          <p:cNvCxnSpPr>
            <a:cxnSpLocks/>
          </p:cNvCxnSpPr>
          <p:nvPr/>
        </p:nvCxnSpPr>
        <p:spPr bwMode="auto">
          <a:xfrm flipH="1">
            <a:off x="7777146" y="6300391"/>
            <a:ext cx="537549" cy="90939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39B7A679-897A-6553-65E7-B1112B34C431}"/>
              </a:ext>
            </a:extLst>
          </p:cNvPr>
          <p:cNvCxnSpPr>
            <a:cxnSpLocks/>
          </p:cNvCxnSpPr>
          <p:nvPr/>
        </p:nvCxnSpPr>
        <p:spPr bwMode="auto">
          <a:xfrm flipH="1">
            <a:off x="7266937" y="5472130"/>
            <a:ext cx="1008001" cy="859565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DB8A30FC-B6C7-8ED7-B6FE-F49972BD8B8B}"/>
              </a:ext>
            </a:extLst>
          </p:cNvPr>
          <p:cNvSpPr/>
          <p:nvPr/>
        </p:nvSpPr>
        <p:spPr bwMode="auto">
          <a:xfrm>
            <a:off x="7360648" y="6364141"/>
            <a:ext cx="411414" cy="192018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190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7CC51-E339-24B6-EC7F-14EA6805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FE7E6A5-EC20-D558-CF71-1D2741CCF3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86DE29-72E1-519F-B5D5-9BB3DE5BC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de-DE"/>
          </a:p>
        </p:txBody>
      </p: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EC2B2234-11C0-35E9-7281-C3737685A3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7CD714-8341-4FF2-AA85-E345444355E9}" type="datetime1">
              <a:rPr lang="de-DE" smtClean="0"/>
              <a:t>21.02.2026</a:t>
            </a:fld>
            <a:endParaRPr lang="de-DE"/>
          </a:p>
        </p:txBody>
      </p:sp>
      <p:sp>
        <p:nvSpPr>
          <p:cNvPr id="7" name="Titel 2">
            <a:extLst>
              <a:ext uri="{FF2B5EF4-FFF2-40B4-BE49-F238E27FC236}">
                <a16:creationId xmlns:a16="http://schemas.microsoft.com/office/drawing/2014/main" id="{781EA1D5-5893-F538-0DD6-6448B084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1DD4CA0-3586-0E5F-FAFB-61026618353D}"/>
              </a:ext>
            </a:extLst>
          </p:cNvPr>
          <p:cNvSpPr txBox="1"/>
          <p:nvPr/>
        </p:nvSpPr>
        <p:spPr bwMode="auto">
          <a:xfrm>
            <a:off x="7478258" y="4140127"/>
            <a:ext cx="61010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1200">
                <a:solidFill>
                  <a:schemeClr val="bg1"/>
                </a:solidFill>
              </a:rPr>
              <a:t>[3] </a:t>
            </a:r>
            <a:endParaRPr lang="en-GB" sz="1200">
              <a:solidFill>
                <a:schemeClr val="bg1"/>
              </a:solidFill>
            </a:endParaRPr>
          </a:p>
        </p:txBody>
      </p:sp>
      <p:graphicFrame>
        <p:nvGraphicFramePr>
          <p:cNvPr id="30" name="Table 24">
            <a:extLst>
              <a:ext uri="{FF2B5EF4-FFF2-40B4-BE49-F238E27FC236}">
                <a16:creationId xmlns:a16="http://schemas.microsoft.com/office/drawing/2014/main" id="{E0B5284E-630B-20A4-7C79-F185B8E927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8310529"/>
              </p:ext>
            </p:extLst>
          </p:nvPr>
        </p:nvGraphicFramePr>
        <p:xfrm>
          <a:off x="5454000" y="1200000"/>
          <a:ext cx="6037677" cy="5035218"/>
        </p:xfrm>
        <a:graphic>
          <a:graphicData uri="http://schemas.openxmlformats.org/drawingml/2006/table">
            <a:tbl>
              <a:tblPr firstRow="1" bandRow="1"/>
              <a:tblGrid>
                <a:gridCol w="694983">
                  <a:extLst>
                    <a:ext uri="{9D8B030D-6E8A-4147-A177-3AD203B41FA5}">
                      <a16:colId xmlns:a16="http://schemas.microsoft.com/office/drawing/2014/main" val="1857791330"/>
                    </a:ext>
                  </a:extLst>
                </a:gridCol>
                <a:gridCol w="4684978">
                  <a:extLst>
                    <a:ext uri="{9D8B030D-6E8A-4147-A177-3AD203B41FA5}">
                      <a16:colId xmlns:a16="http://schemas.microsoft.com/office/drawing/2014/main" val="620299569"/>
                    </a:ext>
                  </a:extLst>
                </a:gridCol>
                <a:gridCol w="657716">
                  <a:extLst>
                    <a:ext uri="{9D8B030D-6E8A-4147-A177-3AD203B41FA5}">
                      <a16:colId xmlns:a16="http://schemas.microsoft.com/office/drawing/2014/main" val="1172101712"/>
                    </a:ext>
                  </a:extLst>
                </a:gridCol>
              </a:tblGrid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Start </a:t>
                      </a:r>
                      <a:r>
                        <a:rPr lang="en-US" sz="1600" b="1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mit</a:t>
                      </a:r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1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Experimentieren</a:t>
                      </a:r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:</a:t>
                      </a:r>
                      <a:endParaRPr lang="de-DE" b="1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Erkenntnisse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anhand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eines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Custom CNN 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16587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Problematik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Imbalanced Datasets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955894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1: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Augmentation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045840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 2: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Class Weights</a:t>
                      </a:r>
                      <a:endParaRPr lang="de-DE" b="1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83214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tx1"/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Modell-Tuning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550306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06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Confusion matrix 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100306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07</a:t>
                      </a:r>
                      <a:endParaRPr lang="de-DE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A: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Classifier Ensemble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072433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08</a:t>
                      </a:r>
                      <a:endParaRPr lang="de-DE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B: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2-Head-Classifier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0074"/>
                  </a:ext>
                </a:extLst>
              </a:tr>
              <a:tr h="523573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Pretrained Models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Vergleich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3-Head-Classifier vs 3 </a:t>
                      </a: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Einzelmodelle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927458"/>
                  </a:ext>
                </a:extLst>
              </a:tr>
            </a:tbl>
          </a:graphicData>
        </a:graphic>
      </p:graphicFrame>
      <p:pic>
        <p:nvPicPr>
          <p:cNvPr id="3" name="Grafik 2" descr="Ein Bild, das Im Haus, Computer, Tisch, Computertastatur enthält.&#10;&#10;KI-generierte Inhalte können fehlerhaft sein.">
            <a:extLst>
              <a:ext uri="{FF2B5EF4-FFF2-40B4-BE49-F238E27FC236}">
                <a16:creationId xmlns:a16="http://schemas.microsoft.com/office/drawing/2014/main" id="{2474DB29-CE14-52E2-CFCB-01348531D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9" y="1245703"/>
            <a:ext cx="4239558" cy="430695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20C70142-6BE4-EE1F-B1E7-A598D630F20F}"/>
              </a:ext>
            </a:extLst>
          </p:cNvPr>
          <p:cNvSpPr txBox="1"/>
          <p:nvPr/>
        </p:nvSpPr>
        <p:spPr bwMode="auto">
          <a:xfrm>
            <a:off x="775251" y="5552660"/>
            <a:ext cx="1961321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050" kern="0">
                <a:solidFill>
                  <a:srgbClr val="7F7F7F"/>
                </a:solidFill>
                <a:latin typeface="Arial"/>
                <a:cs typeface="Arial"/>
              </a:rPr>
              <a:t>Generiert mit Nano </a:t>
            </a:r>
            <a:r>
              <a:rPr lang="de-DE" sz="1050" kern="0" err="1">
                <a:solidFill>
                  <a:srgbClr val="7F7F7F"/>
                </a:solidFill>
                <a:latin typeface="Arial"/>
                <a:cs typeface="Arial"/>
              </a:rPr>
              <a:t>Banana</a:t>
            </a:r>
            <a:endParaRPr lang="de-DE" sz="1050" kern="0" err="1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598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66AEC-9EDA-B605-FE1D-28253D01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CF9120-D6B7-8720-F0EC-C3B07C285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47DE16-7264-A62F-CF46-CBFB5C3D6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de-DE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187FEFC7-AAC6-9A4B-8DF0-CCEF506671C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13DE5C1-F4A3-44AC-9D1F-B119038B09F5}" type="datetime1">
              <a:rPr lang="de-DE" smtClean="0"/>
              <a:t>21.02.2026</a:t>
            </a:fld>
            <a:endParaRPr lang="de-DE"/>
          </a:p>
        </p:txBody>
      </p:sp>
      <p:sp>
        <p:nvSpPr>
          <p:cNvPr id="10" name="Titel 2">
            <a:extLst>
              <a:ext uri="{FF2B5EF4-FFF2-40B4-BE49-F238E27FC236}">
                <a16:creationId xmlns:a16="http://schemas.microsoft.com/office/drawing/2014/main" id="{84253840-53B1-0B36-9C55-0C56531A6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/>
          <a:lstStyle/>
          <a:p>
            <a:r>
              <a:rPr lang="de-DE"/>
              <a:t>05 Modell-Tuning</a:t>
            </a:r>
            <a:endParaRPr lang="fr-FR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8E4439A-7A33-155F-9DE8-C631A6BCA85B}"/>
              </a:ext>
            </a:extLst>
          </p:cNvPr>
          <p:cNvSpPr txBox="1"/>
          <p:nvPr/>
        </p:nvSpPr>
        <p:spPr bwMode="auto">
          <a:xfrm>
            <a:off x="5470930" y="1262129"/>
            <a:ext cx="6228208" cy="5139869"/>
          </a:xfrm>
          <a:prstGeom prst="rect">
            <a:avLst/>
          </a:prstGeom>
          <a:solidFill>
            <a:schemeClr val="accent3"/>
          </a:solidFill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de-DE" b="1" kern="0" dirty="0">
                <a:solidFill>
                  <a:schemeClr val="tx1"/>
                </a:solidFill>
              </a:rPr>
              <a:t>Ergebnisse</a:t>
            </a:r>
            <a:endParaRPr lang="en-GB" b="1" kern="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800" b="1" dirty="0">
                <a:solidFill>
                  <a:schemeClr val="tx1"/>
                </a:solidFill>
              </a:rPr>
              <a:t>Tuning-Ergebnis: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  <a:endParaRPr lang="de-DE" sz="1800" kern="0" dirty="0">
              <a:solidFill>
                <a:schemeClr val="tx1"/>
              </a:solidFill>
              <a:cs typeface="Arial"/>
            </a:endParaRPr>
          </a:p>
          <a:p>
            <a:pPr lvl="1"/>
            <a:r>
              <a:rPr lang="de-DE" sz="1800" dirty="0">
                <a:solidFill>
                  <a:schemeClr val="tx1"/>
                </a:solidFill>
                <a:cs typeface="Arial"/>
              </a:rPr>
              <a:t>Vereinzelt führen folgende Hyperparameter zu einem besseren F1-Score als das Basismodell</a:t>
            </a:r>
          </a:p>
          <a:p>
            <a:pPr marL="800100" lvl="1" indent="-342900">
              <a:buFont typeface="Courier New" panose="05000000000000000000" pitchFamily="2" charset="2"/>
              <a:buChar char="o"/>
            </a:pPr>
            <a:r>
              <a:rPr lang="de-DE" sz="1800" dirty="0">
                <a:solidFill>
                  <a:schemeClr val="tx1"/>
                </a:solidFill>
              </a:rPr>
              <a:t>4 </a:t>
            </a:r>
            <a:r>
              <a:rPr lang="de-DE" sz="1800" dirty="0" err="1">
                <a:solidFill>
                  <a:schemeClr val="tx1"/>
                </a:solidFill>
              </a:rPr>
              <a:t>Conv</a:t>
            </a:r>
            <a:r>
              <a:rPr lang="de-DE" sz="1800" dirty="0">
                <a:solidFill>
                  <a:schemeClr val="tx1"/>
                </a:solidFill>
              </a:rPr>
              <a:t>-Blöcke</a:t>
            </a:r>
            <a:endParaRPr lang="de-DE" sz="1800" kern="0" dirty="0">
              <a:solidFill>
                <a:schemeClr val="tx1"/>
              </a:solidFill>
            </a:endParaRPr>
          </a:p>
          <a:p>
            <a:pPr marL="800100" lvl="1" indent="-342900">
              <a:buFont typeface="Courier New" panose="05000000000000000000" pitchFamily="2" charset="2"/>
              <a:buChar char="o"/>
            </a:pPr>
            <a:r>
              <a:rPr lang="de-DE" sz="1800" kern="0" dirty="0" err="1">
                <a:solidFill>
                  <a:schemeClr val="tx1"/>
                </a:solidFill>
                <a:cs typeface="Arial"/>
              </a:rPr>
              <a:t>Dense</a:t>
            </a:r>
            <a:r>
              <a:rPr lang="de-DE" sz="1800" kern="0" dirty="0">
                <a:solidFill>
                  <a:schemeClr val="tx1"/>
                </a:solidFill>
                <a:cs typeface="Arial"/>
              </a:rPr>
              <a:t>-Layer von 128 </a:t>
            </a:r>
          </a:p>
          <a:p>
            <a:endParaRPr lang="de-DE" sz="1800">
              <a:solidFill>
                <a:schemeClr val="tx1"/>
              </a:solidFill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800" kern="0" dirty="0">
                <a:solidFill>
                  <a:sysClr val="windowText" lastClr="000000"/>
                </a:solidFill>
                <a:cs typeface="Arial"/>
              </a:rPr>
              <a:t>Wir haben uns dazu entschieden, für das getunte Modell das Basismodell mit beiden Hyperparameter zu verwenden.</a:t>
            </a:r>
          </a:p>
          <a:p>
            <a:pPr marL="342900" indent="-342900">
              <a:buFont typeface="Calibri"/>
              <a:buChar char="-"/>
            </a:pPr>
            <a:endParaRPr lang="de-DE" kern="0">
              <a:solidFill>
                <a:sysClr val="windowText" lastClr="000000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endParaRPr lang="de-DE" kern="0">
              <a:solidFill>
                <a:sysClr val="windowText" lastClr="000000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endParaRPr lang="de-DE" kern="0">
              <a:solidFill>
                <a:sysClr val="windowText" lastClr="000000"/>
              </a:solidFill>
              <a:cs typeface="Arial"/>
            </a:endParaRPr>
          </a:p>
          <a:p>
            <a:endParaRPr lang="de-DE" kern="0">
              <a:solidFill>
                <a:sysClr val="windowText" lastClr="000000"/>
              </a:solidFill>
              <a:cs typeface="Arial"/>
            </a:endParaRPr>
          </a:p>
          <a:p>
            <a:endParaRPr lang="de-DE" kern="0">
              <a:solidFill>
                <a:sysClr val="windowText" lastClr="000000"/>
              </a:solidFill>
              <a:cs typeface="Arial"/>
            </a:endParaRPr>
          </a:p>
          <a:p>
            <a:endParaRPr lang="de-DE" kern="0">
              <a:solidFill>
                <a:sysClr val="windowText" lastClr="000000"/>
              </a:solidFill>
              <a:cs typeface="Arial"/>
            </a:endParaRPr>
          </a:p>
          <a:p>
            <a:endParaRPr lang="de-DE" kern="0">
              <a:solidFill>
                <a:sysClr val="windowText" lastClr="000000"/>
              </a:solidFill>
              <a:cs typeface="Arial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9E7E314-D3D6-B683-61D0-C96C3E0CB9D6}"/>
              </a:ext>
            </a:extLst>
          </p:cNvPr>
          <p:cNvSpPr/>
          <p:nvPr/>
        </p:nvSpPr>
        <p:spPr bwMode="auto">
          <a:xfrm>
            <a:off x="551384" y="1262129"/>
            <a:ext cx="4533363" cy="51427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r>
              <a:rPr lang="de-DE" b="1" kern="0">
                <a:solidFill>
                  <a:sysClr val="windowText" lastClr="000000"/>
                </a:solidFill>
              </a:rPr>
              <a:t>Tuning Übersicht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800" kern="0">
                <a:solidFill>
                  <a:schemeClr val="tx1"/>
                </a:solidFill>
              </a:rPr>
              <a:t>Tuning des einfachen CNNs</a:t>
            </a:r>
            <a:endParaRPr lang="de-DE" sz="1800" kern="0">
              <a:solidFill>
                <a:schemeClr val="tx1"/>
              </a:solidFill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800" kern="0">
                <a:solidFill>
                  <a:schemeClr val="tx1"/>
                </a:solidFill>
              </a:rPr>
              <a:t>Erster Gedanke: Autotune mit Keras</a:t>
            </a:r>
            <a:endParaRPr lang="de-DE" sz="1800" kern="0">
              <a:solidFill>
                <a:schemeClr val="tx1"/>
              </a:solidFill>
              <a:cs typeface="Arial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de-DE" sz="1800" kern="0">
                <a:solidFill>
                  <a:schemeClr val="tx1"/>
                </a:solidFill>
                <a:cs typeface="Arial"/>
              </a:rPr>
              <a:t>Wir möchten 7 Hyperparameter untersuchen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de-DE" sz="1800" kern="0">
                <a:solidFill>
                  <a:schemeClr val="tx1"/>
                </a:solidFill>
                <a:cs typeface="Arial"/>
              </a:rPr>
              <a:t>Eine kombinatorische Hyperparametersuche würde zu einer hohen Anzahl an Trainings führen</a:t>
            </a:r>
            <a:endParaRPr lang="de-DE" sz="1800" kern="0">
              <a:solidFill>
                <a:schemeClr val="tx1"/>
              </a:solidFill>
            </a:endParaRPr>
          </a:p>
          <a:p>
            <a:pPr indent="-457200">
              <a:buFont typeface="Wingdings" panose="05000000000000000000" pitchFamily="2" charset="2"/>
              <a:buChar char="Ø"/>
            </a:pPr>
            <a:r>
              <a:rPr lang="de-DE" sz="1800" kern="0">
                <a:solidFill>
                  <a:schemeClr val="tx1"/>
                </a:solidFill>
                <a:cs typeface="Arial"/>
              </a:rPr>
              <a:t>Lösung: </a:t>
            </a:r>
          </a:p>
          <a:p>
            <a:pPr lvl="2" indent="-457200">
              <a:buFont typeface="Wingdings" panose="05000000000000000000" pitchFamily="2" charset="2"/>
              <a:buChar char="§"/>
            </a:pPr>
            <a:r>
              <a:rPr lang="de-DE" sz="1800" kern="0">
                <a:solidFill>
                  <a:schemeClr val="tx1"/>
                </a:solidFill>
                <a:cs typeface="Arial"/>
              </a:rPr>
              <a:t>Wir passen immer nur 1nen Hyperparameter an </a:t>
            </a:r>
            <a:endParaRPr lang="de-DE">
              <a:solidFill>
                <a:schemeClr val="tx1"/>
              </a:solidFill>
              <a:cs typeface="Arial"/>
            </a:endParaRPr>
          </a:p>
          <a:p>
            <a:pPr lvl="2" indent="-457200">
              <a:buFont typeface="Wingdings" panose="05000000000000000000" pitchFamily="2" charset="2"/>
              <a:buChar char="§"/>
            </a:pPr>
            <a:r>
              <a:rPr lang="de-DE" sz="1800" kern="0">
                <a:solidFill>
                  <a:schemeClr val="tx1"/>
                </a:solidFill>
                <a:cs typeface="Arial"/>
              </a:rPr>
              <a:t>Pro Durchlauf Vergleich des Modells mit dem Basismodell</a:t>
            </a:r>
            <a:endParaRPr lang="de-DE">
              <a:solidFill>
                <a:schemeClr val="tx1"/>
              </a:solidFill>
              <a:cs typeface="Arial"/>
            </a:endParaRPr>
          </a:p>
          <a:p>
            <a:pPr lvl="2" indent="-457200">
              <a:buFont typeface="Wingdings" panose="05000000000000000000" pitchFamily="2" charset="2"/>
              <a:buChar char="§"/>
            </a:pPr>
            <a:r>
              <a:rPr lang="de-DE" sz="1800" kern="0">
                <a:solidFill>
                  <a:schemeClr val="tx1"/>
                </a:solidFill>
              </a:rPr>
              <a:t>Beschränkung auf 15 Epochen</a:t>
            </a:r>
            <a:endParaRPr lang="de-DE" sz="1800" kern="0">
              <a:solidFill>
                <a:schemeClr val="tx1"/>
              </a:solidFill>
              <a:cs typeface="Arial"/>
            </a:endParaRPr>
          </a:p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" name="Image 0" descr="/mnt/data/extracted_imgs/cell161_0.png">
            <a:extLst>
              <a:ext uri="{FF2B5EF4-FFF2-40B4-BE49-F238E27FC236}">
                <a16:creationId xmlns:a16="http://schemas.microsoft.com/office/drawing/2014/main" id="{42593C34-8B3F-8597-11A3-52112EC17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364440"/>
            <a:ext cx="5002058" cy="186318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D53D28AB-59DD-A38B-1B64-14FE33D38EAA}"/>
              </a:ext>
            </a:extLst>
          </p:cNvPr>
          <p:cNvSpPr/>
          <p:nvPr/>
        </p:nvSpPr>
        <p:spPr bwMode="auto">
          <a:xfrm>
            <a:off x="6097600" y="4931480"/>
            <a:ext cx="5000800" cy="260400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Pfeil: nach rechts gekrümmt 4">
            <a:extLst>
              <a:ext uri="{FF2B5EF4-FFF2-40B4-BE49-F238E27FC236}">
                <a16:creationId xmlns:a16="http://schemas.microsoft.com/office/drawing/2014/main" id="{68AF628F-6CDE-4A93-A4DD-EE225450BC0E}"/>
              </a:ext>
            </a:extLst>
          </p:cNvPr>
          <p:cNvSpPr/>
          <p:nvPr/>
        </p:nvSpPr>
        <p:spPr bwMode="auto">
          <a:xfrm>
            <a:off x="5579115" y="5213799"/>
            <a:ext cx="389520" cy="772152"/>
          </a:xfrm>
          <a:prstGeom prst="curvedRight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/>
            </a:endParaRPr>
          </a:p>
        </p:txBody>
      </p:sp>
      <p:sp>
        <p:nvSpPr>
          <p:cNvPr id="8" name="Pfeil: nach rechts gekrümmt 7">
            <a:extLst>
              <a:ext uri="{FF2B5EF4-FFF2-40B4-BE49-F238E27FC236}">
                <a16:creationId xmlns:a16="http://schemas.microsoft.com/office/drawing/2014/main" id="{4DE7F0D2-16D9-23E2-0746-0C1E46D02299}"/>
              </a:ext>
            </a:extLst>
          </p:cNvPr>
          <p:cNvSpPr/>
          <p:nvPr/>
        </p:nvSpPr>
        <p:spPr bwMode="auto">
          <a:xfrm flipV="1">
            <a:off x="5579115" y="4539951"/>
            <a:ext cx="389520" cy="547848"/>
          </a:xfrm>
          <a:prstGeom prst="curvedRightArrow">
            <a:avLst/>
          </a:prstGeom>
          <a:solidFill>
            <a:srgbClr val="00B050"/>
          </a:solidFill>
          <a:ln w="9525" cap="flat" cmpd="sng" algn="ctr">
            <a:solidFill>
              <a:srgbClr val="CBF1D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4194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97340-EC65-9E09-319A-B0A1611A7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1DA4167-3050-12BC-A2B0-45058A785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7B0CB6-119C-330D-8905-926C4B590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de-DE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1B031255-82B9-1EC6-211A-8C6E15CAECA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13DE5C1-F4A3-44AC-9D1F-B119038B09F5}" type="datetime1">
              <a:rPr lang="de-DE" smtClean="0"/>
              <a:t>21.02.2026</a:t>
            </a:fld>
            <a:endParaRPr lang="de-DE"/>
          </a:p>
        </p:txBody>
      </p:sp>
      <p:sp>
        <p:nvSpPr>
          <p:cNvPr id="10" name="Titel 2">
            <a:extLst>
              <a:ext uri="{FF2B5EF4-FFF2-40B4-BE49-F238E27FC236}">
                <a16:creationId xmlns:a16="http://schemas.microsoft.com/office/drawing/2014/main" id="{294B57D7-442A-2764-A1E7-4EC7FF17B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/>
          <a:lstStyle/>
          <a:p>
            <a:r>
              <a:rPr lang="de-DE"/>
              <a:t>05 Modell-Tuning</a:t>
            </a:r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3C0E00-23DA-33D0-493E-68AAAEF1E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1" r="-201" b="123"/>
          <a:stretch>
            <a:fillRect/>
          </a:stretch>
        </p:blipFill>
        <p:spPr bwMode="auto">
          <a:xfrm>
            <a:off x="7074547" y="1183598"/>
            <a:ext cx="3310181" cy="523729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fik 8" descr="Ein Bild, das Text, Karte Menü, Screenshot, Dokument enthält.&#10;&#10;KI-generierte Inhalte können fehlerhaft sein.">
            <a:extLst>
              <a:ext uri="{FF2B5EF4-FFF2-40B4-BE49-F238E27FC236}">
                <a16:creationId xmlns:a16="http://schemas.microsoft.com/office/drawing/2014/main" id="{42B2E12C-4347-A9FF-70EB-015A9E71C5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" r="37"/>
          <a:stretch>
            <a:fillRect/>
          </a:stretch>
        </p:blipFill>
        <p:spPr>
          <a:xfrm>
            <a:off x="1567744" y="1255690"/>
            <a:ext cx="3549711" cy="51885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A05924DB-B7CD-C7B7-A28D-ADFACC766299}"/>
              </a:ext>
            </a:extLst>
          </p:cNvPr>
          <p:cNvSpPr txBox="1"/>
          <p:nvPr/>
        </p:nvSpPr>
        <p:spPr bwMode="auto">
          <a:xfrm>
            <a:off x="7875431" y="798490"/>
            <a:ext cx="91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de-DE" sz="1800" b="1" kern="0"/>
              <a:t>Getuntes Modell</a:t>
            </a:r>
            <a:endParaRPr lang="en-GB" sz="1800" b="1" kern="0" err="1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EB3D2DB-2264-4971-5237-BF539CBF14DF}"/>
              </a:ext>
            </a:extLst>
          </p:cNvPr>
          <p:cNvSpPr txBox="1"/>
          <p:nvPr/>
        </p:nvSpPr>
        <p:spPr bwMode="auto">
          <a:xfrm>
            <a:off x="2316050" y="798490"/>
            <a:ext cx="91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de-DE" sz="1800" b="1" kern="0" err="1"/>
              <a:t>Ungetuntes</a:t>
            </a:r>
            <a:r>
              <a:rPr lang="de-DE" sz="1800" b="1" kern="0"/>
              <a:t> Modell</a:t>
            </a:r>
            <a:endParaRPr lang="en-GB" sz="1800" b="1" kern="0" err="1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51FFD6A-77C3-84FA-0DFA-F005B4FD4721}"/>
              </a:ext>
            </a:extLst>
          </p:cNvPr>
          <p:cNvSpPr/>
          <p:nvPr/>
        </p:nvSpPr>
        <p:spPr bwMode="auto">
          <a:xfrm>
            <a:off x="4219548" y="6228388"/>
            <a:ext cx="450761" cy="2159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B00CF53-C682-C80D-63A6-CA375F011D57}"/>
              </a:ext>
            </a:extLst>
          </p:cNvPr>
          <p:cNvSpPr/>
          <p:nvPr/>
        </p:nvSpPr>
        <p:spPr bwMode="auto">
          <a:xfrm>
            <a:off x="9536805" y="6228388"/>
            <a:ext cx="450761" cy="2159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6A28875B-6E43-9DDE-290F-FEE9074157DC}"/>
              </a:ext>
            </a:extLst>
          </p:cNvPr>
          <p:cNvCxnSpPr/>
          <p:nvPr/>
        </p:nvCxnSpPr>
        <p:spPr bwMode="auto">
          <a:xfrm flipH="1">
            <a:off x="4700789" y="5634507"/>
            <a:ext cx="785611" cy="521594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96D2A654-DA99-EE50-700A-D326771A4FF3}"/>
              </a:ext>
            </a:extLst>
          </p:cNvPr>
          <p:cNvCxnSpPr/>
          <p:nvPr/>
        </p:nvCxnSpPr>
        <p:spPr bwMode="auto">
          <a:xfrm flipH="1">
            <a:off x="9935634" y="5614966"/>
            <a:ext cx="785611" cy="521594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93C60DCA-F600-6B04-8A67-EE7479D07AD3}"/>
              </a:ext>
            </a:extLst>
          </p:cNvPr>
          <p:cNvSpPr/>
          <p:nvPr/>
        </p:nvSpPr>
        <p:spPr bwMode="auto">
          <a:xfrm>
            <a:off x="5557234" y="5286777"/>
            <a:ext cx="1030310" cy="5215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0,7746</a:t>
            </a: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578D829-F7BB-A4F5-ED53-D904C9A2A441}"/>
              </a:ext>
            </a:extLst>
          </p:cNvPr>
          <p:cNvSpPr/>
          <p:nvPr/>
        </p:nvSpPr>
        <p:spPr bwMode="auto">
          <a:xfrm>
            <a:off x="10657417" y="5262341"/>
            <a:ext cx="1315457" cy="5215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000" b="0" i="0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charset="0"/>
              </a:rPr>
              <a:t>0,801436</a:t>
            </a:r>
            <a:endParaRPr kumimoji="0" lang="en-GB" sz="2000" b="0" i="0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642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30B27-8784-B433-2D49-B049AC44F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40F953-3652-EF27-8685-6452A487B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840B59-90CC-712D-7FB2-22F893F5D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de-DE"/>
          </a:p>
        </p:txBody>
      </p: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4802F3BB-233A-FBA9-1E15-E76515D1D66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7CD714-8341-4FF2-AA85-E345444355E9}" type="datetime1">
              <a:rPr lang="de-DE" smtClean="0"/>
              <a:t>21.02.2026</a:t>
            </a:fld>
            <a:endParaRPr lang="de-DE"/>
          </a:p>
        </p:txBody>
      </p:sp>
      <p:sp>
        <p:nvSpPr>
          <p:cNvPr id="7" name="Titel 2">
            <a:extLst>
              <a:ext uri="{FF2B5EF4-FFF2-40B4-BE49-F238E27FC236}">
                <a16:creationId xmlns:a16="http://schemas.microsoft.com/office/drawing/2014/main" id="{3E29FA97-63A0-CEBE-F845-EA85E45F9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9647248-A78E-C7E3-47C2-2E67F9751450}"/>
              </a:ext>
            </a:extLst>
          </p:cNvPr>
          <p:cNvSpPr txBox="1"/>
          <p:nvPr/>
        </p:nvSpPr>
        <p:spPr bwMode="auto">
          <a:xfrm>
            <a:off x="7478258" y="4140127"/>
            <a:ext cx="61010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1200">
                <a:solidFill>
                  <a:schemeClr val="bg1"/>
                </a:solidFill>
              </a:rPr>
              <a:t>[3] </a:t>
            </a:r>
            <a:endParaRPr lang="en-GB" sz="1200">
              <a:solidFill>
                <a:schemeClr val="bg1"/>
              </a:solidFill>
            </a:endParaRPr>
          </a:p>
        </p:txBody>
      </p:sp>
      <p:graphicFrame>
        <p:nvGraphicFramePr>
          <p:cNvPr id="30" name="Table 24">
            <a:extLst>
              <a:ext uri="{FF2B5EF4-FFF2-40B4-BE49-F238E27FC236}">
                <a16:creationId xmlns:a16="http://schemas.microsoft.com/office/drawing/2014/main" id="{FA8618E1-1BFA-DF06-A079-630A6DE090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5675249"/>
              </p:ext>
            </p:extLst>
          </p:nvPr>
        </p:nvGraphicFramePr>
        <p:xfrm>
          <a:off x="5454000" y="1200000"/>
          <a:ext cx="6037677" cy="5035218"/>
        </p:xfrm>
        <a:graphic>
          <a:graphicData uri="http://schemas.openxmlformats.org/drawingml/2006/table">
            <a:tbl>
              <a:tblPr firstRow="1" bandRow="1"/>
              <a:tblGrid>
                <a:gridCol w="694983">
                  <a:extLst>
                    <a:ext uri="{9D8B030D-6E8A-4147-A177-3AD203B41FA5}">
                      <a16:colId xmlns:a16="http://schemas.microsoft.com/office/drawing/2014/main" val="1857791330"/>
                    </a:ext>
                  </a:extLst>
                </a:gridCol>
                <a:gridCol w="4684978">
                  <a:extLst>
                    <a:ext uri="{9D8B030D-6E8A-4147-A177-3AD203B41FA5}">
                      <a16:colId xmlns:a16="http://schemas.microsoft.com/office/drawing/2014/main" val="620299569"/>
                    </a:ext>
                  </a:extLst>
                </a:gridCol>
                <a:gridCol w="657716">
                  <a:extLst>
                    <a:ext uri="{9D8B030D-6E8A-4147-A177-3AD203B41FA5}">
                      <a16:colId xmlns:a16="http://schemas.microsoft.com/office/drawing/2014/main" val="1172101712"/>
                    </a:ext>
                  </a:extLst>
                </a:gridCol>
              </a:tblGrid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Start </a:t>
                      </a:r>
                      <a:r>
                        <a:rPr lang="en-US" sz="1600" b="1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mit</a:t>
                      </a:r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1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Experimentieren</a:t>
                      </a:r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:</a:t>
                      </a:r>
                      <a:endParaRPr lang="de-DE" b="1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Erkenntnisse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anhand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eines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Custom CNN 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16587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Problematik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Imbalanced Datasets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955894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1: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Augmentation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045840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 2: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Class Weights</a:t>
                      </a:r>
                      <a:endParaRPr lang="de-DE" b="1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83214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Modell-Tuning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550306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tx1"/>
                          </a:solidFill>
                          <a:latin typeface="+mj-lt"/>
                        </a:rPr>
                        <a:t>06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Confusion matrix 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100306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07</a:t>
                      </a:r>
                      <a:endParaRPr lang="de-DE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A: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Classifier Ensemble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072433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08</a:t>
                      </a:r>
                      <a:endParaRPr lang="de-DE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B: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2-Head-Classifier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0074"/>
                  </a:ext>
                </a:extLst>
              </a:tr>
              <a:tr h="523573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Pretrained Models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Vergleich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3-Head-Classifier vs 3 </a:t>
                      </a: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Einzelmodelle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927458"/>
                  </a:ext>
                </a:extLst>
              </a:tr>
            </a:tbl>
          </a:graphicData>
        </a:graphic>
      </p:graphicFrame>
      <p:pic>
        <p:nvPicPr>
          <p:cNvPr id="3" name="Grafik 2" descr="Ein Bild, das Im Haus, Computer, Tisch, Computertastatur enthält.&#10;&#10;KI-generierte Inhalte können fehlerhaft sein.">
            <a:extLst>
              <a:ext uri="{FF2B5EF4-FFF2-40B4-BE49-F238E27FC236}">
                <a16:creationId xmlns:a16="http://schemas.microsoft.com/office/drawing/2014/main" id="{6BB1402D-C447-8C05-1AF8-BCDC05D1E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9" y="1245703"/>
            <a:ext cx="4239558" cy="430695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C435CE2-31E6-7C6F-760A-50C245F9FF63}"/>
              </a:ext>
            </a:extLst>
          </p:cNvPr>
          <p:cNvSpPr txBox="1"/>
          <p:nvPr/>
        </p:nvSpPr>
        <p:spPr bwMode="auto">
          <a:xfrm>
            <a:off x="775251" y="5552660"/>
            <a:ext cx="1961321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050" kern="0">
                <a:solidFill>
                  <a:srgbClr val="7F7F7F"/>
                </a:solidFill>
                <a:latin typeface="Arial"/>
                <a:cs typeface="Arial"/>
              </a:rPr>
              <a:t>Generiert mit Nano </a:t>
            </a:r>
            <a:r>
              <a:rPr lang="de-DE" sz="1050" kern="0" err="1">
                <a:solidFill>
                  <a:srgbClr val="7F7F7F"/>
                </a:solidFill>
                <a:latin typeface="Arial"/>
                <a:cs typeface="Arial"/>
              </a:rPr>
              <a:t>Banana</a:t>
            </a:r>
            <a:endParaRPr lang="de-DE" sz="1050" kern="0" err="1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47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A5219-779A-53B7-ACD5-B3883730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5675055-1A94-28AC-466D-73221B78C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27" y="753622"/>
            <a:ext cx="6581975" cy="5843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F5DC1C-B1B6-E6AB-A002-B06830CA7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Ruttmann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F3FCEF-B57F-2D3E-4BFA-C3FBD25BB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de-DE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49FE5086-9880-F3F6-13DF-0E5C3B20AF6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13DE5C1-F4A3-44AC-9D1F-B119038B09F5}" type="datetime1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21.02.2026</a:t>
            </a:fld>
            <a:endParaRPr lang="de-DE"/>
          </a:p>
        </p:txBody>
      </p:sp>
      <p:sp>
        <p:nvSpPr>
          <p:cNvPr id="10" name="Titel 2">
            <a:extLst>
              <a:ext uri="{FF2B5EF4-FFF2-40B4-BE49-F238E27FC236}">
                <a16:creationId xmlns:a16="http://schemas.microsoft.com/office/drawing/2014/main" id="{1A9D3E9A-0E84-F868-CFE6-449650A42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/>
          <a:lstStyle/>
          <a:p>
            <a:r>
              <a:rPr lang="de-DE"/>
              <a:t>06 </a:t>
            </a:r>
            <a:r>
              <a:rPr lang="de-DE" err="1"/>
              <a:t>Confusion</a:t>
            </a:r>
            <a:r>
              <a:rPr lang="de-DE"/>
              <a:t> Matrix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C3C24E28-3FA8-6444-C659-A9BD08EC71C7}"/>
              </a:ext>
            </a:extLst>
          </p:cNvPr>
          <p:cNvCxnSpPr/>
          <p:nvPr/>
        </p:nvCxnSpPr>
        <p:spPr bwMode="auto">
          <a:xfrm>
            <a:off x="6650937" y="4307570"/>
            <a:ext cx="4893972" cy="0"/>
          </a:xfrm>
          <a:prstGeom prst="line">
            <a:avLst/>
          </a:prstGeom>
          <a:solidFill>
            <a:schemeClr val="bg2"/>
          </a:solidFill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3137D3D5-6D45-59FF-1F60-1095CDF062FE}"/>
              </a:ext>
            </a:extLst>
          </p:cNvPr>
          <p:cNvSpPr txBox="1"/>
          <p:nvPr/>
        </p:nvSpPr>
        <p:spPr bwMode="auto">
          <a:xfrm>
            <a:off x="6650937" y="3953399"/>
            <a:ext cx="1687132" cy="418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de-DE" b="1" kern="0"/>
              <a:t>Takeaways</a:t>
            </a:r>
            <a:endParaRPr lang="en-GB" b="1" kern="0" err="1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B017D16-EDDB-6F23-C88A-69727546FCEE}"/>
              </a:ext>
            </a:extLst>
          </p:cNvPr>
          <p:cNvSpPr txBox="1"/>
          <p:nvPr/>
        </p:nvSpPr>
        <p:spPr bwMode="auto">
          <a:xfrm>
            <a:off x="6671257" y="4494311"/>
            <a:ext cx="5029199" cy="2617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600" kern="0" dirty="0">
                <a:latin typeface="Arial"/>
                <a:cs typeface="Arial"/>
              </a:rPr>
              <a:t>Dominante Diagonale → Kategorien meist </a:t>
            </a:r>
            <a:br>
              <a:rPr lang="de-DE" sz="1600" kern="0" dirty="0"/>
            </a:br>
            <a:r>
              <a:rPr lang="de-DE" sz="1600" kern="0" dirty="0">
                <a:latin typeface="Arial"/>
                <a:cs typeface="Arial"/>
              </a:rPr>
              <a:t>korrekt vorhergesagt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600" kern="0" dirty="0">
                <a:latin typeface="Arial"/>
                <a:cs typeface="Arial"/>
              </a:rPr>
              <a:t>Fehler liegen oft innerhalb einer Produkt-</a:t>
            </a:r>
            <a:br>
              <a:rPr lang="de-DE" sz="1600" kern="0" dirty="0"/>
            </a:br>
            <a:r>
              <a:rPr lang="de-DE" sz="1600" kern="0" dirty="0" err="1">
                <a:latin typeface="Arial"/>
                <a:cs typeface="Arial"/>
              </a:rPr>
              <a:t>kategorie</a:t>
            </a:r>
            <a:r>
              <a:rPr lang="de-DE" sz="1600" kern="0" dirty="0">
                <a:latin typeface="Arial"/>
                <a:cs typeface="Arial"/>
              </a:rPr>
              <a:t> (IO ↔ NIO)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600" kern="0" dirty="0">
                <a:latin typeface="Arial"/>
                <a:cs typeface="Arial"/>
              </a:rPr>
              <a:t>Hauptursache: wenige NIO-Beispiele </a:t>
            </a:r>
          </a:p>
          <a:p>
            <a:pPr lvl="1"/>
            <a:r>
              <a:rPr lang="de-DE" sz="1600" kern="0" dirty="0">
                <a:latin typeface="Arial"/>
                <a:cs typeface="Arial"/>
              </a:rPr>
              <a:t>im Ursprungsdatenset </a:t>
            </a:r>
            <a:br>
              <a:rPr lang="de-DE" sz="1600" kern="0" dirty="0"/>
            </a:br>
            <a:r>
              <a:rPr lang="de-DE" sz="1600" kern="0" dirty="0">
                <a:latin typeface="Arial"/>
                <a:cs typeface="Arial"/>
              </a:rPr>
              <a:t>→ unsicherere Entscheidungen</a:t>
            </a:r>
            <a:endParaRPr lang="de-DE" sz="1600" dirty="0">
              <a:cs typeface="Arial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1600" kern="0"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1600" kern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1600" kern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4C69F08-7D95-F524-4A07-5F12174839F1}"/>
              </a:ext>
            </a:extLst>
          </p:cNvPr>
          <p:cNvSpPr/>
          <p:nvPr/>
        </p:nvSpPr>
        <p:spPr bwMode="auto">
          <a:xfrm>
            <a:off x="2399013" y="2626072"/>
            <a:ext cx="346889" cy="33177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F375A19-5704-1832-8CA9-94D51646FF13}"/>
              </a:ext>
            </a:extLst>
          </p:cNvPr>
          <p:cNvSpPr/>
          <p:nvPr/>
        </p:nvSpPr>
        <p:spPr bwMode="auto">
          <a:xfrm>
            <a:off x="3803560" y="4009623"/>
            <a:ext cx="324119" cy="34987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D4AD25A-DE1C-5F88-4FC0-D4BE054A4A9E}"/>
              </a:ext>
            </a:extLst>
          </p:cNvPr>
          <p:cNvCxnSpPr/>
          <p:nvPr/>
        </p:nvCxnSpPr>
        <p:spPr bwMode="auto">
          <a:xfrm flipH="1">
            <a:off x="2859110" y="2034862"/>
            <a:ext cx="1017431" cy="502276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57644DE9-9045-E216-8AD3-9B3B8D7537B3}"/>
              </a:ext>
            </a:extLst>
          </p:cNvPr>
          <p:cNvCxnSpPr>
            <a:cxnSpLocks/>
          </p:cNvCxnSpPr>
          <p:nvPr/>
        </p:nvCxnSpPr>
        <p:spPr bwMode="auto">
          <a:xfrm flipH="1">
            <a:off x="4127679" y="3623231"/>
            <a:ext cx="354169" cy="233561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5694D57B-E83E-F83D-FE90-53BBA297873F}"/>
              </a:ext>
            </a:extLst>
          </p:cNvPr>
          <p:cNvSpPr txBox="1"/>
          <p:nvPr/>
        </p:nvSpPr>
        <p:spPr bwMode="auto">
          <a:xfrm>
            <a:off x="3965619" y="1795507"/>
            <a:ext cx="135401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de-DE" sz="1600" kern="0">
                <a:highlight>
                  <a:srgbClr val="00FF00"/>
                </a:highlight>
                <a:latin typeface="Arial"/>
                <a:cs typeface="Arial"/>
              </a:rPr>
              <a:t>Gut:</a:t>
            </a:r>
            <a:r>
              <a:rPr lang="de-DE" sz="1600" kern="0">
                <a:highlight>
                  <a:srgbClr val="C0C0C0"/>
                </a:highlight>
                <a:latin typeface="Arial"/>
                <a:cs typeface="Arial"/>
              </a:rPr>
              <a:t> </a:t>
            </a:r>
            <a:r>
              <a:rPr lang="de-DE" sz="1600" kern="0" err="1">
                <a:highlight>
                  <a:srgbClr val="C0C0C0"/>
                </a:highlight>
                <a:latin typeface="Arial"/>
                <a:cs typeface="Arial"/>
              </a:rPr>
              <a:t>Hazelnut</a:t>
            </a:r>
            <a:endParaRPr lang="en-GB" sz="1600" kern="0" err="1">
              <a:highlight>
                <a:srgbClr val="C0C0C0"/>
              </a:highlight>
              <a:latin typeface="Arial"/>
              <a:cs typeface="Arial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CD5EA27-0053-BADC-EF2D-7064182862D7}"/>
              </a:ext>
            </a:extLst>
          </p:cNvPr>
          <p:cNvSpPr txBox="1"/>
          <p:nvPr/>
        </p:nvSpPr>
        <p:spPr bwMode="auto">
          <a:xfrm>
            <a:off x="4223733" y="3322339"/>
            <a:ext cx="1518138" cy="274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de-DE" sz="1600" kern="0">
                <a:solidFill>
                  <a:schemeClr val="bg1"/>
                </a:solidFill>
                <a:highlight>
                  <a:srgbClr val="FF0000"/>
                </a:highlight>
                <a:latin typeface="Arial"/>
                <a:cs typeface="Arial"/>
              </a:rPr>
              <a:t>Schlecht:</a:t>
            </a:r>
            <a:r>
              <a:rPr lang="de-DE" sz="1600" kern="0">
                <a:highlight>
                  <a:srgbClr val="C0C0C0"/>
                </a:highlight>
                <a:latin typeface="Arial"/>
                <a:cs typeface="Arial"/>
              </a:rPr>
              <a:t> </a:t>
            </a:r>
            <a:r>
              <a:rPr lang="de-DE" sz="1600" kern="0" err="1">
                <a:highlight>
                  <a:srgbClr val="C0C0C0"/>
                </a:highlight>
                <a:latin typeface="Arial"/>
                <a:cs typeface="Arial"/>
              </a:rPr>
              <a:t>Screw</a:t>
            </a:r>
            <a:endParaRPr lang="en-GB" sz="1600" kern="0">
              <a:highlight>
                <a:srgbClr val="C0C0C0"/>
              </a:highlight>
              <a:latin typeface="Arial"/>
              <a:cs typeface="Arial"/>
            </a:endParaRP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A1DFFA39-477B-5D33-1A8C-F2E3BDD86EB5}"/>
              </a:ext>
            </a:extLst>
          </p:cNvPr>
          <p:cNvCxnSpPr>
            <a:cxnSpLocks/>
          </p:cNvCxnSpPr>
          <p:nvPr/>
        </p:nvCxnSpPr>
        <p:spPr bwMode="auto">
          <a:xfrm>
            <a:off x="6671256" y="1122232"/>
            <a:ext cx="4893972" cy="0"/>
          </a:xfrm>
          <a:prstGeom prst="line">
            <a:avLst/>
          </a:prstGeom>
          <a:solidFill>
            <a:schemeClr val="bg2"/>
          </a:solidFill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468C26CA-33E3-71DA-2417-4E4541D9142B}"/>
              </a:ext>
            </a:extLst>
          </p:cNvPr>
          <p:cNvSpPr txBox="1"/>
          <p:nvPr/>
        </p:nvSpPr>
        <p:spPr bwMode="auto">
          <a:xfrm>
            <a:off x="6671256" y="798541"/>
            <a:ext cx="1687132" cy="418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de-DE" b="1" kern="0">
                <a:latin typeface="Arial"/>
                <a:cs typeface="Arial"/>
              </a:rPr>
              <a:t>Interpretierung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63F855E-8AB1-76CA-F058-322B66908D1E}"/>
              </a:ext>
            </a:extLst>
          </p:cNvPr>
          <p:cNvSpPr txBox="1"/>
          <p:nvPr/>
        </p:nvSpPr>
        <p:spPr bwMode="auto">
          <a:xfrm>
            <a:off x="6668521" y="1211671"/>
            <a:ext cx="4883812" cy="232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600" kern="0" dirty="0">
                <a:latin typeface="Arial"/>
                <a:cs typeface="Arial"/>
              </a:rPr>
              <a:t>Zeigt die Verwechslungen des Modells </a:t>
            </a:r>
            <a:br>
              <a:rPr lang="de-DE" sz="1600" kern="0" dirty="0">
                <a:latin typeface="Arial"/>
                <a:cs typeface="Arial"/>
              </a:rPr>
            </a:br>
            <a:r>
              <a:rPr lang="de-DE" sz="1600" kern="0" dirty="0">
                <a:latin typeface="Arial"/>
                <a:cs typeface="Arial"/>
              </a:rPr>
              <a:t>zwischen den Klassen</a:t>
            </a:r>
            <a:endParaRPr lang="de-DE" sz="1600" dirty="0">
              <a:cs typeface="Arial" charset="0"/>
            </a:endParaRPr>
          </a:p>
          <a:p>
            <a:endParaRPr lang="de-DE" sz="1600" kern="0">
              <a:latin typeface="Arial"/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600" kern="0" dirty="0">
                <a:latin typeface="Arial"/>
                <a:cs typeface="Arial"/>
              </a:rPr>
              <a:t>Zeile = True Label, </a:t>
            </a:r>
            <a:br>
              <a:rPr lang="de-DE" sz="1600" kern="0" dirty="0">
                <a:latin typeface="Arial"/>
                <a:cs typeface="Arial"/>
              </a:rPr>
            </a:br>
            <a:r>
              <a:rPr lang="de-DE" sz="1600" kern="0" dirty="0">
                <a:latin typeface="Arial"/>
                <a:cs typeface="Arial"/>
              </a:rPr>
              <a:t>Spalte = </a:t>
            </a:r>
            <a:r>
              <a:rPr lang="de-DE" sz="1600" kern="0" dirty="0" err="1">
                <a:latin typeface="Arial"/>
                <a:cs typeface="Arial"/>
              </a:rPr>
              <a:t>Predicted</a:t>
            </a:r>
            <a:r>
              <a:rPr lang="de-DE" sz="1600" kern="0" dirty="0">
                <a:latin typeface="Arial"/>
                <a:cs typeface="Arial"/>
              </a:rPr>
              <a:t> Label</a:t>
            </a:r>
          </a:p>
          <a:p>
            <a:endParaRPr lang="de-DE" sz="1600" kern="0">
              <a:latin typeface="Arial"/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600" kern="0" dirty="0">
                <a:latin typeface="Arial"/>
                <a:cs typeface="Arial"/>
              </a:rPr>
              <a:t>Normalisiert auf 0-1 </a:t>
            </a:r>
            <a:endParaRPr lang="de-DE" sz="1600" kern="0" dirty="0">
              <a:cs typeface="Arial"/>
            </a:endParaRPr>
          </a:p>
          <a:p>
            <a:endParaRPr lang="de-DE" sz="1600" kern="0">
              <a:cs typeface="Arial" charset="0"/>
            </a:endParaRPr>
          </a:p>
          <a:p>
            <a:r>
              <a:rPr lang="de-DE" sz="1600" kern="0" dirty="0">
                <a:latin typeface="Arial"/>
                <a:cs typeface="Arial"/>
              </a:rPr>
              <a:t>Bsp. </a:t>
            </a:r>
            <a:r>
              <a:rPr lang="de-DE" sz="1600" kern="0" dirty="0" err="1">
                <a:latin typeface="Arial"/>
                <a:cs typeface="Arial"/>
              </a:rPr>
              <a:t>Hazelnut</a:t>
            </a:r>
            <a:r>
              <a:rPr lang="de-DE" sz="1600" kern="0" dirty="0">
                <a:latin typeface="Arial"/>
                <a:cs typeface="Arial"/>
              </a:rPr>
              <a:t> IO Zeile:</a:t>
            </a:r>
            <a:endParaRPr lang="de-DE" sz="1600" kern="0" dirty="0">
              <a:cs typeface="Arial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600" kern="0" dirty="0">
                <a:latin typeface="Arial"/>
                <a:cs typeface="Arial"/>
              </a:rPr>
              <a:t>98 % werden auch als </a:t>
            </a:r>
            <a:r>
              <a:rPr lang="de-DE" sz="1600" kern="0" dirty="0" err="1">
                <a:latin typeface="Arial"/>
                <a:cs typeface="Arial"/>
              </a:rPr>
              <a:t>Hazelnut</a:t>
            </a:r>
            <a:r>
              <a:rPr lang="de-DE" sz="1600" kern="0" dirty="0">
                <a:latin typeface="Arial"/>
                <a:cs typeface="Arial"/>
              </a:rPr>
              <a:t> IO vorhergesagt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600" kern="0" dirty="0">
                <a:latin typeface="Arial"/>
                <a:cs typeface="Arial"/>
              </a:rPr>
              <a:t>2% werden aber als </a:t>
            </a:r>
            <a:r>
              <a:rPr lang="de-DE" sz="1600" kern="0" dirty="0" err="1">
                <a:latin typeface="Arial"/>
                <a:cs typeface="Arial"/>
              </a:rPr>
              <a:t>Hazelnut</a:t>
            </a:r>
            <a:r>
              <a:rPr lang="de-DE" sz="1600" kern="0" dirty="0">
                <a:latin typeface="Arial"/>
                <a:cs typeface="Arial"/>
              </a:rPr>
              <a:t> NIO vorhergesagt</a:t>
            </a:r>
            <a:endParaRPr lang="de-DE" sz="1600" kern="0" dirty="0">
              <a:cs typeface="Arial" charset="0"/>
            </a:endParaRPr>
          </a:p>
          <a:p>
            <a:pPr marL="342900" indent="-342900">
              <a:buFont typeface="Calibri" panose="05000000000000000000" pitchFamily="2" charset="2"/>
              <a:buChar char="-"/>
            </a:pPr>
            <a:endParaRPr lang="en-GB" sz="1600" kern="0">
              <a:cs typeface="Arial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7AF1539-74E8-614A-9F1B-4908B1BD85FB}"/>
              </a:ext>
            </a:extLst>
          </p:cNvPr>
          <p:cNvSpPr/>
          <p:nvPr/>
        </p:nvSpPr>
        <p:spPr bwMode="auto">
          <a:xfrm>
            <a:off x="2187996" y="4531071"/>
            <a:ext cx="212074" cy="16764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3E4C5B89-F848-E214-9A28-64919CC76009}"/>
              </a:ext>
            </a:extLst>
          </p:cNvPr>
          <p:cNvSpPr/>
          <p:nvPr/>
        </p:nvSpPr>
        <p:spPr bwMode="auto">
          <a:xfrm>
            <a:off x="1216505" y="4358991"/>
            <a:ext cx="978408" cy="484631"/>
          </a:xfrm>
          <a:prstGeom prst="rightArrow">
            <a:avLst/>
          </a:prstGeom>
          <a:solidFill>
            <a:srgbClr val="CCE1F0"/>
          </a:solidFill>
          <a:ln w="9525" cap="flat" cmpd="sng" algn="ctr">
            <a:solidFill>
              <a:schemeClr val="accent4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indent="-180975" algn="ctr"/>
            <a:r>
              <a:rPr lang="de-DE" sz="1200">
                <a:latin typeface="Arial"/>
                <a:cs typeface="Arial"/>
              </a:rPr>
              <a:t>tile NIO</a:t>
            </a:r>
            <a:endParaRPr kumimoji="0" lang="de-DE" sz="1200" b="0" i="0" u="none" strike="noStrike" cap="none" normalizeH="0" baseline="0">
              <a:ln>
                <a:noFill/>
              </a:ln>
              <a:effectLst/>
              <a:latin typeface="Arial"/>
            </a:endParaRPr>
          </a:p>
        </p:txBody>
      </p:sp>
      <p:sp>
        <p:nvSpPr>
          <p:cNvPr id="21" name="Pfeil: nach links 20">
            <a:extLst>
              <a:ext uri="{FF2B5EF4-FFF2-40B4-BE49-F238E27FC236}">
                <a16:creationId xmlns:a16="http://schemas.microsoft.com/office/drawing/2014/main" id="{8ED9E127-6AB8-1E51-A9E2-71F31767716D}"/>
              </a:ext>
            </a:extLst>
          </p:cNvPr>
          <p:cNvSpPr/>
          <p:nvPr/>
        </p:nvSpPr>
        <p:spPr bwMode="auto">
          <a:xfrm rot="2700000">
            <a:off x="2202985" y="4991961"/>
            <a:ext cx="1324239" cy="590138"/>
          </a:xfrm>
          <a:prstGeom prst="leftArrow">
            <a:avLst/>
          </a:prstGeom>
          <a:solidFill>
            <a:srgbClr val="CCE1F0"/>
          </a:solidFill>
          <a:ln w="9525" cap="flat" cmpd="sng" algn="ctr">
            <a:solidFill>
              <a:schemeClr val="accent4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180975" indent="-180975"/>
            <a:r>
              <a:rPr lang="de-DE" sz="800" b="1">
                <a:latin typeface="Arial"/>
                <a:cs typeface="Arial"/>
              </a:rPr>
              <a:t>wurde als "grid NIO"  predicted </a:t>
            </a:r>
            <a:endParaRPr lang="de-DE" sz="800" b="1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566D73C-48D2-5612-7C77-6F21EB77285D}"/>
              </a:ext>
            </a:extLst>
          </p:cNvPr>
          <p:cNvSpPr txBox="1"/>
          <p:nvPr/>
        </p:nvSpPr>
        <p:spPr bwMode="auto">
          <a:xfrm>
            <a:off x="1705158" y="4147953"/>
            <a:ext cx="136564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1400" kern="0">
                <a:highlight>
                  <a:srgbClr val="00FFFF"/>
                </a:highlight>
                <a:latin typeface="Arial"/>
                <a:cs typeface="Arial"/>
              </a:rPr>
              <a:t>"Ausrutscher":</a:t>
            </a:r>
            <a:endParaRPr lang="de-DE" sz="1400" kern="0">
              <a:highlight>
                <a:srgbClr val="00FFFF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4069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BB7FE-7591-1DC7-55E7-BDEE8D93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FA0D72-75F2-25BA-D2B4-5761D1E48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97B857-2C09-F3CE-4EFB-D054035C8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de-DE"/>
          </a:p>
        </p:txBody>
      </p: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5F603DBF-75C4-40C1-8661-BA4984C5661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7CD714-8341-4FF2-AA85-E345444355E9}" type="datetime1">
              <a:rPr lang="de-DE" smtClean="0"/>
              <a:t>21.02.2026</a:t>
            </a:fld>
            <a:endParaRPr lang="de-DE"/>
          </a:p>
        </p:txBody>
      </p:sp>
      <p:sp>
        <p:nvSpPr>
          <p:cNvPr id="7" name="Titel 2">
            <a:extLst>
              <a:ext uri="{FF2B5EF4-FFF2-40B4-BE49-F238E27FC236}">
                <a16:creationId xmlns:a16="http://schemas.microsoft.com/office/drawing/2014/main" id="{38667869-ED3A-FAF3-CA38-2B89AC0B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483AF49-9779-2452-776B-4E2895B01872}"/>
              </a:ext>
            </a:extLst>
          </p:cNvPr>
          <p:cNvSpPr txBox="1"/>
          <p:nvPr/>
        </p:nvSpPr>
        <p:spPr bwMode="auto">
          <a:xfrm>
            <a:off x="7478258" y="4140127"/>
            <a:ext cx="61010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1200">
                <a:solidFill>
                  <a:schemeClr val="bg1"/>
                </a:solidFill>
              </a:rPr>
              <a:t>[3] </a:t>
            </a:r>
            <a:endParaRPr lang="en-GB" sz="1200">
              <a:solidFill>
                <a:schemeClr val="bg1"/>
              </a:solidFill>
            </a:endParaRPr>
          </a:p>
        </p:txBody>
      </p:sp>
      <p:graphicFrame>
        <p:nvGraphicFramePr>
          <p:cNvPr id="30" name="Table 24">
            <a:extLst>
              <a:ext uri="{FF2B5EF4-FFF2-40B4-BE49-F238E27FC236}">
                <a16:creationId xmlns:a16="http://schemas.microsoft.com/office/drawing/2014/main" id="{E846C1B5-0168-C1CA-A4D4-92F57FCE64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8256664"/>
              </p:ext>
            </p:extLst>
          </p:nvPr>
        </p:nvGraphicFramePr>
        <p:xfrm>
          <a:off x="5454000" y="1200000"/>
          <a:ext cx="6037677" cy="5035218"/>
        </p:xfrm>
        <a:graphic>
          <a:graphicData uri="http://schemas.openxmlformats.org/drawingml/2006/table">
            <a:tbl>
              <a:tblPr firstRow="1" bandRow="1"/>
              <a:tblGrid>
                <a:gridCol w="694983">
                  <a:extLst>
                    <a:ext uri="{9D8B030D-6E8A-4147-A177-3AD203B41FA5}">
                      <a16:colId xmlns:a16="http://schemas.microsoft.com/office/drawing/2014/main" val="1857791330"/>
                    </a:ext>
                  </a:extLst>
                </a:gridCol>
                <a:gridCol w="4684978">
                  <a:extLst>
                    <a:ext uri="{9D8B030D-6E8A-4147-A177-3AD203B41FA5}">
                      <a16:colId xmlns:a16="http://schemas.microsoft.com/office/drawing/2014/main" val="620299569"/>
                    </a:ext>
                  </a:extLst>
                </a:gridCol>
                <a:gridCol w="657716">
                  <a:extLst>
                    <a:ext uri="{9D8B030D-6E8A-4147-A177-3AD203B41FA5}">
                      <a16:colId xmlns:a16="http://schemas.microsoft.com/office/drawing/2014/main" val="1172101712"/>
                    </a:ext>
                  </a:extLst>
                </a:gridCol>
              </a:tblGrid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Start </a:t>
                      </a:r>
                      <a:r>
                        <a:rPr lang="en-US" sz="1600" b="1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mit</a:t>
                      </a:r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1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Experimentieren</a:t>
                      </a:r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:</a:t>
                      </a:r>
                      <a:endParaRPr lang="de-DE" b="1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Erkenntnisse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anhand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eines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Custom CNN 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16587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Problematik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Imbalanced Datasets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955894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1: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Augmentation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045840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 2: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Class Weights</a:t>
                      </a:r>
                      <a:endParaRPr lang="de-DE" b="1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83214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Modell-Tuning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550306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06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Confusion matrix 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100306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07</a:t>
                      </a:r>
                      <a:endParaRPr lang="de-DE"/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A: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Classifier Ensemble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072433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08</a:t>
                      </a:r>
                      <a:endParaRPr lang="de-DE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B: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2-Head-Classifier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0074"/>
                  </a:ext>
                </a:extLst>
              </a:tr>
              <a:tr h="523573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Pretrained Models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Vergleich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3-Head-Classifier vs 3 </a:t>
                      </a: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Einzelmodelle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927458"/>
                  </a:ext>
                </a:extLst>
              </a:tr>
            </a:tbl>
          </a:graphicData>
        </a:graphic>
      </p:graphicFrame>
      <p:pic>
        <p:nvPicPr>
          <p:cNvPr id="3" name="Grafik 2" descr="Ein Bild, das Im Haus, Computer, Tisch, Computertastatur enthält.&#10;&#10;KI-generierte Inhalte können fehlerhaft sein.">
            <a:extLst>
              <a:ext uri="{FF2B5EF4-FFF2-40B4-BE49-F238E27FC236}">
                <a16:creationId xmlns:a16="http://schemas.microsoft.com/office/drawing/2014/main" id="{4BBEA671-0AA1-B928-B393-7151A0B18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9" y="1245703"/>
            <a:ext cx="4239558" cy="430695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254D5C6-797D-8C43-74B6-8A44816B0C54}"/>
              </a:ext>
            </a:extLst>
          </p:cNvPr>
          <p:cNvSpPr txBox="1"/>
          <p:nvPr/>
        </p:nvSpPr>
        <p:spPr bwMode="auto">
          <a:xfrm>
            <a:off x="775251" y="5552660"/>
            <a:ext cx="1961321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050" kern="0">
                <a:solidFill>
                  <a:srgbClr val="7F7F7F"/>
                </a:solidFill>
                <a:latin typeface="Arial"/>
                <a:cs typeface="Arial"/>
              </a:rPr>
              <a:t>Generiert mit Nano </a:t>
            </a:r>
            <a:r>
              <a:rPr lang="de-DE" sz="1050" kern="0" err="1">
                <a:solidFill>
                  <a:srgbClr val="7F7F7F"/>
                </a:solidFill>
                <a:latin typeface="Arial"/>
                <a:cs typeface="Arial"/>
              </a:rPr>
              <a:t>Banana</a:t>
            </a:r>
            <a:endParaRPr lang="de-DE" sz="1050" kern="0" err="1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158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ACABB-6A38-B9E6-DEB6-6FDF7385B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1A577BF-5F19-035D-523B-9A00069EC4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6CC6D4-3163-AFB5-8E71-EDD453915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de-DE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10197D8A-E636-253E-DFEC-587D0C3807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13DE5C1-F4A3-44AC-9D1F-B119038B09F5}" type="datetime1">
              <a:rPr lang="de-DE" smtClean="0"/>
              <a:t>21.02.2026</a:t>
            </a:fld>
            <a:endParaRPr lang="de-DE"/>
          </a:p>
        </p:txBody>
      </p:sp>
      <p:sp>
        <p:nvSpPr>
          <p:cNvPr id="10" name="Titel 2">
            <a:extLst>
              <a:ext uri="{FF2B5EF4-FFF2-40B4-BE49-F238E27FC236}">
                <a16:creationId xmlns:a16="http://schemas.microsoft.com/office/drawing/2014/main" id="{24A5182C-C373-EF93-DC89-2B1D2AE4E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>
            <a:normAutofit fontScale="90000"/>
          </a:bodyPr>
          <a:lstStyle/>
          <a:p>
            <a:r>
              <a:rPr lang="de-DE" noProof="0"/>
              <a:t>07 Variation A: </a:t>
            </a:r>
            <a:r>
              <a:rPr lang="de-DE" noProof="0" err="1"/>
              <a:t>Classifier</a:t>
            </a:r>
            <a:r>
              <a:rPr lang="de-DE" noProof="0"/>
              <a:t> Ensemble</a:t>
            </a:r>
            <a:br>
              <a:rPr lang="de-DE" noProof="0"/>
            </a:br>
            <a:r>
              <a:rPr lang="de-DE" noProof="0"/>
              <a:t>Idee: Hierarchische Klassifikation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D567112-A6A8-55B5-8378-D4A7AF879B17}"/>
              </a:ext>
            </a:extLst>
          </p:cNvPr>
          <p:cNvSpPr txBox="1"/>
          <p:nvPr/>
        </p:nvSpPr>
        <p:spPr bwMode="auto">
          <a:xfrm>
            <a:off x="6204012" y="4321856"/>
            <a:ext cx="5462364" cy="2031325"/>
          </a:xfrm>
          <a:prstGeom prst="rect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de-DE" sz="1800" b="1" kern="0">
                <a:solidFill>
                  <a:sysClr val="windowText" lastClr="000000"/>
                </a:solidFill>
              </a:rPr>
              <a:t>Erkenntnisse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800" kern="0">
                <a:solidFill>
                  <a:sysClr val="windowText" lastClr="000000"/>
                </a:solidFill>
              </a:rPr>
              <a:t>Vorteile:</a:t>
            </a:r>
            <a:endParaRPr lang="de-DE" sz="1800" kern="0">
              <a:solidFill>
                <a:sysClr val="windowText" lastClr="000000"/>
              </a:solidFill>
              <a:cs typeface="Arial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de-DE" sz="1800" kern="0">
                <a:solidFill>
                  <a:sysClr val="windowText" lastClr="000000"/>
                </a:solidFill>
              </a:rPr>
              <a:t>IO/NIO-Modelle sind spezialisiert </a:t>
            </a:r>
            <a:br>
              <a:rPr lang="de-DE" sz="1800" kern="0">
                <a:solidFill>
                  <a:sysClr val="windowText" lastClr="000000"/>
                </a:solidFill>
              </a:rPr>
            </a:br>
            <a:r>
              <a:rPr lang="de-DE" sz="1800" kern="0">
                <a:solidFill>
                  <a:sysClr val="windowText" lastClr="000000"/>
                </a:solidFill>
              </a:rPr>
              <a:t>(Binary-</a:t>
            </a:r>
            <a:r>
              <a:rPr lang="de-DE" sz="1800" kern="0" err="1">
                <a:solidFill>
                  <a:sysClr val="windowText" lastClr="000000"/>
                </a:solidFill>
              </a:rPr>
              <a:t>Decision</a:t>
            </a:r>
            <a:r>
              <a:rPr lang="de-DE" sz="1800" kern="0">
                <a:solidFill>
                  <a:sysClr val="windowText" lastClr="000000"/>
                </a:solidFill>
              </a:rPr>
              <a:t>)</a:t>
            </a:r>
            <a:endParaRPr lang="de-DE" sz="1800" kern="0">
              <a:solidFill>
                <a:sysClr val="windowText" lastClr="000000"/>
              </a:solidFill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1800" kern="0">
              <a:solidFill>
                <a:sysClr val="windowText" lastClr="0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800" kern="0">
                <a:solidFill>
                  <a:sysClr val="windowText" lastClr="000000"/>
                </a:solidFill>
              </a:rPr>
              <a:t>Nachteile:</a:t>
            </a:r>
            <a:endParaRPr lang="de-DE" sz="1800" kern="0">
              <a:solidFill>
                <a:sysClr val="windowText" lastClr="000000"/>
              </a:solidFill>
              <a:cs typeface="Arial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de-DE" sz="1800">
                <a:solidFill>
                  <a:schemeClr val="tx1"/>
                </a:solidFill>
              </a:rPr>
              <a:t>Mehr Modelle = mehr Training</a:t>
            </a:r>
            <a:endParaRPr lang="de-DE" sz="1800">
              <a:solidFill>
                <a:schemeClr val="tx1"/>
              </a:solidFill>
              <a:cs typeface="Arial"/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A17C4C80-8788-E1BB-3872-26EF8AE71B16}"/>
              </a:ext>
            </a:extLst>
          </p:cNvPr>
          <p:cNvGrpSpPr/>
          <p:nvPr/>
        </p:nvGrpSpPr>
        <p:grpSpPr>
          <a:xfrm>
            <a:off x="525624" y="1350876"/>
            <a:ext cx="11140752" cy="2754600"/>
            <a:chOff x="525624" y="1178302"/>
            <a:chExt cx="11140752" cy="2754600"/>
          </a:xfrm>
        </p:grpSpPr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5DB2CF16-87B5-71F4-EF9E-69C09009E7E7}"/>
                </a:ext>
              </a:extLst>
            </p:cNvPr>
            <p:cNvSpPr txBox="1"/>
            <p:nvPr/>
          </p:nvSpPr>
          <p:spPr bwMode="auto">
            <a:xfrm>
              <a:off x="525624" y="1178302"/>
              <a:ext cx="11140752" cy="2754600"/>
            </a:xfrm>
            <a:prstGeom prst="rect">
              <a:avLst/>
            </a:prstGeom>
            <a:solidFill>
              <a:schemeClr val="bg1"/>
            </a:solidFill>
            <a:ln>
              <a:headEnd/>
              <a:tailEnd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 anchor="t">
              <a:spAutoFit/>
            </a:bodyPr>
            <a:lstStyle/>
            <a:p>
              <a:r>
                <a:rPr lang="de-DE" sz="1800" b="1" kern="0" noProof="0">
                  <a:solidFill>
                    <a:sysClr val="windowText" lastClr="000000"/>
                  </a:solidFill>
                </a:rPr>
                <a:t>Modellarchitektur</a:t>
              </a:r>
              <a:endParaRPr lang="de-DE" sz="1800">
                <a:solidFill>
                  <a:sysClr val="windowText" lastClr="000000"/>
                </a:solidFill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Ø"/>
              </a:pPr>
              <a:r>
                <a:rPr lang="de-DE" sz="1800" noProof="0">
                  <a:solidFill>
                    <a:srgbClr val="1F1F1F"/>
                  </a:solidFill>
                  <a:latin typeface="+mn-lt"/>
                  <a:ea typeface="Calibri"/>
                  <a:cs typeface="Calibri"/>
                </a:rPr>
                <a:t>1) Kategorie-Modell (15 Klassen) → </a:t>
              </a:r>
              <a:br>
                <a:rPr lang="de-DE" sz="1800" noProof="0">
                  <a:ea typeface="Calibri" pitchFamily="34" charset="-122"/>
                  <a:cs typeface="Calibri" pitchFamily="34" charset="-120"/>
                </a:rPr>
              </a:br>
              <a:r>
                <a:rPr lang="de-DE" sz="1800" noProof="0">
                  <a:solidFill>
                    <a:srgbClr val="1F1F1F"/>
                  </a:solidFill>
                  <a:latin typeface="+mn-lt"/>
                  <a:ea typeface="Calibri"/>
                  <a:cs typeface="Calibri"/>
                </a:rPr>
                <a:t>2) Pro Kategorie ein binäres IO/NIO-Modell</a:t>
              </a:r>
              <a:endParaRPr lang="de-DE" sz="1800" noProof="0">
                <a:latin typeface="+mn-lt"/>
                <a:ea typeface="Calibri"/>
                <a:cs typeface="Calibri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Ø"/>
              </a:pPr>
              <a:r>
                <a:rPr lang="de-DE" sz="1800" noProof="0">
                  <a:solidFill>
                    <a:srgbClr val="1F1F1F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Output wird zu 30 Klassen zusammengeführt</a:t>
              </a:r>
            </a:p>
            <a:p>
              <a:pPr marL="342900" indent="-34290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Ø"/>
              </a:pPr>
              <a:endParaRPr lang="de-DE" sz="1800">
                <a:solidFill>
                  <a:srgbClr val="1F1F1F"/>
                </a:solidFill>
                <a:ea typeface="Calibri" pitchFamily="34" charset="-122"/>
                <a:cs typeface="Calibri" pitchFamily="34" charset="-120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Ø"/>
              </a:pPr>
              <a:endParaRPr lang="de-DE" sz="1800">
                <a:solidFill>
                  <a:srgbClr val="1F1F1F"/>
                </a:solidFill>
                <a:ea typeface="Calibri" pitchFamily="34" charset="-122"/>
                <a:cs typeface="Calibri" pitchFamily="34" charset="-120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Ø"/>
              </a:pPr>
              <a:endParaRPr lang="de-DE">
                <a:solidFill>
                  <a:srgbClr val="1F1F1F"/>
                </a:solidFill>
                <a:ea typeface="Calibri" pitchFamily="34" charset="-122"/>
                <a:cs typeface="Calibri" pitchFamily="34" charset="-120"/>
              </a:endParaRPr>
            </a:p>
            <a:p>
              <a:pPr>
                <a:spcAft>
                  <a:spcPts val="600"/>
                </a:spcAft>
                <a:buSzPct val="100000"/>
              </a:pPr>
              <a:endParaRPr lang="de-DE" noProof="0">
                <a:solidFill>
                  <a:srgbClr val="1F1F1F"/>
                </a:solidFill>
                <a:latin typeface="+mn-lt"/>
                <a:ea typeface="Calibri" pitchFamily="34" charset="-122"/>
                <a:cs typeface="Calibri" pitchFamily="34" charset="-120"/>
              </a:endParaRPr>
            </a:p>
          </p:txBody>
        </p:sp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3BC39539-1B4C-3D77-2BED-984E81537A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9280" y="1264642"/>
              <a:ext cx="3691827" cy="2327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Rechteck 2">
            <a:extLst>
              <a:ext uri="{FF2B5EF4-FFF2-40B4-BE49-F238E27FC236}">
                <a16:creationId xmlns:a16="http://schemas.microsoft.com/office/drawing/2014/main" id="{99549193-3A9E-21B9-2E43-22C879D04620}"/>
              </a:ext>
            </a:extLst>
          </p:cNvPr>
          <p:cNvSpPr/>
          <p:nvPr/>
        </p:nvSpPr>
        <p:spPr bwMode="auto">
          <a:xfrm>
            <a:off x="525624" y="4321856"/>
            <a:ext cx="5570376" cy="2031325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r>
              <a:rPr lang="de-DE" sz="1800" b="1" kern="0">
                <a:solidFill>
                  <a:sysClr val="windowText" lastClr="000000"/>
                </a:solidFill>
              </a:rPr>
              <a:t>Performance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kern="0">
                <a:solidFill>
                  <a:sysClr val="windowText" lastClr="000000"/>
                </a:solidFill>
              </a:rPr>
              <a:t>Validierungsdatensatz: F1 Score: 0,75</a:t>
            </a:r>
          </a:p>
          <a:p>
            <a:pPr marL="180975" marR="0" indent="-1809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344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44756-88D5-997F-B204-1BA8D0BE3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96A582-A8DF-08E7-DDAE-10161040E2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6F7254-750D-2CEC-6B16-FF24DA0E6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de-DE"/>
          </a:p>
        </p:txBody>
      </p: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10B7663B-F10C-E6E2-A91C-A84A2ACFD6E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7CD714-8341-4FF2-AA85-E345444355E9}" type="datetime1">
              <a:rPr lang="de-DE" smtClean="0"/>
              <a:t>21.02.2026</a:t>
            </a:fld>
            <a:endParaRPr lang="de-DE"/>
          </a:p>
        </p:txBody>
      </p:sp>
      <p:sp>
        <p:nvSpPr>
          <p:cNvPr id="7" name="Titel 2">
            <a:extLst>
              <a:ext uri="{FF2B5EF4-FFF2-40B4-BE49-F238E27FC236}">
                <a16:creationId xmlns:a16="http://schemas.microsoft.com/office/drawing/2014/main" id="{8517AA1C-692B-38E2-4BEC-A88370D7A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B5A446B-B889-4082-E6D1-B26E6148387B}"/>
              </a:ext>
            </a:extLst>
          </p:cNvPr>
          <p:cNvSpPr txBox="1"/>
          <p:nvPr/>
        </p:nvSpPr>
        <p:spPr bwMode="auto">
          <a:xfrm>
            <a:off x="7478258" y="4140127"/>
            <a:ext cx="61010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1200">
                <a:solidFill>
                  <a:schemeClr val="bg1"/>
                </a:solidFill>
              </a:rPr>
              <a:t>[3] </a:t>
            </a:r>
            <a:endParaRPr lang="en-GB" sz="1200">
              <a:solidFill>
                <a:schemeClr val="bg1"/>
              </a:solidFill>
            </a:endParaRPr>
          </a:p>
        </p:txBody>
      </p:sp>
      <p:graphicFrame>
        <p:nvGraphicFramePr>
          <p:cNvPr id="30" name="Table 24">
            <a:extLst>
              <a:ext uri="{FF2B5EF4-FFF2-40B4-BE49-F238E27FC236}">
                <a16:creationId xmlns:a16="http://schemas.microsoft.com/office/drawing/2014/main" id="{7AC8F269-CD9D-EF3C-825B-8FF624130E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4260060"/>
              </p:ext>
            </p:extLst>
          </p:nvPr>
        </p:nvGraphicFramePr>
        <p:xfrm>
          <a:off x="5454000" y="1200000"/>
          <a:ext cx="6037677" cy="5035218"/>
        </p:xfrm>
        <a:graphic>
          <a:graphicData uri="http://schemas.openxmlformats.org/drawingml/2006/table">
            <a:tbl>
              <a:tblPr firstRow="1" bandRow="1"/>
              <a:tblGrid>
                <a:gridCol w="694983">
                  <a:extLst>
                    <a:ext uri="{9D8B030D-6E8A-4147-A177-3AD203B41FA5}">
                      <a16:colId xmlns:a16="http://schemas.microsoft.com/office/drawing/2014/main" val="1857791330"/>
                    </a:ext>
                  </a:extLst>
                </a:gridCol>
                <a:gridCol w="4684978">
                  <a:extLst>
                    <a:ext uri="{9D8B030D-6E8A-4147-A177-3AD203B41FA5}">
                      <a16:colId xmlns:a16="http://schemas.microsoft.com/office/drawing/2014/main" val="620299569"/>
                    </a:ext>
                  </a:extLst>
                </a:gridCol>
                <a:gridCol w="657716">
                  <a:extLst>
                    <a:ext uri="{9D8B030D-6E8A-4147-A177-3AD203B41FA5}">
                      <a16:colId xmlns:a16="http://schemas.microsoft.com/office/drawing/2014/main" val="1172101712"/>
                    </a:ext>
                  </a:extLst>
                </a:gridCol>
              </a:tblGrid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Start </a:t>
                      </a:r>
                      <a:r>
                        <a:rPr lang="en-US" sz="1600" b="1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mit</a:t>
                      </a:r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1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Experimentieren</a:t>
                      </a:r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:</a:t>
                      </a:r>
                      <a:endParaRPr lang="de-DE" b="1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Erkenntnisse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anhand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eines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Custom CNN 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16587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Problematik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Imbalanced Datasets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955894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1: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Augmentation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045840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 2: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Class Weights</a:t>
                      </a:r>
                      <a:endParaRPr lang="de-DE" b="1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83214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Modell-Tuning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550306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06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Confusion matrix 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100306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07</a:t>
                      </a:r>
                      <a:endParaRPr lang="de-DE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A: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Classifier Ensemble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072433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08</a:t>
                      </a:r>
                      <a:endParaRPr lang="de-DE"/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B: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2-Head-Classifier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0074"/>
                  </a:ext>
                </a:extLst>
              </a:tr>
              <a:tr h="523573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Pretrained Models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Vergleich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3-Head-Classifier vs 3 </a:t>
                      </a: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Einzelmodelle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927458"/>
                  </a:ext>
                </a:extLst>
              </a:tr>
            </a:tbl>
          </a:graphicData>
        </a:graphic>
      </p:graphicFrame>
      <p:pic>
        <p:nvPicPr>
          <p:cNvPr id="3" name="Grafik 2" descr="Ein Bild, das Im Haus, Computer, Tisch, Computertastatur enthält.&#10;&#10;KI-generierte Inhalte können fehlerhaft sein.">
            <a:extLst>
              <a:ext uri="{FF2B5EF4-FFF2-40B4-BE49-F238E27FC236}">
                <a16:creationId xmlns:a16="http://schemas.microsoft.com/office/drawing/2014/main" id="{BA804F1A-894B-416A-6170-0BF53302F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9" y="1245703"/>
            <a:ext cx="4239558" cy="430695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17382C6-A098-95CB-C6AA-C54773D667C8}"/>
              </a:ext>
            </a:extLst>
          </p:cNvPr>
          <p:cNvSpPr txBox="1"/>
          <p:nvPr/>
        </p:nvSpPr>
        <p:spPr bwMode="auto">
          <a:xfrm>
            <a:off x="775251" y="5552660"/>
            <a:ext cx="1961321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050" kern="0">
                <a:solidFill>
                  <a:srgbClr val="7F7F7F"/>
                </a:solidFill>
                <a:latin typeface="Arial"/>
                <a:cs typeface="Arial"/>
              </a:rPr>
              <a:t>Generiert mit Nano </a:t>
            </a:r>
            <a:r>
              <a:rPr lang="de-DE" sz="1050" kern="0" err="1">
                <a:solidFill>
                  <a:srgbClr val="7F7F7F"/>
                </a:solidFill>
                <a:latin typeface="Arial"/>
                <a:cs typeface="Arial"/>
              </a:rPr>
              <a:t>Banana</a:t>
            </a:r>
            <a:endParaRPr lang="de-DE" sz="1050" kern="0" err="1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567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634B4-F046-DEDF-0501-DBEA102D5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D07C332-AFEE-3C1E-8FCE-99A87237A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2ACD4-D8A4-0704-2407-4B80BEE89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de-DE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61F06F72-E814-02A2-5D25-7152DC7632D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13DE5C1-F4A3-44AC-9D1F-B119038B09F5}" type="datetime1">
              <a:rPr lang="de-DE" smtClean="0"/>
              <a:t>21.02.2026</a:t>
            </a:fld>
            <a:endParaRPr lang="de-DE"/>
          </a:p>
        </p:txBody>
      </p:sp>
      <p:sp>
        <p:nvSpPr>
          <p:cNvPr id="10" name="Titel 2">
            <a:extLst>
              <a:ext uri="{FF2B5EF4-FFF2-40B4-BE49-F238E27FC236}">
                <a16:creationId xmlns:a16="http://schemas.microsoft.com/office/drawing/2014/main" id="{2CB3DD8C-604B-1366-A606-F557016BE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>
            <a:normAutofit fontScale="90000"/>
          </a:bodyPr>
          <a:lstStyle/>
          <a:p>
            <a:r>
              <a:rPr lang="de-DE"/>
              <a:t>08 Variation B: 2-Head-Classifier</a:t>
            </a:r>
            <a:br>
              <a:rPr lang="de-DE"/>
            </a:br>
            <a:r>
              <a:rPr lang="de-DE"/>
              <a:t>Idee: Multitask Learning Ansatz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0C70E9A-DDEE-8B77-CC0B-5067883D869C}"/>
              </a:ext>
            </a:extLst>
          </p:cNvPr>
          <p:cNvSpPr txBox="1"/>
          <p:nvPr/>
        </p:nvSpPr>
        <p:spPr bwMode="auto">
          <a:xfrm>
            <a:off x="551384" y="4490238"/>
            <a:ext cx="5341991" cy="984885"/>
          </a:xfrm>
          <a:prstGeom prst="rect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de-DE" sz="1800" b="1" kern="0" dirty="0">
                <a:solidFill>
                  <a:sysClr val="windowText" lastClr="000000"/>
                </a:solidFill>
              </a:rPr>
              <a:t>Performance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800" kern="0" dirty="0">
                <a:solidFill>
                  <a:sysClr val="windowText" lastClr="000000"/>
                </a:solidFill>
              </a:rPr>
              <a:t>F1 Score: 0,78 </a:t>
            </a:r>
            <a:r>
              <a:rPr lang="de-DE" kern="0" dirty="0">
                <a:solidFill>
                  <a:sysClr val="windowText" lastClr="000000"/>
                </a:solidFill>
              </a:rPr>
              <a:t>(Validierungsdatensatz)</a:t>
            </a:r>
            <a:endParaRPr lang="de-DE" kern="0" dirty="0">
              <a:solidFill>
                <a:sysClr val="windowText" lastClr="000000"/>
              </a:solidFill>
              <a:cs typeface="Arial"/>
            </a:endParaRPr>
          </a:p>
          <a:p>
            <a:endParaRPr lang="de-DE" kern="0">
              <a:solidFill>
                <a:sysClr val="windowText" lastClr="000000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0AAFC1F-BB35-FD34-A6A9-C4E483F6EDEA}"/>
              </a:ext>
            </a:extLst>
          </p:cNvPr>
          <p:cNvSpPr txBox="1"/>
          <p:nvPr/>
        </p:nvSpPr>
        <p:spPr bwMode="auto">
          <a:xfrm>
            <a:off x="6340492" y="4521015"/>
            <a:ext cx="5341991" cy="923330"/>
          </a:xfrm>
          <a:prstGeom prst="rect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de-DE" sz="1800" b="1" kern="0" noProof="0">
                <a:solidFill>
                  <a:sysClr val="windowText" lastClr="000000"/>
                </a:solidFill>
              </a:rPr>
              <a:t>Erkenntnisse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800" kern="0">
                <a:solidFill>
                  <a:sysClr val="windowText" lastClr="000000"/>
                </a:solidFill>
              </a:rPr>
              <a:t>nur</a:t>
            </a:r>
            <a:r>
              <a:rPr lang="de-DE" sz="1800" kern="0" noProof="0">
                <a:solidFill>
                  <a:sysClr val="windowText" lastClr="000000"/>
                </a:solidFill>
              </a:rPr>
              <a:t> 1 Modell</a:t>
            </a:r>
            <a:r>
              <a:rPr lang="de-DE" sz="1800" kern="0">
                <a:solidFill>
                  <a:sysClr val="windowText" lastClr="000000"/>
                </a:solidFill>
              </a:rPr>
              <a:t>, gemeinsames</a:t>
            </a:r>
            <a:r>
              <a:rPr lang="de-DE" sz="1800" kern="0" noProof="0">
                <a:solidFill>
                  <a:sysClr val="windowText" lastClr="000000"/>
                </a:solidFill>
              </a:rPr>
              <a:t> Feature-</a:t>
            </a:r>
            <a:br>
              <a:rPr lang="de-DE" sz="1800" kern="0" noProof="0"/>
            </a:br>
            <a:r>
              <a:rPr lang="de-DE" sz="1800" kern="0" noProof="0">
                <a:solidFill>
                  <a:sysClr val="windowText" lastClr="000000"/>
                </a:solidFill>
              </a:rPr>
              <a:t>Learning</a:t>
            </a:r>
            <a:endParaRPr lang="de-DE" sz="1800" kern="0" noProof="0">
              <a:solidFill>
                <a:sysClr val="windowText" lastClr="000000"/>
              </a:solidFill>
              <a:cs typeface="Arial"/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2498649-1326-655F-C194-FEF37617A3F0}"/>
              </a:ext>
            </a:extLst>
          </p:cNvPr>
          <p:cNvGrpSpPr/>
          <p:nvPr/>
        </p:nvGrpSpPr>
        <p:grpSpPr>
          <a:xfrm>
            <a:off x="551384" y="1783410"/>
            <a:ext cx="11131099" cy="2431435"/>
            <a:chOff x="551383" y="1463233"/>
            <a:chExt cx="11131099" cy="2431435"/>
          </a:xfrm>
        </p:grpSpPr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21DE13E-D501-34A4-FEE9-1DCC9067DA92}"/>
                </a:ext>
              </a:extLst>
            </p:cNvPr>
            <p:cNvSpPr txBox="1"/>
            <p:nvPr/>
          </p:nvSpPr>
          <p:spPr bwMode="auto">
            <a:xfrm>
              <a:off x="551383" y="1463233"/>
              <a:ext cx="11131099" cy="2431435"/>
            </a:xfrm>
            <a:prstGeom prst="rect">
              <a:avLst/>
            </a:prstGeom>
            <a:solidFill>
              <a:schemeClr val="bg1"/>
            </a:solidFill>
            <a:ln>
              <a:headEnd/>
              <a:tailEnd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 anchor="t">
              <a:spAutoFit/>
            </a:bodyPr>
            <a:lstStyle/>
            <a:p>
              <a:r>
                <a:rPr lang="de-DE" sz="1800" b="1" kern="0" noProof="0">
                  <a:solidFill>
                    <a:sysClr val="windowText" lastClr="000000"/>
                  </a:solidFill>
                </a:rPr>
                <a:t>Modellarchitektur</a:t>
              </a:r>
              <a:endParaRPr lang="de-DE" sz="1800">
                <a:solidFill>
                  <a:sysClr val="windowText" lastClr="000000"/>
                </a:solidFill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Ø"/>
              </a:pPr>
              <a:r>
                <a:rPr lang="de-DE" sz="1800" noProof="0">
                  <a:solidFill>
                    <a:sysClr val="windowText" lastClr="000000"/>
                  </a:solidFill>
                  <a:latin typeface="+mn-lt"/>
                  <a:ea typeface="Calibri"/>
                  <a:cs typeface="Calibri"/>
                </a:rPr>
                <a:t>Head 1: Kategorie (15 Klassen)</a:t>
              </a:r>
            </a:p>
            <a:p>
              <a:pPr marL="342900" indent="-34290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Ø"/>
              </a:pPr>
              <a:r>
                <a:rPr lang="de-DE" sz="1800" noProof="0">
                  <a:solidFill>
                    <a:sysClr val="windowText" lastClr="000000"/>
                  </a:solidFill>
                  <a:latin typeface="+mn-lt"/>
                  <a:ea typeface="Calibri"/>
                  <a:cs typeface="Calibri"/>
                </a:rPr>
                <a:t>Head 2: IO/NIO (2 Klassen)</a:t>
              </a:r>
            </a:p>
            <a:p>
              <a:pPr marL="342900" indent="-34290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Ø"/>
              </a:pPr>
              <a:r>
                <a:rPr lang="de-DE" sz="1800">
                  <a:solidFill>
                    <a:sysClr val="windowText" lastClr="000000"/>
                  </a:solidFill>
                  <a:ea typeface="Calibri"/>
                  <a:cs typeface="Calibri"/>
                </a:rPr>
                <a:t>Mapping der Ausgaben zum 30er Klassifikationsproblem</a:t>
              </a:r>
              <a:endParaRPr lang="de-DE" sz="1800" noProof="0">
                <a:solidFill>
                  <a:sysClr val="windowText" lastClr="000000"/>
                </a:solidFill>
                <a:latin typeface="+mn-lt"/>
                <a:ea typeface="Calibri"/>
                <a:cs typeface="Calibri"/>
              </a:endParaRPr>
            </a:p>
            <a:p>
              <a:pPr>
                <a:spcAft>
                  <a:spcPts val="600"/>
                </a:spcAft>
                <a:buSzPct val="100000"/>
              </a:pPr>
              <a:br>
                <a:rPr lang="de-DE" noProof="0">
                  <a:solidFill>
                    <a:sysClr val="windowText" lastClr="000000"/>
                  </a:solidFill>
                  <a:ea typeface="Calibri" pitchFamily="34" charset="-122"/>
                  <a:cs typeface="Calibri" pitchFamily="34" charset="-120"/>
                </a:rPr>
              </a:br>
              <a:endParaRPr lang="de-DE" noProof="0">
                <a:solidFill>
                  <a:sysClr val="windowText" lastClr="000000"/>
                </a:solidFill>
                <a:latin typeface="+mn-lt"/>
                <a:ea typeface="Calibri" pitchFamily="34" charset="-122"/>
                <a:cs typeface="Calibri" pitchFamily="34" charset="-120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Ø"/>
              </a:pPr>
              <a:endParaRPr lang="de-DE">
                <a:solidFill>
                  <a:sysClr val="windowText" lastClr="000000"/>
                </a:solidFill>
                <a:ea typeface="Calibri" pitchFamily="34" charset="-122"/>
                <a:cs typeface="Calibri" pitchFamily="34" charset="-120"/>
              </a:endParaRPr>
            </a:p>
          </p:txBody>
        </p:sp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50125F1-7141-4D08-8872-59AA4B5BC2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9175" y="1649136"/>
              <a:ext cx="4162617" cy="205962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48736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A1465-D4C0-27F4-66BD-4F9D7F34D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B64FDD-FA81-5212-2F74-CFA6B438C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62C514-5314-BFA0-53BB-F0A351857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de-DE"/>
          </a:p>
        </p:txBody>
      </p: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EA7D747B-A385-4BA1-A44A-05D0A665FD5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7CD714-8341-4FF2-AA85-E345444355E9}" type="datetime1">
              <a:rPr lang="de-DE" smtClean="0"/>
              <a:t>21.02.2026</a:t>
            </a:fld>
            <a:endParaRPr lang="de-DE"/>
          </a:p>
        </p:txBody>
      </p:sp>
      <p:sp>
        <p:nvSpPr>
          <p:cNvPr id="7" name="Titel 2">
            <a:extLst>
              <a:ext uri="{FF2B5EF4-FFF2-40B4-BE49-F238E27FC236}">
                <a16:creationId xmlns:a16="http://schemas.microsoft.com/office/drawing/2014/main" id="{49377137-C0A6-235B-7403-3EABAB45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B158F0E-F973-153D-747B-E5AF638F26EF}"/>
              </a:ext>
            </a:extLst>
          </p:cNvPr>
          <p:cNvSpPr txBox="1"/>
          <p:nvPr/>
        </p:nvSpPr>
        <p:spPr bwMode="auto">
          <a:xfrm>
            <a:off x="7478258" y="4140127"/>
            <a:ext cx="61010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1200">
                <a:solidFill>
                  <a:schemeClr val="bg1"/>
                </a:solidFill>
              </a:rPr>
              <a:t>[3] </a:t>
            </a:r>
            <a:endParaRPr lang="en-GB" sz="1200">
              <a:solidFill>
                <a:schemeClr val="bg1"/>
              </a:solidFill>
            </a:endParaRPr>
          </a:p>
        </p:txBody>
      </p:sp>
      <p:graphicFrame>
        <p:nvGraphicFramePr>
          <p:cNvPr id="30" name="Table 24">
            <a:extLst>
              <a:ext uri="{FF2B5EF4-FFF2-40B4-BE49-F238E27FC236}">
                <a16:creationId xmlns:a16="http://schemas.microsoft.com/office/drawing/2014/main" id="{0A6EB6FF-B5BE-528D-342E-F9A509A5C9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8887935"/>
              </p:ext>
            </p:extLst>
          </p:nvPr>
        </p:nvGraphicFramePr>
        <p:xfrm>
          <a:off x="5454000" y="1200000"/>
          <a:ext cx="6037677" cy="5035218"/>
        </p:xfrm>
        <a:graphic>
          <a:graphicData uri="http://schemas.openxmlformats.org/drawingml/2006/table">
            <a:tbl>
              <a:tblPr firstRow="1" bandRow="1"/>
              <a:tblGrid>
                <a:gridCol w="694983">
                  <a:extLst>
                    <a:ext uri="{9D8B030D-6E8A-4147-A177-3AD203B41FA5}">
                      <a16:colId xmlns:a16="http://schemas.microsoft.com/office/drawing/2014/main" val="1857791330"/>
                    </a:ext>
                  </a:extLst>
                </a:gridCol>
                <a:gridCol w="4684978">
                  <a:extLst>
                    <a:ext uri="{9D8B030D-6E8A-4147-A177-3AD203B41FA5}">
                      <a16:colId xmlns:a16="http://schemas.microsoft.com/office/drawing/2014/main" val="620299569"/>
                    </a:ext>
                  </a:extLst>
                </a:gridCol>
                <a:gridCol w="657716">
                  <a:extLst>
                    <a:ext uri="{9D8B030D-6E8A-4147-A177-3AD203B41FA5}">
                      <a16:colId xmlns:a16="http://schemas.microsoft.com/office/drawing/2014/main" val="1172101712"/>
                    </a:ext>
                  </a:extLst>
                </a:gridCol>
              </a:tblGrid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Start </a:t>
                      </a:r>
                      <a:r>
                        <a:rPr lang="en-US" sz="1600" b="1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mit</a:t>
                      </a:r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1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Experimentieren</a:t>
                      </a:r>
                      <a:r>
                        <a:rPr lang="en-US" sz="16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:</a:t>
                      </a:r>
                      <a:endParaRPr lang="de-DE" b="1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Erkenntnisse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anhand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0" noProof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eines</a:t>
                      </a:r>
                      <a:r>
                        <a:rPr lang="en-US" sz="1600" b="0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lt"/>
                        </a:rPr>
                        <a:t> Custom CNN 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16587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Problematik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Imbalanced Datasets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955894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1: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Augmentation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045840"/>
                  </a:ext>
                </a:extLst>
              </a:tr>
              <a:tr h="5235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Maßnahme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 2: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Class Weights</a:t>
                      </a:r>
                      <a:endParaRPr lang="de-DE" b="1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83214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Modell-Tuning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550306"/>
                  </a:ext>
                </a:extLst>
              </a:tr>
              <a:tr h="409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j-lt"/>
                        </a:rPr>
                        <a:t>06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Confusion matrix 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100306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07</a:t>
                      </a:r>
                      <a:endParaRPr lang="de-DE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A: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Classifier Ensemble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072433"/>
                  </a:ext>
                </a:extLst>
              </a:tr>
              <a:tr h="409527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/>
                        </a:rPr>
                        <a:t>08</a:t>
                      </a:r>
                      <a:endParaRPr lang="de-DE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Variation B: </a:t>
                      </a:r>
                      <a:r>
                        <a:rPr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2-Head-Classifier</a:t>
                      </a:r>
                      <a:endPara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0074"/>
                  </a:ext>
                </a:extLst>
              </a:tr>
              <a:tr h="523573">
                <a:tc>
                  <a:txBody>
                    <a:bodyPr/>
                    <a:lstStyle/>
                    <a:p>
                      <a:pPr lvl="0">
                        <a:lnSpc>
                          <a:spcPct val="70000"/>
                        </a:lnSpc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Pretrained Models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Vergleich</a:t>
                      </a: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3-Head-Classifier vs 3 </a:t>
                      </a:r>
                      <a:r>
                        <a:rPr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Einzelmodelle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sz="1600" b="0" noProof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80189" marR="0" marT="89999" marB="899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927458"/>
                  </a:ext>
                </a:extLst>
              </a:tr>
            </a:tbl>
          </a:graphicData>
        </a:graphic>
      </p:graphicFrame>
      <p:pic>
        <p:nvPicPr>
          <p:cNvPr id="3" name="Grafik 2" descr="Ein Bild, das Im Haus, Computer, Tisch, Computertastatur enthält.&#10;&#10;KI-generierte Inhalte können fehlerhaft sein.">
            <a:extLst>
              <a:ext uri="{FF2B5EF4-FFF2-40B4-BE49-F238E27FC236}">
                <a16:creationId xmlns:a16="http://schemas.microsoft.com/office/drawing/2014/main" id="{5C80F9F3-9538-DB57-93BD-9BBFF1F48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9" y="1245703"/>
            <a:ext cx="4239558" cy="430695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F5AE32C-B2C9-AC23-8BE3-BD48B16396CD}"/>
              </a:ext>
            </a:extLst>
          </p:cNvPr>
          <p:cNvSpPr txBox="1"/>
          <p:nvPr/>
        </p:nvSpPr>
        <p:spPr bwMode="auto">
          <a:xfrm>
            <a:off x="775251" y="5552660"/>
            <a:ext cx="1961321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050" kern="0">
                <a:solidFill>
                  <a:srgbClr val="7F7F7F"/>
                </a:solidFill>
                <a:latin typeface="Arial"/>
                <a:cs typeface="Arial"/>
              </a:rPr>
              <a:t>Generiert mit Nano </a:t>
            </a:r>
            <a:r>
              <a:rPr lang="de-DE" sz="1050" kern="0" err="1">
                <a:solidFill>
                  <a:srgbClr val="7F7F7F"/>
                </a:solidFill>
                <a:latin typeface="Arial"/>
                <a:cs typeface="Arial"/>
              </a:rPr>
              <a:t>Banana</a:t>
            </a:r>
            <a:endParaRPr lang="de-DE" sz="1050" kern="0" err="1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83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E908C-AF0B-59BA-A146-FF68563A2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37F6E2-C531-985F-1E5C-69928C45C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6142F5-F171-C28B-DACD-119F72D8D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de-DE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E06DBA81-B0FC-4D03-3796-6AC095DCC39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13DE5C1-F4A3-44AC-9D1F-B119038B09F5}" type="datetime1">
              <a:rPr lang="de-DE" smtClean="0"/>
              <a:t>21.02.2026</a:t>
            </a:fld>
            <a:endParaRPr lang="de-DE"/>
          </a:p>
        </p:txBody>
      </p:sp>
      <p:sp>
        <p:nvSpPr>
          <p:cNvPr id="10" name="Titel 2">
            <a:extLst>
              <a:ext uri="{FF2B5EF4-FFF2-40B4-BE49-F238E27FC236}">
                <a16:creationId xmlns:a16="http://schemas.microsoft.com/office/drawing/2014/main" id="{DED5E557-2314-25F2-5079-B3B8826E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/>
          <a:lstStyle/>
          <a:p>
            <a:r>
              <a:rPr lang="de-DE"/>
              <a:t>09 </a:t>
            </a:r>
            <a:r>
              <a:rPr lang="de-DE" err="1"/>
              <a:t>Pretrained</a:t>
            </a:r>
            <a:r>
              <a:rPr lang="de-DE"/>
              <a:t> Models - Vergleich: 3-Head-Classifier vs. 3 Einzelmodelle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D236310A-0F4E-1556-D460-9FAAA2601A22}"/>
              </a:ext>
            </a:extLst>
          </p:cNvPr>
          <p:cNvCxnSpPr>
            <a:cxnSpLocks/>
          </p:cNvCxnSpPr>
          <p:nvPr/>
        </p:nvCxnSpPr>
        <p:spPr bwMode="auto">
          <a:xfrm>
            <a:off x="571703" y="1431325"/>
            <a:ext cx="5455610" cy="0"/>
          </a:xfrm>
          <a:prstGeom prst="line">
            <a:avLst/>
          </a:prstGeom>
          <a:solidFill>
            <a:schemeClr val="bg2"/>
          </a:solidFill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D26FAD40-68CE-9286-E42F-395D2B3FC6C1}"/>
              </a:ext>
            </a:extLst>
          </p:cNvPr>
          <p:cNvSpPr txBox="1"/>
          <p:nvPr/>
        </p:nvSpPr>
        <p:spPr bwMode="auto">
          <a:xfrm>
            <a:off x="571703" y="1107634"/>
            <a:ext cx="1687132" cy="418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de-DE" b="1" kern="0">
                <a:latin typeface="Arial"/>
                <a:cs typeface="Arial"/>
              </a:rPr>
              <a:t>Set </a:t>
            </a:r>
            <a:r>
              <a:rPr lang="de-DE" b="1" kern="0" err="1">
                <a:latin typeface="Arial"/>
                <a:cs typeface="Arial"/>
              </a:rPr>
              <a:t>up</a:t>
            </a:r>
            <a:endParaRPr lang="en-GB" b="1" kern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F56BD33-2C3F-2E47-3DC0-66E925E7FAB7}"/>
              </a:ext>
            </a:extLst>
          </p:cNvPr>
          <p:cNvSpPr txBox="1"/>
          <p:nvPr/>
        </p:nvSpPr>
        <p:spPr bwMode="auto">
          <a:xfrm>
            <a:off x="551384" y="1536785"/>
            <a:ext cx="5772143" cy="481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de-DE" b="1" kern="0" dirty="0">
                <a:latin typeface="Arial"/>
                <a:cs typeface="Arial"/>
              </a:rPr>
              <a:t>3 Heads</a:t>
            </a:r>
            <a:endParaRPr lang="de-DE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kern="0" dirty="0">
                <a:latin typeface="Arial"/>
                <a:cs typeface="Arial"/>
              </a:rPr>
              <a:t>Direkte Klassifikation </a:t>
            </a:r>
            <a:br>
              <a:rPr lang="de-DE" kern="0" dirty="0">
                <a:latin typeface="Arial"/>
                <a:cs typeface="Arial"/>
              </a:rPr>
            </a:br>
            <a:r>
              <a:rPr lang="de-DE" kern="0" dirty="0">
                <a:latin typeface="Arial"/>
                <a:cs typeface="Arial"/>
              </a:rPr>
              <a:t>(Nur 1 </a:t>
            </a:r>
            <a:r>
              <a:rPr lang="de-DE" kern="0" dirty="0" err="1">
                <a:latin typeface="Arial"/>
                <a:cs typeface="Arial"/>
              </a:rPr>
              <a:t>Dense</a:t>
            </a:r>
            <a:r>
              <a:rPr lang="de-DE" kern="0" dirty="0">
                <a:latin typeface="Arial"/>
                <a:cs typeface="Arial"/>
              </a:rPr>
              <a:t> mit </a:t>
            </a:r>
            <a:r>
              <a:rPr lang="de-DE" kern="0" dirty="0" err="1">
                <a:latin typeface="Arial"/>
                <a:cs typeface="Arial"/>
              </a:rPr>
              <a:t>Softmax</a:t>
            </a:r>
            <a:r>
              <a:rPr lang="de-DE" kern="0" dirty="0">
                <a:latin typeface="Arial"/>
                <a:cs typeface="Arial"/>
              </a:rPr>
              <a:t>)</a:t>
            </a:r>
            <a:endParaRPr lang="de-DE" kern="0" dirty="0"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kern="0" dirty="0" err="1">
                <a:latin typeface="Arial"/>
                <a:cs typeface="Arial"/>
              </a:rPr>
              <a:t>Dense</a:t>
            </a:r>
            <a:r>
              <a:rPr lang="de-DE" kern="0" dirty="0">
                <a:latin typeface="Arial"/>
                <a:cs typeface="Arial"/>
              </a:rPr>
              <a:t> Head (2 </a:t>
            </a:r>
            <a:r>
              <a:rPr lang="de-DE" kern="0" dirty="0" err="1">
                <a:latin typeface="Arial"/>
                <a:cs typeface="Arial"/>
              </a:rPr>
              <a:t>Dense</a:t>
            </a:r>
            <a:r>
              <a:rPr lang="de-DE" kern="0" dirty="0">
                <a:latin typeface="Arial"/>
                <a:cs typeface="Arial"/>
              </a:rPr>
              <a:t> Layer (RELU), </a:t>
            </a:r>
            <a:br>
              <a:rPr lang="de-DE" kern="0" dirty="0">
                <a:latin typeface="Arial"/>
                <a:cs typeface="Arial"/>
              </a:rPr>
            </a:br>
            <a:r>
              <a:rPr lang="de-DE" kern="0" dirty="0">
                <a:latin typeface="Arial"/>
                <a:cs typeface="Arial"/>
              </a:rPr>
              <a:t>dann 1 </a:t>
            </a:r>
            <a:r>
              <a:rPr lang="de-DE" kern="0" dirty="0" err="1">
                <a:latin typeface="Arial"/>
                <a:cs typeface="Arial"/>
              </a:rPr>
              <a:t>Dense</a:t>
            </a:r>
            <a:r>
              <a:rPr lang="de-DE" kern="0" dirty="0">
                <a:latin typeface="Arial"/>
                <a:cs typeface="Arial"/>
              </a:rPr>
              <a:t> Layer mit </a:t>
            </a:r>
            <a:r>
              <a:rPr lang="de-DE" kern="0" dirty="0" err="1">
                <a:latin typeface="Arial"/>
                <a:cs typeface="Arial"/>
              </a:rPr>
              <a:t>Softmax</a:t>
            </a:r>
            <a:r>
              <a:rPr lang="de-DE" kern="0" dirty="0">
                <a:latin typeface="Arial"/>
                <a:cs typeface="Arial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kern="0" dirty="0">
                <a:latin typeface="Arial"/>
                <a:cs typeface="Arial"/>
              </a:rPr>
              <a:t>2 Head </a:t>
            </a:r>
            <a:r>
              <a:rPr lang="de-DE" kern="0" dirty="0" err="1">
                <a:latin typeface="Arial"/>
                <a:cs typeface="Arial"/>
              </a:rPr>
              <a:t>Two</a:t>
            </a:r>
            <a:r>
              <a:rPr lang="de-DE" kern="0" dirty="0">
                <a:latin typeface="Arial"/>
                <a:cs typeface="Arial"/>
              </a:rPr>
              <a:t> Tasks (1 </a:t>
            </a:r>
            <a:r>
              <a:rPr lang="de-DE" kern="0" dirty="0" err="1">
                <a:latin typeface="Arial"/>
                <a:cs typeface="Arial"/>
              </a:rPr>
              <a:t>Dense</a:t>
            </a:r>
            <a:r>
              <a:rPr lang="de-DE" kern="0" dirty="0">
                <a:latin typeface="Arial"/>
                <a:cs typeface="Arial"/>
              </a:rPr>
              <a:t> Layer (RELU), </a:t>
            </a:r>
            <a:br>
              <a:rPr lang="de-DE" kern="0" dirty="0">
                <a:latin typeface="Arial"/>
                <a:cs typeface="Arial"/>
              </a:rPr>
            </a:br>
            <a:r>
              <a:rPr lang="de-DE" kern="0" dirty="0">
                <a:latin typeface="Arial"/>
                <a:cs typeface="Arial"/>
              </a:rPr>
              <a:t>2 </a:t>
            </a:r>
            <a:r>
              <a:rPr lang="de-DE" kern="0" dirty="0" err="1">
                <a:latin typeface="Arial"/>
                <a:cs typeface="Arial"/>
              </a:rPr>
              <a:t>Dense</a:t>
            </a:r>
            <a:r>
              <a:rPr lang="de-DE" kern="0" dirty="0">
                <a:latin typeface="Arial"/>
                <a:cs typeface="Arial"/>
              </a:rPr>
              <a:t> mit </a:t>
            </a:r>
            <a:r>
              <a:rPr lang="de-DE" kern="0" dirty="0" err="1">
                <a:latin typeface="Arial"/>
                <a:cs typeface="Arial"/>
              </a:rPr>
              <a:t>Softmax</a:t>
            </a:r>
            <a:r>
              <a:rPr lang="de-DE" kern="0" dirty="0">
                <a:latin typeface="Arial"/>
                <a:cs typeface="Arial"/>
              </a:rPr>
              <a:t>)</a:t>
            </a:r>
          </a:p>
          <a:p>
            <a:endParaRPr lang="de-DE" b="1" kern="0">
              <a:latin typeface="Arial"/>
              <a:cs typeface="Arial"/>
            </a:endParaRPr>
          </a:p>
          <a:p>
            <a:r>
              <a:rPr lang="de-DE" b="1" kern="0" dirty="0">
                <a:latin typeface="Arial"/>
                <a:cs typeface="Arial"/>
              </a:rPr>
              <a:t>3 Backbones </a:t>
            </a:r>
            <a:r>
              <a:rPr lang="de-DE" kern="0" dirty="0">
                <a:latin typeface="Arial"/>
                <a:cs typeface="Arial"/>
              </a:rPr>
              <a:t>(e.g. </a:t>
            </a:r>
            <a:r>
              <a:rPr lang="de-DE" kern="0" dirty="0" err="1">
                <a:latin typeface="Arial"/>
                <a:cs typeface="Arial"/>
              </a:rPr>
              <a:t>Pretrained</a:t>
            </a:r>
            <a:r>
              <a:rPr lang="de-DE" kern="0" dirty="0">
                <a:latin typeface="Arial"/>
                <a:cs typeface="Arial"/>
              </a:rPr>
              <a:t> </a:t>
            </a:r>
            <a:r>
              <a:rPr lang="de-DE" kern="0" dirty="0" err="1">
                <a:latin typeface="Arial"/>
                <a:cs typeface="Arial"/>
              </a:rPr>
              <a:t>modelle</a:t>
            </a:r>
            <a:r>
              <a:rPr lang="de-DE" kern="0" dirty="0">
                <a:latin typeface="Arial"/>
                <a:cs typeface="Arial"/>
              </a:rPr>
              <a:t>)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kern="0" dirty="0">
                <a:latin typeface="Arial"/>
                <a:cs typeface="Arial"/>
              </a:rPr>
              <a:t>MobileNetV3Small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kern="0" err="1">
                <a:latin typeface="Arial"/>
                <a:cs typeface="Arial"/>
              </a:rPr>
              <a:t>Xception</a:t>
            </a:r>
            <a:endParaRPr lang="de-DE" kern="0">
              <a:latin typeface="Arial"/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kern="0" dirty="0">
                <a:latin typeface="Arial"/>
                <a:cs typeface="Arial"/>
              </a:rPr>
              <a:t>VGG16</a:t>
            </a:r>
          </a:p>
          <a:p>
            <a:endParaRPr lang="en-GB" kern="0">
              <a:cs typeface="Arial" charset="0"/>
            </a:endParaRP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D49A284F-18A3-46A2-071E-743479C484C1}"/>
              </a:ext>
            </a:extLst>
          </p:cNvPr>
          <p:cNvCxnSpPr>
            <a:cxnSpLocks/>
          </p:cNvCxnSpPr>
          <p:nvPr/>
        </p:nvCxnSpPr>
        <p:spPr bwMode="auto">
          <a:xfrm>
            <a:off x="6323527" y="1431325"/>
            <a:ext cx="4933965" cy="0"/>
          </a:xfrm>
          <a:prstGeom prst="line">
            <a:avLst/>
          </a:prstGeom>
          <a:solidFill>
            <a:schemeClr val="bg2"/>
          </a:solidFill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7D6F91AD-FB46-EA46-6F3F-6F280C5F2D46}"/>
              </a:ext>
            </a:extLst>
          </p:cNvPr>
          <p:cNvSpPr txBox="1"/>
          <p:nvPr/>
        </p:nvSpPr>
        <p:spPr bwMode="auto">
          <a:xfrm>
            <a:off x="6323527" y="1107634"/>
            <a:ext cx="1687132" cy="418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de-DE" b="1" kern="0">
                <a:latin typeface="Arial"/>
                <a:cs typeface="Arial"/>
              </a:rPr>
              <a:t>Training</a:t>
            </a:r>
            <a:endParaRPr lang="en-GB" b="1" kern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AB30346-0B82-4857-4DF9-AE70950BBC27}"/>
              </a:ext>
            </a:extLst>
          </p:cNvPr>
          <p:cNvSpPr txBox="1"/>
          <p:nvPr/>
        </p:nvSpPr>
        <p:spPr bwMode="auto">
          <a:xfrm>
            <a:off x="6323527" y="1536785"/>
            <a:ext cx="5772143" cy="481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de-DE" kern="0">
                <a:latin typeface="Arial"/>
                <a:cs typeface="Arial"/>
              </a:rPr>
              <a:t>Alle Kombinationen trainiert (3x3=9):</a:t>
            </a:r>
          </a:p>
          <a:p>
            <a:endParaRPr lang="en-GB" kern="0">
              <a:cs typeface="Arial" charset="0"/>
            </a:endParaRPr>
          </a:p>
        </p:txBody>
      </p:sp>
      <p:pic>
        <p:nvPicPr>
          <p:cNvPr id="22" name="Inhaltsplatzhalter 1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C6259D05-7455-A4E1-B38D-17F1406549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362163" y="2077593"/>
            <a:ext cx="3692612" cy="3901325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70527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535AA-7233-42AC-4178-905D08765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60FF5A5-DB6B-D843-6045-E2EC40780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Machine Learning and Deep Learning: </a:t>
            </a:r>
            <a:r>
              <a:rPr lang="en-GB" err="1"/>
              <a:t>Ruttmann</a:t>
            </a:r>
            <a:r>
              <a:rPr lang="en-GB"/>
              <a:t> Simon, Karl Tobias, Staiger Marcel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632464-A854-9828-C850-4B55D7268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7FEA33-671C-45DC-9B66-069D49B53CDE}" type="slidenum">
              <a:rPr lang="de-DE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de-DE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B0695BB4-442A-8CD4-C9D0-116FB54978D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13DE5C1-F4A3-44AC-9D1F-B119038B09F5}" type="datetime1">
              <a:rPr lang="de-DE" smtClean="0"/>
              <a:t>21.02.2026</a:t>
            </a:fld>
            <a:endParaRPr lang="de-DE"/>
          </a:p>
        </p:txBody>
      </p:sp>
      <p:sp>
        <p:nvSpPr>
          <p:cNvPr id="10" name="Titel 2">
            <a:extLst>
              <a:ext uri="{FF2B5EF4-FFF2-40B4-BE49-F238E27FC236}">
                <a16:creationId xmlns:a16="http://schemas.microsoft.com/office/drawing/2014/main" id="{1612D1D3-61B9-D1DA-D189-1611D424D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03858"/>
            <a:ext cx="11305256" cy="576064"/>
          </a:xfrm>
        </p:spPr>
        <p:txBody>
          <a:bodyPr/>
          <a:lstStyle/>
          <a:p>
            <a:r>
              <a:rPr lang="de-DE"/>
              <a:t>09 </a:t>
            </a:r>
            <a:r>
              <a:rPr lang="de-DE" err="1"/>
              <a:t>Pretrained</a:t>
            </a:r>
            <a:r>
              <a:rPr lang="de-DE"/>
              <a:t> Models - Vergleich: 3-Head-Classifier vs. 3 Einzelmodelle</a:t>
            </a:r>
          </a:p>
        </p:txBody>
      </p:sp>
      <p:pic>
        <p:nvPicPr>
          <p:cNvPr id="8" name="Grafik 7" descr="Ein Bild, das Text, Karte Menü, Screenshot, Dokument enthält.&#10;&#10;KI-generierte Inhalte können fehlerhaft sein.">
            <a:extLst>
              <a:ext uri="{FF2B5EF4-FFF2-40B4-BE49-F238E27FC236}">
                <a16:creationId xmlns:a16="http://schemas.microsoft.com/office/drawing/2014/main" id="{BE447627-9FFF-F7AA-E9B9-72BCD3F05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763" y="1589146"/>
            <a:ext cx="3171727" cy="476013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9" name="Grafik 8" descr="Ein Bild, das Text, Karte Menü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53A747D1-7835-DBAB-AC20-62AF23143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717" y="1589145"/>
            <a:ext cx="3067279" cy="476013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B1190E0-4BFE-D740-411C-31CD6442499A}"/>
              </a:ext>
            </a:extLst>
          </p:cNvPr>
          <p:cNvSpPr txBox="1"/>
          <p:nvPr/>
        </p:nvSpPr>
        <p:spPr bwMode="auto">
          <a:xfrm>
            <a:off x="6410410" y="1107634"/>
            <a:ext cx="161844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b="1" kern="0">
                <a:latin typeface="Arial"/>
                <a:cs typeface="Arial"/>
              </a:rPr>
              <a:t>Evaluation</a:t>
            </a:r>
            <a:endParaRPr lang="de-DE" b="1" kern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E0EEBB9-9512-9271-77D5-70164C91D8AC}"/>
              </a:ext>
            </a:extLst>
          </p:cNvPr>
          <p:cNvSpPr txBox="1"/>
          <p:nvPr/>
        </p:nvSpPr>
        <p:spPr bwMode="auto">
          <a:xfrm>
            <a:off x="9880528" y="1123548"/>
            <a:ext cx="8940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b="1" kern="0">
                <a:latin typeface="Arial"/>
                <a:cs typeface="Arial"/>
              </a:rPr>
              <a:t>Test</a:t>
            </a:r>
            <a:endParaRPr lang="de-DE" b="1" kern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F66C5198-D1E2-AC2B-F492-01F7446F9B29}"/>
              </a:ext>
            </a:extLst>
          </p:cNvPr>
          <p:cNvCxnSpPr>
            <a:cxnSpLocks/>
          </p:cNvCxnSpPr>
          <p:nvPr/>
        </p:nvCxnSpPr>
        <p:spPr bwMode="auto">
          <a:xfrm>
            <a:off x="571703" y="1431325"/>
            <a:ext cx="4348027" cy="0"/>
          </a:xfrm>
          <a:prstGeom prst="line">
            <a:avLst/>
          </a:prstGeom>
          <a:solidFill>
            <a:schemeClr val="bg2"/>
          </a:solidFill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4387C3A3-9A4B-4F69-8C8B-23F09741B85A}"/>
              </a:ext>
            </a:extLst>
          </p:cNvPr>
          <p:cNvSpPr txBox="1"/>
          <p:nvPr/>
        </p:nvSpPr>
        <p:spPr bwMode="auto">
          <a:xfrm>
            <a:off x="571703" y="1107634"/>
            <a:ext cx="1687132" cy="418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de-DE" b="1" kern="0">
                <a:latin typeface="Arial"/>
                <a:cs typeface="Arial"/>
              </a:rPr>
              <a:t>Auswahl bestes Modell:</a:t>
            </a:r>
            <a:endParaRPr lang="en-GB" b="1" kern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B3D55F6-C08E-9E5B-94F3-76EA2A843A41}"/>
              </a:ext>
            </a:extLst>
          </p:cNvPr>
          <p:cNvSpPr txBox="1"/>
          <p:nvPr/>
        </p:nvSpPr>
        <p:spPr bwMode="auto">
          <a:xfrm>
            <a:off x="551384" y="1536785"/>
            <a:ext cx="5772143" cy="481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kern="0" dirty="0">
                <a:latin typeface="Arial"/>
                <a:cs typeface="Arial"/>
              </a:rPr>
              <a:t>Mobile </a:t>
            </a:r>
            <a:r>
              <a:rPr lang="de-DE" kern="0" dirty="0" err="1">
                <a:latin typeface="Arial"/>
                <a:cs typeface="Arial"/>
              </a:rPr>
              <a:t>Direct</a:t>
            </a:r>
            <a:r>
              <a:rPr lang="de-DE" kern="0" dirty="0">
                <a:latin typeface="Arial"/>
                <a:cs typeface="Arial"/>
              </a:rPr>
              <a:t> (F1: 0.908737)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de-DE" kern="0" dirty="0">
                <a:latin typeface="Arial"/>
                <a:cs typeface="Arial"/>
              </a:rPr>
              <a:t>Fine-Tuning: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de-DE" kern="0" dirty="0">
                <a:latin typeface="Arial"/>
                <a:cs typeface="Arial"/>
              </a:rPr>
              <a:t>Modell importiert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de-DE" kern="0">
              <a:latin typeface="Arial"/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kern="0" dirty="0">
                <a:latin typeface="Arial"/>
                <a:cs typeface="Arial"/>
              </a:rPr>
              <a:t>15 Layer des Base-Modells </a:t>
            </a:r>
            <a:br>
              <a:rPr lang="de-DE" kern="0" dirty="0">
                <a:latin typeface="Arial"/>
                <a:cs typeface="Arial"/>
              </a:rPr>
            </a:br>
            <a:r>
              <a:rPr lang="de-DE" kern="0" dirty="0">
                <a:latin typeface="Arial"/>
                <a:cs typeface="Arial"/>
              </a:rPr>
              <a:t>mit minimaler </a:t>
            </a:r>
            <a:r>
              <a:rPr lang="de-DE" kern="0" dirty="0" err="1">
                <a:latin typeface="Arial"/>
                <a:cs typeface="Arial"/>
              </a:rPr>
              <a:t>Lernrate</a:t>
            </a:r>
            <a:r>
              <a:rPr lang="de-DE" kern="0" dirty="0">
                <a:latin typeface="Arial"/>
                <a:cs typeface="Arial"/>
              </a:rPr>
              <a:t> weiter </a:t>
            </a:r>
            <a:br>
              <a:rPr lang="de-DE" kern="0" dirty="0">
                <a:latin typeface="Arial"/>
                <a:cs typeface="Arial"/>
              </a:rPr>
            </a:br>
            <a:r>
              <a:rPr lang="de-DE" kern="0" dirty="0">
                <a:latin typeface="Arial"/>
                <a:cs typeface="Arial"/>
              </a:rPr>
              <a:t>trainiert.</a:t>
            </a:r>
          </a:p>
          <a:p>
            <a:endParaRPr lang="en-GB" kern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345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86CB4-8710-A234-BF74-BC02C052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alen - Hochschule, Neubau Aula- und Hörsaalgebäude">
            <a:extLst>
              <a:ext uri="{FF2B5EF4-FFF2-40B4-BE49-F238E27FC236}">
                <a16:creationId xmlns:a16="http://schemas.microsoft.com/office/drawing/2014/main" id="{43781395-F131-397E-7D5B-5D80597F7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505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6CEF8F13-52EF-4E67-D0D4-C38C1FF3681D}"/>
              </a:ext>
            </a:extLst>
          </p:cNvPr>
          <p:cNvGrpSpPr/>
          <p:nvPr/>
        </p:nvGrpSpPr>
        <p:grpSpPr>
          <a:xfrm>
            <a:off x="8925682" y="0"/>
            <a:ext cx="3266318" cy="6858001"/>
            <a:chOff x="8925682" y="0"/>
            <a:chExt cx="3266318" cy="6858001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FA5CBE72-9846-02B6-FE23-148C9C4FE8D0}"/>
                </a:ext>
              </a:extLst>
            </p:cNvPr>
            <p:cNvGrpSpPr/>
            <p:nvPr/>
          </p:nvGrpSpPr>
          <p:grpSpPr>
            <a:xfrm>
              <a:off x="8925682" y="0"/>
              <a:ext cx="3266318" cy="6858001"/>
              <a:chOff x="8925682" y="0"/>
              <a:chExt cx="3266318" cy="6858001"/>
            </a:xfrm>
            <a:solidFill>
              <a:schemeClr val="bg1"/>
            </a:solidFill>
          </p:grpSpPr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8003DE5C-2D57-9661-06B1-C6B401CD75E8}"/>
                  </a:ext>
                </a:extLst>
              </p:cNvPr>
              <p:cNvSpPr/>
              <p:nvPr/>
            </p:nvSpPr>
            <p:spPr>
              <a:xfrm>
                <a:off x="8927206" y="0"/>
                <a:ext cx="3264794" cy="96591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C71D21E4-B3D6-ACCC-D526-464D8383DF78}"/>
                  </a:ext>
                </a:extLst>
              </p:cNvPr>
              <p:cNvSpPr/>
              <p:nvPr/>
            </p:nvSpPr>
            <p:spPr>
              <a:xfrm>
                <a:off x="11900078" y="965914"/>
                <a:ext cx="290397" cy="589080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87E5286D-21F2-FBE9-F343-9709FF01DC13}"/>
                  </a:ext>
                </a:extLst>
              </p:cNvPr>
              <p:cNvSpPr/>
              <p:nvPr/>
            </p:nvSpPr>
            <p:spPr>
              <a:xfrm>
                <a:off x="8925682" y="6587545"/>
                <a:ext cx="3264793" cy="27045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1030" name="Picture 6" descr="Hochschule Aalen - academics">
              <a:extLst>
                <a:ext uri="{FF2B5EF4-FFF2-40B4-BE49-F238E27FC236}">
                  <a16:creationId xmlns:a16="http://schemas.microsoft.com/office/drawing/2014/main" id="{7EB1B92E-4BA2-A224-6094-D5C70AE95F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682" y="131385"/>
              <a:ext cx="3223924" cy="6220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itel 9">
            <a:extLst>
              <a:ext uri="{FF2B5EF4-FFF2-40B4-BE49-F238E27FC236}">
                <a16:creationId xmlns:a16="http://schemas.microsoft.com/office/drawing/2014/main" id="{08A7E68C-7928-15D4-98A7-C53ABC01DC31}"/>
              </a:ext>
            </a:extLst>
          </p:cNvPr>
          <p:cNvSpPr txBox="1">
            <a:spLocks/>
          </p:cNvSpPr>
          <p:nvPr/>
        </p:nvSpPr>
        <p:spPr>
          <a:xfrm>
            <a:off x="297696" y="4080026"/>
            <a:ext cx="6642055" cy="1884719"/>
          </a:xfrm>
          <a:prstGeom prst="rect">
            <a:avLst/>
          </a:prstGeom>
          <a:solidFill>
            <a:schemeClr val="tx2">
              <a:lumMod val="75000"/>
              <a:lumOff val="25000"/>
              <a:alpha val="85000"/>
            </a:schemeClr>
          </a:solidFill>
        </p:spPr>
        <p:txBody>
          <a:bodyPr vert="horz" wrap="square" lIns="108000" tIns="108000" rIns="91440" bIns="108000" rtlCol="0" anchor="t">
            <a:spAutoFit/>
          </a:bodyPr>
          <a:lstStyle>
            <a:lvl1pPr algn="l" defTabSz="3429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3429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500" spc="75">
                <a:solidFill>
                  <a:prstClr val="white"/>
                </a:solidFill>
                <a:latin typeface="Calibri Light"/>
              </a:rPr>
              <a:t>22</a:t>
            </a:r>
            <a:r>
              <a:rPr kumimoji="0" lang="de-DE" sz="1500" b="0" i="0" u="none" strike="noStrike" kern="1200" cap="all" spc="75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j-ea"/>
                <a:cs typeface="+mj-cs"/>
              </a:rPr>
              <a:t>.02.2026, Aalen</a:t>
            </a:r>
            <a:br>
              <a:rPr lang="de-DE" sz="1500" b="0" i="0" u="none" strike="noStrike" kern="1200" cap="all" spc="75" normalizeH="0" baseline="0" noProof="0">
                <a:ln>
                  <a:noFill/>
                </a:ln>
                <a:effectLst/>
                <a:uLnTx/>
                <a:uFillTx/>
                <a:latin typeface="Calibri Light"/>
              </a:rPr>
            </a:br>
            <a:br>
              <a:rPr lang="de-DE" sz="1500" b="0" i="0" u="none" strike="noStrike" kern="1200" cap="all" spc="75" normalizeH="0" baseline="0" noProof="0">
                <a:ln>
                  <a:noFill/>
                </a:ln>
                <a:effectLst/>
                <a:uLnTx/>
                <a:uFillTx/>
                <a:latin typeface="Calibri Light"/>
              </a:rPr>
            </a:br>
            <a:r>
              <a:rPr kumimoji="0" lang="de-DE" sz="1800" b="1" i="0" u="none" strike="noStrike" kern="1200" cap="all" spc="75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j-ea"/>
                <a:cs typeface="+mj-cs"/>
              </a:rPr>
              <a:t>Kontaktdaten</a:t>
            </a:r>
            <a:br>
              <a:rPr lang="de-DE" sz="1800" b="1" i="0" u="none" strike="noStrike" kern="1200" cap="all" spc="75" normalizeH="0" baseline="0" noProof="0">
                <a:ln>
                  <a:noFill/>
                </a:ln>
                <a:effectLst/>
                <a:uLnTx/>
                <a:uFillTx/>
                <a:latin typeface="Calibri Light"/>
              </a:rPr>
            </a:br>
            <a:br>
              <a:rPr lang="de-DE" sz="1800" b="0" i="0" u="none" strike="noStrike" kern="1200" cap="all" spc="75" normalizeH="0" baseline="0" noProof="0">
                <a:ln>
                  <a:noFill/>
                </a:ln>
                <a:effectLst/>
                <a:uLnTx/>
                <a:uFillTx/>
                <a:latin typeface="Calibri Light"/>
              </a:rPr>
            </a:br>
            <a:r>
              <a:rPr kumimoji="0" lang="de-DE" sz="1800" b="0" i="0" u="none" strike="noStrike" kern="1200" cap="all" spc="75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j-ea"/>
                <a:cs typeface="+mj-cs"/>
              </a:rPr>
              <a:t>Simon Ruttmann 		80751</a:t>
            </a:r>
          </a:p>
          <a:p>
            <a:pPr marL="0" marR="0" lvl="0" indent="0" algn="l" defTabSz="3429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all" spc="75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j-ea"/>
                <a:cs typeface="+mj-cs"/>
              </a:rPr>
              <a:t>Marcel Staiger</a:t>
            </a:r>
            <a:r>
              <a:rPr lang="de-DE" spc="75">
                <a:solidFill>
                  <a:prstClr val="white"/>
                </a:solidFill>
                <a:latin typeface="Calibri Light"/>
              </a:rPr>
              <a:t> 		</a:t>
            </a:r>
            <a:r>
              <a:rPr kumimoji="0" lang="de-DE" sz="1800" b="0" i="0" u="none" strike="noStrike" kern="1200" cap="all" spc="75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j-ea"/>
                <a:cs typeface="+mj-cs"/>
              </a:rPr>
              <a:t>3011613</a:t>
            </a:r>
            <a:br>
              <a:rPr lang="de-DE" sz="1800" b="0" i="0" u="none" strike="noStrike" kern="1200" cap="all" spc="75" normalizeH="0" baseline="0" noProof="0">
                <a:ln>
                  <a:noFill/>
                </a:ln>
                <a:effectLst/>
                <a:uLnTx/>
                <a:uFillTx/>
                <a:latin typeface="Calibri Light"/>
              </a:rPr>
            </a:br>
            <a:r>
              <a:rPr kumimoji="0" lang="de-DE" sz="1800" b="0" i="0" u="none" strike="noStrike" kern="1200" cap="all" spc="75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j-ea"/>
                <a:cs typeface="+mj-cs"/>
              </a:rPr>
              <a:t>Tobias Karl 			     </a:t>
            </a:r>
            <a:r>
              <a:rPr lang="de-DE" spc="75">
                <a:solidFill>
                  <a:prstClr val="white"/>
                </a:solidFill>
                <a:latin typeface="Calibri Light"/>
              </a:rPr>
              <a:t>3014537</a:t>
            </a:r>
            <a:br>
              <a:rPr lang="de-DE" sz="4500" b="0" i="0" u="none" strike="noStrike" kern="1200" cap="all" spc="0" normalizeH="0" baseline="0" noProof="0">
                <a:ln>
                  <a:noFill/>
                </a:ln>
                <a:effectLst/>
                <a:uLnTx/>
                <a:uFillTx/>
                <a:latin typeface="Aptos Display" panose="02110004020202020204"/>
                <a:cs typeface="Calibri"/>
              </a:rPr>
            </a:br>
            <a:endParaRPr kumimoji="0" lang="de-DE" sz="1500" b="0" i="0" u="none" strike="noStrike" kern="1200" cap="all" spc="75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58561255"/>
      </p:ext>
    </p:extLst>
  </p:cSld>
  <p:clrMapOvr>
    <a:masterClrMapping/>
  </p:clrMapOvr>
</p:sld>
</file>

<file path=ppt/theme/theme1.xml><?xml version="1.0" encoding="utf-8"?>
<a:theme xmlns:a="http://schemas.openxmlformats.org/drawingml/2006/main" name="Vorlage_Layout_2016 - Deutsch">
  <a:themeElements>
    <a:clrScheme name="Hochschulfarben_Master_201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68B4"/>
      </a:accent1>
      <a:accent2>
        <a:srgbClr val="66A5D2"/>
      </a:accent2>
      <a:accent3>
        <a:srgbClr val="CCE1F0"/>
      </a:accent3>
      <a:accent4>
        <a:srgbClr val="000000"/>
      </a:accent4>
      <a:accent5>
        <a:srgbClr val="B1B3B4"/>
      </a:accent5>
      <a:accent6>
        <a:srgbClr val="FFFFFF"/>
      </a:accent6>
      <a:hlink>
        <a:srgbClr val="0068B4"/>
      </a:hlink>
      <a:folHlink>
        <a:srgbClr val="66A5D2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CCE1F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rtlCol="0" anchor="t" anchorCtr="0" compatLnSpc="1">
        <a:prstTxWarp prst="textNoShape">
          <a:avLst/>
        </a:prstTxWarp>
      </a:bodyPr>
      <a:lstStyle>
        <a:defPPr marL="180975" marR="0" indent="-180975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bg2"/>
        </a:solidFill>
        <a:ln w="9525" cap="flat" cmpd="sng" algn="ctr">
          <a:solidFill>
            <a:schemeClr val="accent4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  <a:effectLst/>
      </a:spPr>
      <a:bodyPr vert="horz" wrap="square" lIns="0" tIns="0" rIns="0" bIns="0" numCol="1" rtlCol="0" anchor="t" anchorCtr="0" compatLnSpc="1">
        <a:prstTxWarp prst="textNoShape">
          <a:avLst/>
        </a:prstTxWarp>
        <a:normAutofit/>
      </a:bodyPr>
      <a:lstStyle>
        <a:defPPr>
          <a:defRPr kern="0" dirty="0" err="1" smtClean="0"/>
        </a:defPPr>
      </a:lstStyle>
    </a:txDef>
  </a:objectDefaults>
  <a:extraClrSchemeLst>
    <a:extraClrScheme>
      <a:clrScheme name="Vorlage_Prasentationen 1">
        <a:dk1>
          <a:srgbClr val="000000"/>
        </a:dk1>
        <a:lt1>
          <a:srgbClr val="FFFFFF"/>
        </a:lt1>
        <a:dk2>
          <a:srgbClr val="B30A32"/>
        </a:dk2>
        <a:lt2>
          <a:srgbClr val="87888A"/>
        </a:lt2>
        <a:accent1>
          <a:srgbClr val="003A6C"/>
        </a:accent1>
        <a:accent2>
          <a:srgbClr val="FFE37D"/>
        </a:accent2>
        <a:accent3>
          <a:srgbClr val="FFFFFF"/>
        </a:accent3>
        <a:accent4>
          <a:srgbClr val="000000"/>
        </a:accent4>
        <a:accent5>
          <a:srgbClr val="AAAEBA"/>
        </a:accent5>
        <a:accent6>
          <a:srgbClr val="E7CE71"/>
        </a:accent6>
        <a:hlink>
          <a:srgbClr val="0068B4"/>
        </a:hlink>
        <a:folHlink>
          <a:srgbClr val="66A5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_Prasentationen 2">
        <a:dk1>
          <a:srgbClr val="000000"/>
        </a:dk1>
        <a:lt1>
          <a:srgbClr val="FFFFFF"/>
        </a:lt1>
        <a:dk2>
          <a:srgbClr val="B30A32"/>
        </a:dk2>
        <a:lt2>
          <a:srgbClr val="87888A"/>
        </a:lt2>
        <a:accent1>
          <a:srgbClr val="FFE37D"/>
        </a:accent1>
        <a:accent2>
          <a:srgbClr val="66A5D2"/>
        </a:accent2>
        <a:accent3>
          <a:srgbClr val="FFFFFF"/>
        </a:accent3>
        <a:accent4>
          <a:srgbClr val="000000"/>
        </a:accent4>
        <a:accent5>
          <a:srgbClr val="FFEFBF"/>
        </a:accent5>
        <a:accent6>
          <a:srgbClr val="5C95BE"/>
        </a:accent6>
        <a:hlink>
          <a:srgbClr val="003A6C"/>
        </a:hlink>
        <a:folHlink>
          <a:srgbClr val="0068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tegorie xmlns="5c17c72e-e70c-44ef-8bae-bb555658bdd9">Vorlagen</Kategorie>
    <Anzeige_x0020_auf_x0020_Startseite xmlns="5c17c72e-e70c-44ef-8bae-bb555658bdd9">true</Anzeige_x0020_auf_x0020_Startseite>
    <PublishingExpirationDate xmlns="http://schemas.microsoft.com/sharepoint/v3" xsi:nil="true"/>
    <Fakult_x00e4_t_x0020__x002f__x0020_Bereich xmlns="5c17c72e-e70c-44ef-8bae-bb555658bdd9">Hochschule</Fakult_x00e4_t_x0020__x002f__x0020_Bereich>
    <PublishingStartDate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63CB31A3DDDB94BA564662520164A39" ma:contentTypeVersion="4" ma:contentTypeDescription="Ein neues Dokument erstellen." ma:contentTypeScope="" ma:versionID="02919b2371a32e6312a743ddeffc64b0">
  <xsd:schema xmlns:xsd="http://www.w3.org/2001/XMLSchema" xmlns:xs="http://www.w3.org/2001/XMLSchema" xmlns:p="http://schemas.microsoft.com/office/2006/metadata/properties" xmlns:ns1="http://schemas.microsoft.com/sharepoint/v3" xmlns:ns2="5c17c72e-e70c-44ef-8bae-bb555658bdd9" targetNamespace="http://schemas.microsoft.com/office/2006/metadata/properties" ma:root="true" ma:fieldsID="873ea339c972a27c74d5501ed7bf8d5b" ns1:_="" ns2:_="">
    <xsd:import namespace="http://schemas.microsoft.com/sharepoint/v3"/>
    <xsd:import namespace="5c17c72e-e70c-44ef-8bae-bb555658bdd9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Kategorie" minOccurs="0"/>
                <xsd:element ref="ns2:Anzeige_x0020_auf_x0020_Startseite" minOccurs="0"/>
                <xsd:element ref="ns2:Fakult_x00e4_t_x0020__x002f__x0020_Bereic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Geplantes Startdatum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Geplantes Enddatum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17c72e-e70c-44ef-8bae-bb555658bdd9" elementFormDefault="qualified">
    <xsd:import namespace="http://schemas.microsoft.com/office/2006/documentManagement/types"/>
    <xsd:import namespace="http://schemas.microsoft.com/office/infopath/2007/PartnerControls"/>
    <xsd:element name="Kategorie" ma:index="10" nillable="true" ma:displayName="Kategorie" ma:internalName="Kategorie">
      <xsd:simpleType>
        <xsd:restriction base="dms:Text">
          <xsd:maxLength value="255"/>
        </xsd:restriction>
      </xsd:simpleType>
    </xsd:element>
    <xsd:element name="Anzeige_x0020_auf_x0020_Startseite" ma:index="11" nillable="true" ma:displayName="Anzeige auf Startseite" ma:default="1" ma:internalName="Anzeige_x0020_auf_x0020_Startseite">
      <xsd:simpleType>
        <xsd:restriction base="dms:Boolean"/>
      </xsd:simpleType>
    </xsd:element>
    <xsd:element name="Fakult_x00e4_t_x0020__x002f__x0020_Bereich" ma:index="12" nillable="true" ma:displayName="Fakultät / Bereich" ma:default="Hochschule" ma:format="Dropdown" ma:internalName="Fakult_x00e4_t_x0020__x002f__x0020_Bereich">
      <xsd:simpleType>
        <xsd:restriction base="dms:Choice">
          <xsd:enumeration value="Fakultät Chemie"/>
          <xsd:enumeration value="Fakultät Elektronik und Informatik"/>
          <xsd:enumeration value="Fakultät Maschinenbau und Werkstofftechnik"/>
          <xsd:enumeration value="Fakultät Optik und Mechatronik"/>
          <xsd:enumeration value="Fakultät Wirtschaftswissenschaften"/>
          <xsd:enumeration value="Rektorat"/>
          <xsd:enumeration value="IT-Service"/>
          <xsd:enumeration value="Hochschule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F55A0F-722A-48F6-A4B7-87F4D60883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491A07-1038-4A11-971F-BDBB8F908FDA}">
  <ds:schemaRefs>
    <ds:schemaRef ds:uri="5c17c72e-e70c-44ef-8bae-bb555658bdd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9F0C6E6-3073-406F-81B4-74D2F82AAF5E}">
  <ds:schemaRefs>
    <ds:schemaRef ds:uri="5c17c72e-e70c-44ef-8bae-bb555658bd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141209_FolienmasterVorlagenMakros</Template>
  <TotalTime>0</TotalTime>
  <Words>2515</Words>
  <Application>Microsoft Office PowerPoint</Application>
  <PresentationFormat>Breitbild</PresentationFormat>
  <Paragraphs>637</Paragraphs>
  <Slides>25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25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Calibri Light</vt:lpstr>
      <vt:lpstr>Courier New</vt:lpstr>
      <vt:lpstr>Wingdings</vt:lpstr>
      <vt:lpstr>Vorlage_Layout_2016 - Deutsch</vt:lpstr>
      <vt:lpstr>Office</vt:lpstr>
      <vt:lpstr>PowerPoint-Präsentation</vt:lpstr>
      <vt:lpstr>QR Code &amp; Link zum Google Colab unseres Projekts</vt:lpstr>
      <vt:lpstr>Agenda</vt:lpstr>
      <vt:lpstr>Agenda</vt:lpstr>
      <vt:lpstr>01 Start mit Experimentieren - Erkenntnisse anhand eines einfachen Custom CNN</vt:lpstr>
      <vt:lpstr>Agenda</vt:lpstr>
      <vt:lpstr>02 Problematik des Imbalanced Datasets Die ungleiche Verteilung "OK" und "Fehler" muss behandelt werden. </vt:lpstr>
      <vt:lpstr>Agenda</vt:lpstr>
      <vt:lpstr>03 Data Augmentation Erweiterung der unterrepräsentierten Klasse durch zusätzliche, modifizierte Bilder</vt:lpstr>
      <vt:lpstr>03 Data Augmentation F1 Secore erhöht sich durch Augmentation</vt:lpstr>
      <vt:lpstr>Agenda</vt:lpstr>
      <vt:lpstr>04 Class Weights Duch Klassengewichte wird beim Training ein Ausgleich für die Imbalance geschaffen </vt:lpstr>
      <vt:lpstr>Agenda</vt:lpstr>
      <vt:lpstr>05 Modell-Tuning</vt:lpstr>
      <vt:lpstr>05 Modell-Tuning</vt:lpstr>
      <vt:lpstr>Agenda</vt:lpstr>
      <vt:lpstr>06 Confusion Matrix</vt:lpstr>
      <vt:lpstr>Agenda</vt:lpstr>
      <vt:lpstr>07 Variation A: Classifier Ensemble Idee: Hierarchische Klassifikation</vt:lpstr>
      <vt:lpstr>Agenda</vt:lpstr>
      <vt:lpstr>08 Variation B: 2-Head-Classifier Idee: Multitask Learning Ansatz</vt:lpstr>
      <vt:lpstr>Agenda</vt:lpstr>
      <vt:lpstr>09 Pretrained Models - Vergleich: 3-Head-Classifier vs. 3 Einzelmodelle</vt:lpstr>
      <vt:lpstr>09 Pretrained Models - Vergleich: 3-Head-Classifier vs. 3 Einzelmodelle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Vorlage ppt-Präsentation deutsch</dc:title>
  <dc:creator>Seiler, Andrea</dc:creator>
  <cp:lastModifiedBy>Simon Ruttmann</cp:lastModifiedBy>
  <cp:revision>201</cp:revision>
  <cp:lastPrinted>2015-02-13T08:23:46Z</cp:lastPrinted>
  <dcterms:created xsi:type="dcterms:W3CDTF">2015-02-12T20:17:44Z</dcterms:created>
  <dcterms:modified xsi:type="dcterms:W3CDTF">2026-02-21T13:14:12Z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0x010100263CB31A3DDDB94BA564662520164A39</vt:lpwstr>
  </property>
</Properties>
</file>